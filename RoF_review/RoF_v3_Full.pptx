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35c022cb3b02472e" Type="http://schemas.openxmlformats.org/package/2006/relationships/metadata/core-properties" Target="docProps/core.xml"/><Relationship Id="R7c6e046d56274bec" Type="http://schemas.openxmlformats.org/officeDocument/2006/relationships/extended-properties" Target="docProps/app.xml"/><Relationship Id="R81443189ff644e9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def4b5434574f4e"/>
  </p:sldMasterIdLst>
  <p:notesMasterIdLst>
    <p:notesMasterId xmlns:r="http://schemas.openxmlformats.org/officeDocument/2006/relationships" r:id="R0b66b19720534cd7"/>
  </p:notesMasterIdLst>
  <p:sldIdLst>
    <p:sldId xmlns:r="http://schemas.openxmlformats.org/officeDocument/2006/relationships" id="256" r:id="R4a26c1d0490647dd"/>
    <p:sldId xmlns:r="http://schemas.openxmlformats.org/officeDocument/2006/relationships" id="257" r:id="R7db0d0b22e944ca9"/>
    <p:sldId xmlns:ns0="http://schemas.openxmlformats.org/officeDocument/2006/relationships" id="283" ns0:id="rId34"/>
    <p:sldId xmlns:ns0="http://schemas.openxmlformats.org/officeDocument/2006/relationships" id="284" ns0:id="rId35"/>
    <p:sldId xmlns:ns0="http://schemas.openxmlformats.org/officeDocument/2006/relationships" id="285" ns0:id="rId36"/>
    <p:sldId xmlns:r="http://schemas.openxmlformats.org/officeDocument/2006/relationships" id="258" r:id="R5dc353ceb98d4ec6"/>
    <p:sldId xmlns:r="http://schemas.openxmlformats.org/officeDocument/2006/relationships" id="260" r:id="R297094f5478145a7"/>
    <p:sldId xmlns:r="http://schemas.openxmlformats.org/officeDocument/2006/relationships" id="261" r:id="Rbc9b4daef2f84424"/>
    <p:sldId xmlns:r="http://schemas.openxmlformats.org/officeDocument/2006/relationships" id="262" r:id="R73f47a9db29e4f2d"/>
    <p:sldId xmlns:r="http://schemas.openxmlformats.org/officeDocument/2006/relationships" id="263" r:id="Rfea60e8a735349a0"/>
    <p:sldId xmlns:r="http://schemas.openxmlformats.org/officeDocument/2006/relationships" id="265" r:id="R54c628abb7764a60"/>
    <p:sldId xmlns:ns0="http://schemas.openxmlformats.org/officeDocument/2006/relationships" id="286" ns0:id="rId18"/>
    <p:sldId xmlns:ns0="http://schemas.openxmlformats.org/officeDocument/2006/relationships" id="287" ns0:id="rId19"/>
    <p:sldId xmlns:ns0="http://schemas.openxmlformats.org/officeDocument/2006/relationships" id="288" ns0:id="rId20"/>
    <p:sldId xmlns:ns0="http://schemas.openxmlformats.org/officeDocument/2006/relationships" id="289" ns0:id="rId21"/>
    <p:sldId xmlns:ns0="http://schemas.openxmlformats.org/officeDocument/2006/relationships" id="290" ns0:id="rId22"/>
    <p:sldId xmlns:ns0="http://schemas.openxmlformats.org/officeDocument/2006/relationships" id="291" ns0:id="rId23"/>
    <p:sldId xmlns:ns0="http://schemas.openxmlformats.org/officeDocument/2006/relationships" id="292" ns0:id="rId24"/>
    <p:sldId xmlns:ns0="http://schemas.openxmlformats.org/officeDocument/2006/relationships" id="293" ns0:id="rId25"/>
    <p:sldId xmlns:ns0="http://schemas.openxmlformats.org/officeDocument/2006/relationships" id="294" ns0:id="rId26"/>
    <p:sldId xmlns:ns0="http://schemas.openxmlformats.org/officeDocument/2006/relationships" id="295" ns0:id="rId27"/>
    <p:sldId xmlns:ns0="http://schemas.openxmlformats.org/officeDocument/2006/relationships" id="296" ns0:id="rId28"/>
    <p:sldId xmlns:ns0="http://schemas.openxmlformats.org/officeDocument/2006/relationships" id="297" ns0:id="rId29"/>
    <p:sldId xmlns:ns0="http://schemas.openxmlformats.org/officeDocument/2006/relationships" id="298" ns0:id="rId30"/>
  </p:sldIdLst>
  <p:sldSz cx="12191695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0b66b19720534cd7" Type="http://schemas.openxmlformats.org/officeDocument/2006/relationships/notesMaster" Target="notesMasters/notesMaster1.xml"/><Relationship Id="R2045d7af543143fd" Type="http://schemas.openxmlformats.org/officeDocument/2006/relationships/theme" Target="theme/theme1.xml"/><Relationship Id="R297094f5478145a7" Type="http://schemas.openxmlformats.org/officeDocument/2006/relationships/slide" Target="slides/slide7.xml"/><Relationship Id="R4a26c1d0490647dd" Type="http://schemas.openxmlformats.org/officeDocument/2006/relationships/slide" Target="slides/slide1.xml"/><Relationship Id="R54c628abb7764a60" Type="http://schemas.openxmlformats.org/officeDocument/2006/relationships/slide" Target="slides/slide11.xml"/><Relationship Id="R5dc353ceb98d4ec6" Type="http://schemas.openxmlformats.org/officeDocument/2006/relationships/slide" Target="slides/slide6.xml"/><Relationship Id="R6def4b5434574f4e" Type="http://schemas.openxmlformats.org/officeDocument/2006/relationships/slideMaster" Target="slideMasters/slideMaster1.xml"/><Relationship Id="R73f47a9db29e4f2d" Type="http://schemas.openxmlformats.org/officeDocument/2006/relationships/slide" Target="slides/slide9.xml"/><Relationship Id="R7db0d0b22e944ca9" Type="http://schemas.openxmlformats.org/officeDocument/2006/relationships/slide" Target="slides/slide2.xml"/><Relationship Id="R9a89b5fcce9b4b49" Type="http://schemas.openxmlformats.org/officeDocument/2006/relationships/presProps" Target="presProps.xml"/><Relationship Id="Rbc9b4daef2f84424" Type="http://schemas.openxmlformats.org/officeDocument/2006/relationships/slide" Target="slides/slide8.xml"/><Relationship Id="Rbcbfeecd3f1c4b6e" Type="http://schemas.openxmlformats.org/officeDocument/2006/relationships/viewProps" Target="viewProps.xml"/><Relationship Id="Rf6faa1f67f7c42fd" Type="http://schemas.openxmlformats.org/officeDocument/2006/relationships/tableStyles" Target="tableStyles.xml"/><Relationship Id="Rfea60e8a735349a0" Type="http://schemas.openxmlformats.org/officeDocument/2006/relationships/slide" Target="slides/slide10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4" Type="http://schemas.openxmlformats.org/officeDocument/2006/relationships/slide" Target="slides/slide3.xml"/><Relationship Id="rId35" Type="http://schemas.openxmlformats.org/officeDocument/2006/relationships/slide" Target="slides/slide4.xml"/><Relationship Id="rId36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Coax loss per 100 m (dB)</c:v>
                </c:pt>
              </c:strCache>
            </c:strRef>
          </c:tx>
          <c:spPr>
            <a:solidFill>
              <a:srgbClr val="7F7F7F"/>
            </a:solidFill>
          </c:spPr>
          <c:cat>
            <c:strRef>
              <c:f>Sheet1!$A$2:$A$5</c:f>
              <c:strCache>
                <c:ptCount val="4"/>
                <c:pt idx="0">
                  <c:v>700 MHz</c:v>
                </c:pt>
                <c:pt idx="1">
                  <c:v>1800 MHz</c:v>
                </c:pt>
                <c:pt idx="2">
                  <c:v>2600 MHz</c:v>
                </c:pt>
                <c:pt idx="3">
                  <c:v>3500 MHz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11.2</c:v>
                </c:pt>
                <c:pt idx="1">
                  <c:v>18.6</c:v>
                </c:pt>
                <c:pt idx="2">
                  <c:v>22.7</c:v>
                </c:pt>
                <c:pt idx="3">
                  <c:v>26.7</c:v>
                </c:pt>
              </c:numCache>
            </c:numRef>
          </c:val>
        </c:ser>
        <c:dLbls>
          <c:numFmt formatCode="0.0&quot; dB&quot;" sourceLinked="0"/>
          <c:txPr>
            <a:bodyPr/>
            <a:lstStyle/>
            <a:p>
              <a:pPr>
                <a:defRPr sz="14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t>Coax loss per 100 m (dB)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00"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a9f60853ae694a69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1f52441485534b19" Type="http://schemas.openxmlformats.org/officeDocument/2006/relationships/notesMaster" Target="../notesMasters/notesMaster1.xml"/><Relationship Id="Rb9d96ed320e4426e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14a1fb62a77f46ee" Type="http://schemas.openxmlformats.org/officeDocument/2006/relationships/slide" Target="../slides/slide2.xml"/><Relationship Id="R7a3c53e87acb4dcc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55150ccce6884327" Type="http://schemas.openxmlformats.org/officeDocument/2006/relationships/slide" Target="../slides/slide6.xml"/><Relationship Id="Rfa2cc5738ddd40c7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0271fbc97dce4aa2" Type="http://schemas.openxmlformats.org/officeDocument/2006/relationships/notesMaster" Target="../notesMasters/notesMaster1.xml"/><Relationship Id="Rb9e28c0c41a44073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4fc9e9b7f2ef4b67" Type="http://schemas.openxmlformats.org/officeDocument/2006/relationships/notesMaster" Target="../notesMasters/notesMaster1.xml"/><Relationship Id="R64dafff164bc437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24726478157b4486" Type="http://schemas.openxmlformats.org/officeDocument/2006/relationships/notesMaster" Target="../notesMasters/notesMaster1.xml"/><Relationship Id="R358d040611eb4a55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1c4eb60a0c3d4b5d" Type="http://schemas.openxmlformats.org/officeDocument/2006/relationships/slide" Target="../slides/slide10.xml"/><Relationship Id="R7b161a0c4dee4b7c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467e59af5e4049fc" Type="http://schemas.openxmlformats.org/officeDocument/2006/relationships/slide" Target="../slides/slide11.xml"/><Relationship Id="Ra2b42ac12fd4475a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students: one signal source, many low-power antennas close to users. Left: a real ceiling DAS antenna in a shopping mall. Right: remote antenna units around one base station.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br/>
            <a:r>
              <a:t>Figure source: “Radio over Fiber: An Alternative Broadband Network Technology for IoT,” Electronics 9(11), 1785 (2020), Figure 3. DOI: https://doi.org/10.3390/electronics9111785.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Transition. The figure shows both uses of fiber-wireless transport in one picture: indoor DAS on the right, optical fronthaul from the BBU on the left.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Values computed from the LMR-400 datasheet attenuation formula (dB/100 ft = 0.12229·√f + 0.00026·f). Coax loss grows with frequency; fiber loss does not depend on the RF band.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RAN evolution: the baseband unit moves away from the antenna site. 3G separates BBU and RRH; 4G pools BBUs centrally (C-RAN) with fiber fronthaul (CPRI); 5G splits the BBU into CU and DU with eCPRI.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plot from Li et al. compares aggregated fiber bandwidth needed by A-RoF and D-RoF as the bandwidth per wavelength grows. CPRI numbers follow the CPRI V7.0 rate formula (15-bit I/Q, 16/15 control words, 8B/10B).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higher the split option number, the more processing stays central and the higher the fronthaul rate and latency requirements.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Left: A-RoF, right: D-RoF. The red blocks are what digital fronthaul adds: data converters and higher-rate optics.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EVM versus laser power. D-RoF (red / cyan) reaches about 3-4 % EVM; A-RoF (blue) stays near 8 % and degrades with more WDM channels. For 256-QAM the 3GPP limit is 3.5 % (TS 38.104), so in this modeled case A-RoF meets 64-QAM but not 256-QAM.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line per area.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limits first, then technical limits, each with its mitigation.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take-aways in the order of the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Laboratory demonstration only: a 5G-NR signal (IF1 = 1.14 GHz) and a candidate 6G THz signal (IF2 = 12 GHz) carried on one fiber.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5ec2779983f94abe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617f600b29044cea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26aab51319704b62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0ead423a3be641d8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8ee5c6c3e5584b8a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d57319ecf8ae4ddf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a36037d5db594f82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79db2bbe06c94408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f2fa1ccb61c34db0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6df53b5feb8c481b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92e9865701e8454f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743C586-A518-42A6-83F1-1DD71F61788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A1F4BA07-5072-4D5E-8E73-E9B1CE328AA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23EE862-0128-46AF-894B-911ABB62DA5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AA385A-4357-4A2B-84C5-428E5AA38B9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BD86060-7A22-4C87-928B-32A51E3162D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EED53B0-8DE5-4130-8380-47C65A152D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D26B565-E199-436E-B9F8-4F4BE49F622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64E4E94-9448-497D-9FFC-10220621D14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2FB8F31-F4B3-4FF9-91F8-66CC9DE46D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2414516-DAB3-4DCA-A2C4-A59E627AB2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D4A23B7-0928-4494-926C-1388377A53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820B345-8860-498F-9227-98F5A0BEFC1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ADBBE51-2886-4E97-8FCD-545E36B5A84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6653122-4D7B-4EF6-B184-26B33A96135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14ED7CC-D18F-46EF-9E55-AFBF5BDC8F5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243FA1A-EE9E-4FF3-A5C9-AA881BF419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EF468EB-498A-4214-B260-3D44A15467D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EA992AEC-D781-4499-8C0D-C12C4D73E91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420532E-1AE1-4018-8FA0-2314003A214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2799B7C-BAE7-4E99-8B05-3CD398F422C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02E3DF2-CE3C-4315-B569-FF5A5BEA4B6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820A9D9-5E5F-4FC1-9CEB-C5633C76CA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7DC264A-B5F5-4DF8-9468-DF1BEB58D5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EE7B0BC9-2312-44DE-A69A-3E2EFAED1E9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0A0CAF2F-7FC2-4DEB-9F33-3E342FAB28B7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981F4E49-6856-42FD-8F17-30A5265BD000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F296506D-0E24-40B3-B4C3-70BD0D010F0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B1AD3D24-9580-49F1-A13C-35BD7B312FE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302E4E8-A310-4826-8FE5-C766E6C1A7F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7940761-D61B-4CED-B118-3B5DA8D7FF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AB88BC6D-F8A2-4945-80ED-1E6450626F5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CB065D89-A252-4AFF-9310-E83B7503E0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9D727DCD-9AB9-4757-B16D-8DED7DE0454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85CA298D-1BAF-4DC1-9272-F747E6546CC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770B20C0-8051-42C0-9BAF-1039394510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9BBB98DF-B255-48FA-A03C-22B8243C90F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0DC351B-9C59-40DF-ADAB-F9FE8E7277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0C5E38F-C883-4D46-B88D-C951AB23B66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B2FA1FA-B257-4146-9F03-C1E792D7B4D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20AC21E-02A6-4ABE-B0CD-01174953624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716CAFE-1A2F-4980-A5CE-32397D624F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B49825E-7CF3-4C70-AE9D-706143B2142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27A6725-ADF6-4A91-8878-E29AC45485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512E7875-EE07-4A09-B944-1E9CA3756C99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5CF33E7-F5E7-4662-B938-BA3620829C9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AF73A8D-47C5-4A1E-A885-20EE10D45FF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8F2174F-803F-410A-9152-9E337013680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F4FB4B3-F9D7-4085-ABEF-FBA693457B5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427D52B-947F-419E-AFBC-DA663E30DB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364FCD9-1665-4E37-B4CB-86B3AEA593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EA0E85F-CC3A-4317-A622-C9356E8153C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03727E6-E014-4B5C-8BF4-39FFA77E3D5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854D67F-99BA-4CEB-B8F0-354D4EB7490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7606A4AF-5DE0-4166-A35F-F02F2E27CD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11663C57-3694-4713-8833-A2550716B7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9A87559-3EDA-444C-86E5-B993C169173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5477C30-C7B2-4DBD-AEB6-7A293A802BA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AA6063B-CC0A-48BD-9BE5-F7EE5C4CA47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4779dd8270fa4551" Type="http://schemas.openxmlformats.org/officeDocument/2006/relationships/theme" Target="theme/theme2.xml"/><Relationship Id="R627e7167f2284189" Type="http://schemas.openxmlformats.org/officeDocument/2006/relationships/slideLayout" Target="../slideLayouts/slideLayout7.xml"/><Relationship Id="R64056dbcbaf8412d" Type="http://schemas.openxmlformats.org/officeDocument/2006/relationships/slideLayout" Target="../slideLayouts/slideLayout9.xml"/><Relationship Id="R7ee82482cfb24b58" Type="http://schemas.openxmlformats.org/officeDocument/2006/relationships/slideLayout" Target="../slideLayouts/slideLayout2.xml"/><Relationship Id="R9aac49015bc14834" Type="http://schemas.openxmlformats.org/officeDocument/2006/relationships/slideLayout" Target="../slideLayouts/slideLayout11.xml"/><Relationship Id="R9f4bf29e030a4fb8" Type="http://schemas.openxmlformats.org/officeDocument/2006/relationships/slideLayout" Target="../slideLayouts/slideLayout1.xml"/><Relationship Id="Ra1bdc4ffb4c540ea" Type="http://schemas.openxmlformats.org/officeDocument/2006/relationships/slideLayout" Target="../slideLayouts/slideLayout10.xml"/><Relationship Id="Ra9d2cf40b00b4147" Type="http://schemas.openxmlformats.org/officeDocument/2006/relationships/slideLayout" Target="../slideLayouts/slideLayout8.xml"/><Relationship Id="Rade36bdad16749e4" Type="http://schemas.openxmlformats.org/officeDocument/2006/relationships/slideLayout" Target="../slideLayouts/slideLayout6.xml"/><Relationship Id="Rdd3e66822bf54d39" Type="http://schemas.openxmlformats.org/officeDocument/2006/relationships/slideLayout" Target="../slideLayouts/slideLayout5.xml"/><Relationship Id="Rde82e93a6add4d84" Type="http://schemas.openxmlformats.org/officeDocument/2006/relationships/slideLayout" Target="../slideLayouts/slideLayout4.xml"/><Relationship Id="Ree74b6777b0c49da" Type="http://schemas.openxmlformats.org/officeDocument/2006/relationships/slideLayout" Target="../slideLayouts/slideLayout3.xml"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062B21C-554E-47B5-ABFD-DF1FAF4015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821E6CF-0741-4054-A86A-740A8F3861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E825ADD-9702-425D-942F-9E59FEAF99D1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05A12AA-92B1-41CB-8D53-E85AEA97303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F6777C8-9C54-4F7C-850C-0F55DD7E8EE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f4bf29e030a4fb8"/>
    <p:sldLayoutId xmlns:r="http://schemas.openxmlformats.org/officeDocument/2006/relationships" id="2147483650" r:id="R7ee82482cfb24b58"/>
    <p:sldLayoutId xmlns:r="http://schemas.openxmlformats.org/officeDocument/2006/relationships" id="2147483651" r:id="Ree74b6777b0c49da"/>
    <p:sldLayoutId xmlns:r="http://schemas.openxmlformats.org/officeDocument/2006/relationships" id="2147483652" r:id="Rde82e93a6add4d84"/>
    <p:sldLayoutId xmlns:r="http://schemas.openxmlformats.org/officeDocument/2006/relationships" id="2147483653" r:id="Rdd3e66822bf54d39"/>
    <p:sldLayoutId xmlns:r="http://schemas.openxmlformats.org/officeDocument/2006/relationships" id="2147483654" r:id="Rade36bdad16749e4"/>
    <p:sldLayoutId xmlns:r="http://schemas.openxmlformats.org/officeDocument/2006/relationships" id="2147483655" r:id="R627e7167f2284189"/>
    <p:sldLayoutId xmlns:r="http://schemas.openxmlformats.org/officeDocument/2006/relationships" id="2147483656" r:id="Ra9d2cf40b00b4147"/>
    <p:sldLayoutId xmlns:r="http://schemas.openxmlformats.org/officeDocument/2006/relationships" id="2147483657" r:id="R64056dbcbaf8412d"/>
    <p:sldLayoutId xmlns:r="http://schemas.openxmlformats.org/officeDocument/2006/relationships" id="2147483658" r:id="Ra1bdc4ffb4c540ea"/>
    <p:sldLayoutId xmlns:r="http://schemas.openxmlformats.org/officeDocument/2006/relationships" id="2147483659" r:id="R9aac49015bc14834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005fad57ecdf4678" Type="http://schemas.openxmlformats.org/officeDocument/2006/relationships/slideLayout" Target="../slideLayouts/slideLayout7.xml"/><Relationship Id="R2e3e70a6f1be4e2b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2d6b756409ae4526" Type="http://schemas.openxmlformats.org/officeDocument/2006/relationships/slideLayout" Target="../slideLayouts/slideLayout7.xml"/><Relationship Id="Rdbb8ea056ccb4a5f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0bde4a07cf294728" Type="http://schemas.openxmlformats.org/officeDocument/2006/relationships/slideLayout" Target="../slideLayouts/slideLayout7.xml"/><Relationship Id="R2d77216d200348bf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c1015b335a9a41bd" Type="http://schemas.openxmlformats.org/officeDocument/2006/relationships/image" Target="../media/image.png"/><Relationship Id="Rc225f84c7ba149ad" Type="http://schemas.openxmlformats.org/officeDocument/2006/relationships/notesSlide" Target="../notesSlides/notesSlide5.xml"/><Relationship Id="Rf1d8ee4fe38a4af9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28d961c8510140f1" Type="http://schemas.openxmlformats.org/officeDocument/2006/relationships/notesSlide" Target="../notesSlides/notesSlide6.xml"/><Relationship Id="Rb15d578ed41242de" Type="http://schemas.openxmlformats.org/officeDocument/2006/relationships/slideLayout" Target="../slideLayouts/slideLayout7.xml"/><Relationship Id="Rb6c19aa48ec7452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046a79442cd9496b" Type="http://schemas.openxmlformats.org/officeDocument/2006/relationships/image" Target="../media/image3.png"/><Relationship Id="R4cbca6183c374d84" Type="http://schemas.openxmlformats.org/officeDocument/2006/relationships/slideLayout" Target="../slideLayouts/slideLayout7.xml"/><Relationship Id="R78b935b1ca5940a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52c4529dfe184641" Type="http://schemas.openxmlformats.org/officeDocument/2006/relationships/notesSlide" Target="../notesSlides/notesSlide8.xml"/><Relationship Id="Rc1ef2cf4c6ef4b5b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97da67c6d69f46ba" Type="http://schemas.openxmlformats.org/officeDocument/2006/relationships/notesSlide" Target="../notesSlides/notesSlide10.xml"/><Relationship Id="Rdb29c8e642414bf2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Relationship Id="rId4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AB548EF-E0C9-4FF0-B06C-0F0D2E921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45920"/>
            <a:ext cx="1069848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5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Radio over Fiber (RoF)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5C26D45-6BD5-4E2F-B01B-CCDC6CDEA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017520"/>
            <a:ext cx="1069848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6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Technology, Architecture, Advantages, Applications and Limitations</a:t>
            </a:r>
          </a:p>
        </p:txBody>
      </p:sp>
    </p:spTree>
    <p:extLst>
      <p:ext uri="{BB962C8B-B14F-4D97-AF65-F5344CB8AC3E}">
        <p14:creationId xmlns:p14="http://schemas.microsoft.com/office/powerpoint/2010/main" val="85794925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B78B1A46-6649-4074-BB67-0C2034718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0040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Agenda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3DB846A-5D55-4023-9077-9010E231D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80160"/>
            <a:ext cx="11064240" cy="4846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000"/>
              </a:spcAft>
              <a:buNone/>
            </a:pPr>
            <a:r>
              <a:rPr sz="2600">
                <a:solidFill>
                  <a:srgbClr val="111111"/>
                </a:solidFill>
                <a:latin typeface="Arial"/>
                <a:ea typeface="Arial"/>
                <a:cs typeface="Arial"/>
              </a:rPr>
              <a:t>1. </a:t>
            </a:r>
            <a:r>
              <a:rPr sz="26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is Radio over Fiber?</a:t>
            </a:r>
          </a:p>
          <a:p xmlns:a="http://schemas.openxmlformats.org/drawingml/2006/main">
            <a:pPr>
              <a:spcAft>
                <a:spcPts val="1000"/>
              </a:spcAft>
              <a:buNone/>
            </a:pPr>
            <a:r>
              <a:rPr sz="2600">
                <a:solidFill>
                  <a:srgbClr val="111111"/>
                </a:solidFill>
                <a:latin typeface="Arial"/>
                <a:ea typeface="Arial"/>
                <a:cs typeface="Arial"/>
              </a:rPr>
              <a:t>2. </a:t>
            </a:r>
            <a:r>
              <a:rPr sz="26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How it works: architecture and building blocks</a:t>
            </a:r>
          </a:p>
          <a:p xmlns:a="http://schemas.openxmlformats.org/drawingml/2006/main">
            <a:pPr>
              <a:spcAft>
                <a:spcPts val="1000"/>
              </a:spcAft>
              <a:buNone/>
            </a:pPr>
            <a:r>
              <a:rPr sz="2600">
                <a:solidFill>
                  <a:srgbClr val="111111"/>
                </a:solidFill>
                <a:latin typeface="Arial"/>
                <a:ea typeface="Arial"/>
                <a:cs typeface="Arial"/>
              </a:rPr>
              <a:t>3. </a:t>
            </a:r>
            <a:r>
              <a:rPr sz="26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Analog vs. digital RoF</a:t>
            </a:r>
          </a:p>
          <a:p xmlns:a="http://schemas.openxmlformats.org/drawingml/2006/main">
            <a:pPr>
              <a:spcAft>
                <a:spcPts val="1000"/>
              </a:spcAft>
              <a:buNone/>
            </a:pPr>
            <a:r>
              <a:rPr sz="2600">
                <a:solidFill>
                  <a:srgbClr val="111111"/>
                </a:solidFill>
                <a:latin typeface="Arial"/>
                <a:ea typeface="Arial"/>
                <a:cs typeface="Arial"/>
              </a:rPr>
              <a:t>4. </a:t>
            </a:r>
            <a:r>
              <a:rPr sz="26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Advantages of RoF</a:t>
            </a:r>
          </a:p>
          <a:p xmlns:a="http://schemas.openxmlformats.org/drawingml/2006/main">
            <a:pPr>
              <a:spcAft>
                <a:spcPts val="1000"/>
              </a:spcAft>
              <a:buNone/>
            </a:pPr>
            <a:r>
              <a:rPr sz="2600">
                <a:solidFill>
                  <a:srgbClr val="111111"/>
                </a:solidFill>
                <a:latin typeface="Arial"/>
                <a:ea typeface="Arial"/>
                <a:cs typeface="Arial"/>
              </a:rPr>
              <a:t>5. </a:t>
            </a:r>
            <a:r>
              <a:rPr sz="26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RoF in Distributed Antenna Systems (DAS)</a:t>
            </a:r>
          </a:p>
          <a:p xmlns:a="http://schemas.openxmlformats.org/drawingml/2006/main">
            <a:pPr>
              <a:spcAft>
                <a:spcPts val="1000"/>
              </a:spcAft>
              <a:buNone/>
            </a:pPr>
            <a:r>
              <a:rPr sz="2600">
                <a:solidFill>
                  <a:srgbClr val="111111"/>
                </a:solidFill>
                <a:latin typeface="Arial"/>
                <a:ea typeface="Arial"/>
                <a:cs typeface="Arial"/>
              </a:rPr>
              <a:t>6. </a:t>
            </a:r>
            <a:r>
              <a:rPr sz="26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Application areas</a:t>
            </a:r>
          </a:p>
          <a:p xmlns:a="http://schemas.openxmlformats.org/drawingml/2006/main">
            <a:pPr>
              <a:spcAft>
                <a:spcPts val="1000"/>
              </a:spcAft>
              <a:buNone/>
            </a:pPr>
            <a:r>
              <a:rPr sz="2600">
                <a:solidFill>
                  <a:srgbClr val="111111"/>
                </a:solidFill>
                <a:latin typeface="Arial"/>
                <a:ea typeface="Arial"/>
                <a:cs typeface="Arial"/>
              </a:rPr>
              <a:t>7. </a:t>
            </a:r>
            <a:r>
              <a:rPr sz="26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Limitations, challenges and outlook</a:t>
            </a:r>
          </a:p>
        </p:txBody>
      </p:sp>
    </p:spTree>
    <p:extLst>
      <p:ext uri="{BB962C8B-B14F-4D97-AF65-F5344CB8AC3E}">
        <p14:creationId xmlns:p14="http://schemas.microsoft.com/office/powerpoint/2010/main" val="1056538281"/>
      </p:ext>
    </p:extLst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>
            <a:spLocks noGrp="1"/>
          </p:cNvSpPr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Why Do We Need Radio over Fiber?</a:t>
            </a: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548640" y="1280160"/>
            <a:ext cx="1106424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lang="en-US" sz="2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How do you bring a clear mobile signal inside a tunnel or a big stadium?</a:t>
            </a: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548640" y="2286000"/>
            <a:ext cx="1106424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buNone/>
            </a:pPr>
            <a:r>
              <a:rPr lang="en-US" sz="24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</a:t>
            </a:r>
            <a:r>
              <a:rPr lang="en-US" sz="2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problem:</a:t>
            </a:r>
            <a:r>
              <a:rPr lang="en-US" sz="24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walls, distance and crowds weaken radio signals, so one antenna cannot cover a whole building or venue.</a:t>
            </a:r>
          </a:p>
          <a:p>
            <a:pPr>
              <a:spcAft>
                <a:spcPts val="1000"/>
              </a:spcAft>
              <a:buNone/>
            </a:pPr>
            <a:r>
              <a:rPr lang="en-US" sz="24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</a:t>
            </a:r>
            <a:r>
              <a:rPr lang="en-US" sz="2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usual fix:</a:t>
            </a:r>
            <a:r>
              <a:rPr lang="en-US" sz="24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place many small antennas around the area, all fed from one central equipment room.</a:t>
            </a:r>
          </a:p>
          <a:p>
            <a:pPr>
              <a:spcAft>
                <a:spcPts val="1000"/>
              </a:spcAft>
              <a:buNone/>
            </a:pPr>
            <a:r>
              <a:rPr lang="en-US" sz="24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</a:t>
            </a:r>
            <a:r>
              <a:rPr lang="en-US" sz="2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Coaxial cable</a:t>
            </a:r>
            <a:r>
              <a:rPr lang="en-US" sz="24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can feed them, but at radio frequencies it loses signal quickly over distance and is heavy and bulky.</a:t>
            </a:r>
          </a:p>
          <a:p>
            <a:pPr>
              <a:spcAft>
                <a:spcPts val="1000"/>
              </a:spcAft>
              <a:buNone/>
            </a:pPr>
            <a:r>
              <a:rPr lang="en-US" sz="24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</a:t>
            </a:r>
            <a:r>
              <a:rPr lang="en-US" sz="2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Optical fiber</a:t>
            </a:r>
            <a:r>
              <a:rPr lang="en-US" sz="24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loses very little signal, is thin and light, and does not pick up electromagnetic interference. This is the idea behind RoF.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>
            <a:spLocks noGrp="1"/>
          </p:cNvSpPr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RoF vs. Coaxial Cable and Microwave Links</a:t>
            </a:r>
          </a:p>
        </p:txBody>
      </p:sp>
      <p:graphicFrame>
        <p:nvGraphicFramePr>
          <p:cNvPr id="3" name="Table 2"/>
          <p:cNvGraphicFramePr/>
          <p:nvPr/>
        </p:nvGraphicFramePr>
        <p:xfrm>
          <a:off x="548640" y="1280160"/>
          <a:ext cx="110642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0000"/>
                <a:gridCol w="2990000"/>
                <a:gridCol w="2990000"/>
                <a:gridCol w="2984240"/>
              </a:tblGrid>
              <a:tr h="640080">
                <a:tc>
                  <a:txBody>
                    <a:bodyPr/>
                    <a:lstStyle/>
                    <a:p>
                      <a:r>
                        <a:rPr lang="en-US" sz="17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Aspect</a:t>
                      </a:r>
                    </a:p>
                  </a:txBody>
                  <a:tcPr marL="91440" marR="91440" marT="45720" marB="45720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Coaxial cable</a:t>
                      </a:r>
                    </a:p>
                  </a:txBody>
                  <a:tcPr marL="91440" marR="91440" marT="45720" marB="45720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Microwave link</a:t>
                      </a:r>
                    </a:p>
                  </a:txBody>
                  <a:tcPr marL="91440" marR="91440" marT="45720" marB="45720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RoF (fiber)</a:t>
                      </a:r>
                    </a:p>
                  </a:txBody>
                  <a:tcPr marL="91440" marR="91440" marT="45720" marB="45720">
                    <a:solidFill>
                      <a:srgbClr val="DDDDD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lang="en-US" sz="17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Loss over distance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High at radio frequencies; grows with frequency and length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Free-space path loss; needs a clear line of sight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Very low (about 0.2 dB/km at 1550 nm)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lang="en-US" sz="17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Reach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Short runs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Line-of-sight hops between towers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Many kilometers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lang="en-US" sz="17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Interference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Shielded, but not immune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Affected by weather and radio interference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Fiber span is immune to electromagnetic pickup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lang="en-US" sz="17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Size and weight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Heavy and bulky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Needs antennas, dishes and towers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Thin and light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lang="en-US" sz="17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Bandwidth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Moderate; loss limits useful length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Limited by allocated spectrum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Very large (more with WDM)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lang="en-US" sz="17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Best fit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Short indoor links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Point-to-point links where fiber is not available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Longer links to many remote antennas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>
            <a:spLocks noGrp="1"/>
          </p:cNvSpPr>
          <p:nvPr/>
        </p:nvSpPr>
        <p:spPr>
          <a:xfrm>
            <a:off x="548640" y="63093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lang="en-US"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Qualitative comparison; actual values depend on cable type, frequency and link design. Fiber loss: ITU-T G.652 family.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>
            <a:spLocks noGrp="1"/>
          </p:cNvSpPr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Example: Signal Loss over Distance</a:t>
            </a: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548640" y="1280160"/>
            <a:ext cx="1106424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lang="en-US" sz="20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 2.4 GHz signal carried over each medium (loss = power lost along the cable):</a:t>
            </a:r>
          </a:p>
        </p:txBody>
      </p:sp>
      <p:graphicFrame>
        <p:nvGraphicFramePr>
          <p:cNvPr id="4" name="Table 3"/>
          <p:cNvGraphicFramePr/>
          <p:nvPr/>
        </p:nvGraphicFramePr>
        <p:xfrm>
          <a:off x="548640" y="192024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0"/>
                <a:gridCol w="4900000"/>
                <a:gridCol w="4364240"/>
              </a:tblGrid>
              <a:tr h="548640">
                <a:tc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Distance</a:t>
                      </a:r>
                    </a:p>
                  </a:txBody>
                  <a:tcPr marL="91440" marR="91440" marT="45720" marB="45720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Coax (about 22 dB per 100 m at 2.4 GHz)</a:t>
                      </a:r>
                    </a:p>
                  </a:txBody>
                  <a:tcPr marL="91440" marR="91440" marT="45720" marB="45720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Fiber (0.2 dB/km at 1550 nm)</a:t>
                      </a:r>
                    </a:p>
                  </a:txBody>
                  <a:tcPr marL="91440" marR="91440" marT="45720" marB="45720">
                    <a:solidFill>
                      <a:srgbClr val="DDDDD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100 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about 22 dB loss (under 1% of the power left)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0.02 dB loss (about 99.5% left)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1 km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about 220 dB loss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0.2 dB loss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10 km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about 2,200 dB loss: not usable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2 dB loss (about 63% left)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>
            <a:spLocks noGrp="1"/>
          </p:cNvSpPr>
          <p:nvPr/>
        </p:nvSpPr>
        <p:spPr>
          <a:xfrm>
            <a:off x="548640" y="4480560"/>
            <a:ext cx="1106424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lang="en-US" sz="2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Takeaway: </a:t>
            </a:r>
            <a:r>
              <a:rPr lang="en-US" sz="2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over 10 km, fiber loses a few dB while coax loses far more than any amplifier could recover.</a:t>
            </a: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548640" y="5440680"/>
            <a:ext cx="1106424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lang="en-US" sz="16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 an intensity-modulated link, 1 dB of optical loss reduces the recovered RF power by about 2 dB, so 2 dB of fiber loss is roughly 4 dB of RF loss. Still tiny next to coax.</a:t>
            </a: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548640" y="6309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lang="en-US"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Illustrative values. Coax: typical datasheet figure for LMR-400-class cable at 2.4 GHz; check your own cable’s datasheet. Fiber: ITU-T G.652 family.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DDA2252-AE7E-4F2B-929F-7E007F156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0040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Radio over Fiber: Definition &amp; Principle of Operation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E21C7F0-4621-4FF1-9D2E-45A34C714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34440"/>
            <a:ext cx="11064240" cy="3657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</a:pPr>
            <a:r>
              <a:rPr sz="2000" b="1" i="0">
                <a:solidFill>
                  <a:srgbClr val="000000"/>
                </a:solidFill>
                <a:latin typeface="Arial"/>
              </a:rPr>
              <a:t>• Core concept: </a:t>
            </a:r>
            <a:r>
              <a:rPr sz="2000" b="0" i="0">
                <a:solidFill>
                  <a:srgbClr val="000000"/>
                </a:solidFill>
                <a:latin typeface="Arial"/>
              </a:rPr>
              <a:t>RoF transports an analog RF or IF waveform directly over an optical fiber carrier, rather than baseband digital bits.</a:t>
            </a:r>
          </a:p>
          <a:p xmlns:a="http://schemas.openxmlformats.org/drawingml/2006/main">
            <a:pPr>
              <a:spcAft>
                <a:spcPts val="1200"/>
              </a:spcAft>
            </a:pPr>
            <a:r>
              <a:rPr sz="2000" b="1" i="0">
                <a:solidFill>
                  <a:srgbClr val="000000"/>
                </a:solidFill>
                <a:latin typeface="Arial"/>
              </a:rPr>
              <a:t>• Downlink (E/O → O/E): </a:t>
            </a:r>
            <a:r>
              <a:rPr sz="2000" b="0" i="0">
                <a:solidFill>
                  <a:srgbClr val="000000"/>
                </a:solidFill>
                <a:latin typeface="Arial"/>
              </a:rPr>
              <a:t>at the central station, the RF/IF signal modulates a CW laser carrier (direct modulation or an external MZM). At the remote unit, a photodiode recovers the RF/IF signal for filtering, amplification and antenna transmission.</a:t>
            </a:r>
          </a:p>
          <a:p xmlns:a="http://schemas.openxmlformats.org/drawingml/2006/main">
            <a:pPr>
              <a:spcAft>
                <a:spcPts val="1200"/>
              </a:spcAft>
            </a:pPr>
            <a:r>
              <a:rPr sz="2000" b="1" i="0">
                <a:solidFill>
                  <a:srgbClr val="000000"/>
                </a:solidFill>
                <a:latin typeface="Arial"/>
              </a:rPr>
              <a:t>• Uplink: </a:t>
            </a:r>
            <a:r>
              <a:rPr sz="2000" b="0" i="0">
                <a:solidFill>
                  <a:srgbClr val="000000"/>
                </a:solidFill>
                <a:latin typeface="Arial"/>
              </a:rPr>
              <a:t>follows the reverse conversion path, from the remote antenna back to the central processing unit.</a:t>
            </a:r>
          </a:p>
          <a:p xmlns:a="http://schemas.openxmlformats.org/drawingml/2006/main">
            <a:pPr>
              <a:spcAft>
                <a:spcPts val="1200"/>
              </a:spcAft>
            </a:pPr>
            <a:r>
              <a:rPr sz="2000" b="1" i="0">
                <a:solidFill>
                  <a:srgbClr val="000000"/>
                </a:solidFill>
                <a:latin typeface="Arial"/>
              </a:rPr>
              <a:t>• Multiplexing: </a:t>
            </a:r>
            <a:r>
              <a:rPr sz="2000" b="0" i="0">
                <a:solidFill>
                  <a:srgbClr val="000000"/>
                </a:solidFill>
                <a:latin typeface="Arial"/>
              </a:rPr>
              <a:t>wavelength-division multiplexing (WDM) lets several RF channels share one fiber on different wavelengths (λ1 … λn).</a:t>
            </a:r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548640" y="5074920"/>
            <a:ext cx="11064240" cy="86868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</p:spPr>
        <p:txBody>
          <a:bodyPr rtlCol="0" anchor="ctr" lIns="182880" rIns="182880" wrap="square"/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000000"/>
                </a:solidFill>
                <a:latin typeface="Arial"/>
              </a:rPr>
              <a:t>Critical distinction: </a:t>
            </a:r>
            <a:r>
              <a:rPr sz="1700" b="0" i="1">
                <a:solidFill>
                  <a:srgbClr val="000000"/>
                </a:solidFill>
                <a:latin typeface="Arial"/>
              </a:rPr>
              <a:t>RoF removes the transport bottleneck, but it does not create extra radio spectrum or wireless air-interface capacity by itself.</a:t>
            </a:r>
          </a:p>
        </p:txBody>
      </p:sp>
    </p:spTree>
    <p:extLst>
      <p:ext uri="{BB962C8B-B14F-4D97-AF65-F5344CB8AC3E}">
        <p14:creationId xmlns:p14="http://schemas.microsoft.com/office/powerpoint/2010/main" val="13250254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0C24DC4-0424-4FFB-A059-3C9F76521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0040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RoF Network Architecture</a:t>
            </a:r>
          </a:p>
        </p:txBody>
      </p:sp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D7FC7C44-F6C5-4E4A-8EF6-91F8B896EB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015b335a9a41b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66647" y="1280160"/>
            <a:ext cx="10058400" cy="3722007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A6A6A6"/>
            </a:solidFill>
          </a:ln>
        </p:spPr>
      </p:pic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6631966-83CE-4288-9721-200A112AA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647" y="5139327"/>
            <a:ext cx="10058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>
            <a:spAutoFit/>
          </a:bodyPr>
          <a:lstStyle xmlns:a="http://schemas.openxmlformats.org/drawingml/2006/main"/>
          <a:p xmlns:a="http://schemas.openxmlformats.org/drawingml/2006/main"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BBU: Baseband Unit · BS: Base Station · RRH: Remote Radio Head</a:t>
            </a:r>
          </a:p>
        </p:txBody>
      </p:sp>
    </p:spTree>
    <p:extLst>
      <p:ext uri="{BB962C8B-B14F-4D97-AF65-F5344CB8AC3E}">
        <p14:creationId xmlns:p14="http://schemas.microsoft.com/office/powerpoint/2010/main" val="199203043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6354E93-0735-4C6C-99B7-3B524608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0040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RoF Link Block Diagram</a:t>
            </a:r>
          </a:p>
        </p:txBody>
      </p:sp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8F2CBD19-97B9-4217-AAD4-C268B102EA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c19aa48ec745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09669" y="1188720"/>
            <a:ext cx="8772356" cy="324612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A6A6A6"/>
            </a:solidFill>
          </a:ln>
        </p:spPr>
      </p:pic>
      <p:sp xmlns:a="http://schemas.openxmlformats.org/drawingml/2006/main">
        <p:nvSpPr>
          <p:cNvPr id="4" name="Rectangle 3"/>
          <p:cNvSpPr/>
          <p:nvPr/>
        </p:nvSpPr>
        <p:spPr>
          <a:xfrm>
            <a:off x="1709669" y="4617720"/>
            <a:ext cx="8772356" cy="1600200"/>
          </a:xfrm>
          <a:prstGeom prst="rect">
            <a:avLst/>
          </a:prstGeom>
          <a:noFill/>
          <a:ln w="9525">
            <a:solidFill>
              <a:srgbClr val="A6A6A6"/>
            </a:solidFill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TextBox 4"/>
          <p:cNvSpPr txBox="1"/>
          <p:nvPr/>
        </p:nvSpPr>
        <p:spPr>
          <a:xfrm>
            <a:off x="1819397" y="4690872"/>
            <a:ext cx="4203298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</a:pPr>
            <a:r>
              <a:rPr sz="1300" b="1" i="0">
                <a:solidFill>
                  <a:srgbClr val="000000"/>
                </a:solidFill>
                <a:latin typeface="Arial"/>
              </a:rPr>
              <a:t>CW laser: </a:t>
            </a:r>
            <a:r>
              <a:rPr sz="1300" b="0" i="0">
                <a:solidFill>
                  <a:srgbClr val="000000"/>
                </a:solidFill>
                <a:latin typeface="Arial"/>
              </a:rPr>
              <a:t>continuous-wave source that provides the optical carrier.</a:t>
            </a:r>
          </a:p>
          <a:p>
            <a:pPr>
              <a:spcAft>
                <a:spcPts val="500"/>
              </a:spcAft>
            </a:pPr>
            <a:r>
              <a:rPr sz="1300" b="1" i="0">
                <a:solidFill>
                  <a:srgbClr val="000000"/>
                </a:solidFill>
                <a:latin typeface="Arial"/>
              </a:rPr>
              <a:t>MZM: </a:t>
            </a:r>
            <a:r>
              <a:rPr sz="1300" b="0" i="0">
                <a:solidFill>
                  <a:srgbClr val="000000"/>
                </a:solidFill>
                <a:latin typeface="Arial"/>
              </a:rPr>
              <a:t>Mach-Zehnder modulator; varies light intensity with the RF signal (alternative: direct laser modulation).</a:t>
            </a:r>
          </a:p>
          <a:p>
            <a:pPr>
              <a:spcAft>
                <a:spcPts val="500"/>
              </a:spcAft>
            </a:pPr>
            <a:r>
              <a:rPr sz="1300" b="1" i="0">
                <a:solidFill>
                  <a:srgbClr val="000000"/>
                </a:solidFill>
                <a:latin typeface="Arial"/>
              </a:rPr>
              <a:t>WDM MUX / DEMUX: </a:t>
            </a:r>
            <a:r>
              <a:rPr sz="1300" b="0" i="0">
                <a:solidFill>
                  <a:srgbClr val="000000"/>
                </a:solidFill>
                <a:latin typeface="Arial"/>
              </a:rPr>
              <a:t>combine and separate channels λ1 … λn when they share one fiber.</a:t>
            </a:r>
          </a:p>
        </p:txBody>
      </p:sp>
      <p:sp xmlns:a="http://schemas.openxmlformats.org/drawingml/2006/main">
        <p:nvSpPr>
          <p:cNvPr id="6" name="TextBox 5"/>
          <p:cNvSpPr txBox="1"/>
          <p:nvPr/>
        </p:nvSpPr>
        <p:spPr>
          <a:xfrm>
            <a:off x="6168999" y="4690872"/>
            <a:ext cx="4203298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</a:pPr>
            <a:r>
              <a:rPr sz="1300" b="1" i="0">
                <a:solidFill>
                  <a:srgbClr val="000000"/>
                </a:solidFill>
                <a:latin typeface="Arial"/>
              </a:rPr>
              <a:t>Photodiode: </a:t>
            </a:r>
            <a:r>
              <a:rPr sz="1300" b="0" i="0">
                <a:solidFill>
                  <a:srgbClr val="000000"/>
                </a:solidFill>
                <a:latin typeface="Arial"/>
              </a:rPr>
              <a:t>converts light back into the electrical RF signal at the base station (remote antenna site).</a:t>
            </a:r>
          </a:p>
          <a:p>
            <a:pPr>
              <a:spcAft>
                <a:spcPts val="500"/>
              </a:spcAft>
            </a:pPr>
            <a:r>
              <a:rPr sz="1300" b="1" i="0">
                <a:solidFill>
                  <a:srgbClr val="000000"/>
                </a:solidFill>
                <a:latin typeface="Arial"/>
              </a:rPr>
              <a:t>Filter and PA: </a:t>
            </a:r>
            <a:r>
              <a:rPr sz="1300" b="0" i="0">
                <a:solidFill>
                  <a:srgbClr val="000000"/>
                </a:solidFill>
                <a:latin typeface="Arial"/>
              </a:rPr>
              <a:t>remove out-of-band products and amplify the RF signal before the antenna.</a:t>
            </a:r>
          </a:p>
          <a:p>
            <a:pPr>
              <a:spcAft>
                <a:spcPts val="500"/>
              </a:spcAft>
            </a:pPr>
            <a:r>
              <a:rPr sz="1300" b="1" i="0">
                <a:solidFill>
                  <a:srgbClr val="000000"/>
                </a:solidFill>
                <a:latin typeface="Arial"/>
              </a:rPr>
              <a:t>Downlink shown; </a:t>
            </a:r>
            <a:r>
              <a:rPr sz="1300" b="0" i="0">
                <a:solidFill>
                  <a:srgbClr val="000000"/>
                </a:solidFill>
                <a:latin typeface="Arial"/>
              </a:rPr>
              <a:t>the uplink follows the reverse conversion path.</a:t>
            </a:r>
          </a:p>
        </p:txBody>
      </p:sp>
    </p:spTree>
    <p:extLst>
      <p:ext uri="{BB962C8B-B14F-4D97-AF65-F5344CB8AC3E}">
        <p14:creationId xmlns:p14="http://schemas.microsoft.com/office/powerpoint/2010/main" val="145010694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7259381-1281-4C09-95A8-118762CE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0040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RoF Remote Antenna Unit (RAU) Types</a:t>
            </a:r>
          </a:p>
        </p:txBody>
      </p:sp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7C67ADCD-A5DA-4A0B-BB95-0C754AD094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6a79442cd9496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8640" y="1280160"/>
            <a:ext cx="3584813" cy="493776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A6A6A6"/>
            </a:solidFill>
          </a:ln>
        </p:spPr>
      </p:pic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2A221E3-328F-457F-9AF7-4554430E9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7773" y="1280160"/>
            <a:ext cx="7205106" cy="4937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</a:pPr>
            <a:r>
              <a:rPr sz="1800" b="1" i="0">
                <a:solidFill>
                  <a:srgbClr val="000000"/>
                </a:solidFill>
                <a:latin typeface="Arial"/>
              </a:rPr>
              <a:t>BBoF — baseband over fiber</a:t>
            </a:r>
          </a:p>
          <a:p xmlns:a="http://schemas.openxmlformats.org/drawingml/2006/main">
            <a:pPr>
              <a:spcAft>
                <a:spcPts val="400"/>
              </a:spcAft>
            </a:pPr>
            <a:r>
              <a:rPr sz="1800" b="0" i="0">
                <a:solidFill>
                  <a:srgbClr val="000000"/>
                </a:solidFill>
                <a:latin typeface="Arial"/>
              </a:rPr>
              <a:t>RAU: modulator + mixer + LO. Converts baseband up to RF.</a:t>
            </a:r>
          </a:p>
          <a:p xmlns:a="http://schemas.openxmlformats.org/drawingml/2006/main">
            <a:pPr>
              <a:spcBef>
                <a:spcPts val="1400"/>
              </a:spcBef>
              <a:spcAft>
                <a:spcPts val="400"/>
              </a:spcAft>
            </a:pPr>
            <a:r>
              <a:rPr sz="1800" b="1" i="0">
                <a:solidFill>
                  <a:srgbClr val="000000"/>
                </a:solidFill>
                <a:latin typeface="Arial"/>
              </a:rPr>
              <a:t>IFoF — intermediate frequency over fiber</a:t>
            </a:r>
          </a:p>
          <a:p xmlns:a="http://schemas.openxmlformats.org/drawingml/2006/main">
            <a:pPr>
              <a:spcAft>
                <a:spcPts val="400"/>
              </a:spcAft>
            </a:pPr>
            <a:r>
              <a:rPr sz="1800" b="0" i="0">
                <a:solidFill>
                  <a:srgbClr val="000000"/>
                </a:solidFill>
                <a:latin typeface="Arial"/>
              </a:rPr>
              <a:t>RAU: mixer + LO. Converts IF up to RF.</a:t>
            </a:r>
          </a:p>
          <a:p xmlns:a="http://schemas.openxmlformats.org/drawingml/2006/main">
            <a:pPr>
              <a:spcBef>
                <a:spcPts val="1400"/>
              </a:spcBef>
              <a:spcAft>
                <a:spcPts val="400"/>
              </a:spcAft>
            </a:pPr>
            <a:r>
              <a:rPr sz="1800" b="1" i="0">
                <a:solidFill>
                  <a:srgbClr val="000000"/>
                </a:solidFill>
                <a:latin typeface="Arial"/>
              </a:rPr>
              <a:t>RFoF — RF over fiber</a:t>
            </a:r>
          </a:p>
          <a:p xmlns:a="http://schemas.openxmlformats.org/drawingml/2006/main">
            <a:pPr>
              <a:spcAft>
                <a:spcPts val="400"/>
              </a:spcAft>
            </a:pPr>
            <a:r>
              <a:rPr sz="1800" b="0" i="0">
                <a:solidFill>
                  <a:srgbClr val="000000"/>
                </a:solidFill>
                <a:latin typeface="Arial"/>
              </a:rPr>
              <a:t>RAU: photodiode + TIA + PA. No frequency conversion; simplest RAU.</a:t>
            </a:r>
          </a:p>
          <a:p xmlns:a="http://schemas.openxmlformats.org/drawingml/2006/main">
            <a:pPr>
              <a:spcBef>
                <a:spcPts val="1400"/>
              </a:spcBef>
              <a:spcAft>
                <a:spcPts val="400"/>
              </a:spcAft>
            </a:pPr>
            <a:r>
              <a:rPr sz="1800" b="1" i="0">
                <a:solidFill>
                  <a:srgbClr val="000000"/>
                </a:solidFill>
                <a:latin typeface="Arial"/>
              </a:rPr>
              <a:t>All types</a:t>
            </a:r>
          </a:p>
          <a:p xmlns:a="http://schemas.openxmlformats.org/drawingml/2006/main">
            <a:pPr>
              <a:spcAft>
                <a:spcPts val="400"/>
              </a:spcAft>
            </a:pPr>
            <a:r>
              <a:rPr sz="1800" b="0" i="0">
                <a:solidFill>
                  <a:srgbClr val="000000"/>
                </a:solidFill>
                <a:latin typeface="Arial"/>
              </a:rPr>
              <a:t>Downlink: photodiode, TIA, PA.  Uplink: LNA, laser diode (LD).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6BAAC74-9508-419C-96C6-B6E608891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30936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TIA: transimpedance amplifier · PA: power amplifier · LNA: low-noise amplifier. Figure adapted from “Radio over Fiber: An Alternative Broadband Network Technology for IoT,” Electronics 9(11), 1785 (2020), Fig. 3.</a:t>
            </a:r>
          </a:p>
        </p:txBody>
      </p:sp>
    </p:spTree>
    <p:extLst>
      <p:ext uri="{BB962C8B-B14F-4D97-AF65-F5344CB8AC3E}">
        <p14:creationId xmlns:p14="http://schemas.microsoft.com/office/powerpoint/2010/main" val="95042334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67CB579-89EE-4B5B-AF6F-B17FE81EF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0040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Analog vs. Digital RoF</a:t>
            </a:r>
          </a:p>
        </p:txBody>
      </p:sp>
      <p:graphicFrame>
        <p:nvGraphicFramePr>
          <p:cNvPr id="3" name="Table 2">
            <a:extLst xmlns:a="http://schemas.openxmlformats.org/drawingml/2006/main">
              <a:ext uri="{FF2B5EF4-FFF2-40B4-BE49-F238E27FC236}">
                <a16:creationId xmlns:a16="http://schemas.microsoft.com/office/drawing/2014/main" id="{391F3539-F998-49D0-B1CB-886ED0E2CC34}"/>
              </a:ext>
            </a:extLst>
          </p:cNvPr>
          <p:cNvGraphicFramePr/>
          <p:nvPr/>
        </p:nvGraphicFramePr>
        <p:xfrm>
          <a:off xmlns:a="http://schemas.openxmlformats.org/drawingml/2006/main" x="548640" y="1280160"/>
          <a:ext xmlns:a="http://schemas.openxmlformats.org/drawingml/2006/main" cx="11064240" cy="27432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Aspect</a:t>
                      </a: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6A6A6"/>
                      </a:solidFill>
                      <a:prstDash val="soli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Analog RoF (A-RoF)</a:t>
                      </a: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6A6A6"/>
                      </a:solidFill>
                      <a:prstDash val="soli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Digital RoF (D-RoF)</a:t>
                      </a: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6A6A6"/>
                      </a:solidFill>
                      <a:prstDash val="soli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Signal on fiber</a:t>
                      </a: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6A6A6"/>
                      </a:solidFill>
                      <a:prstDash val="soli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The RF waveform itself modulates the light</a:t>
                      </a: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6A6A6"/>
                      </a:solidFill>
                      <a:prstDash val="soli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Sampled and quantized digital bits</a:t>
                      </a: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6A6A6"/>
                      </a:solidFill>
                      <a:prstDash val="soli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Remote unit</a:t>
                      </a: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6A6A6"/>
                      </a:solidFill>
                      <a:prstDash val="soli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Very simple: photodiode, filter, amplifier</a:t>
                      </a: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6A6A6"/>
                      </a:solidFill>
                      <a:prstDash val="soli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More complex: needs DAC / ADC</a:t>
                      </a: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6A6A6"/>
                      </a:solidFill>
                      <a:prstDash val="soli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Fiber bandwidth</a:t>
                      </a: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6A6A6"/>
                      </a:solidFill>
                      <a:prstDash val="soli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Efficient</a:t>
                      </a: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6A6A6"/>
                      </a:solidFill>
                      <a:prstDash val="soli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Very high; grows with antennas and bandwidth</a:t>
                      </a: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6A6A6"/>
                      </a:solidFill>
                      <a:prstDash val="soli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Main weakness</a:t>
                      </a: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6A6A6"/>
                      </a:solidFill>
                      <a:prstDash val="soli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Noise, nonlinearity, dispersion</a:t>
                      </a: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6A6A6"/>
                      </a:solidFill>
                      <a:prstDash val="soli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High data rate, remote-unit cost and power</a:t>
                      </a: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6A6A6"/>
                      </a:solidFill>
                      <a:prstDash val="soli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Standards</a:t>
                      </a: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6A6A6"/>
                      </a:solidFill>
                      <a:prstDash val="soli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ITU-T G.9803 defines RoF system requirements, including IMT-2020 fronthaul in Amendment 2 (2022).</a:t>
                      </a: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6A6A6"/>
                      </a:solidFill>
                      <a:prstDash val="soli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CPRI / eCPRI: digital fronthaul interface families.</a:t>
                      </a: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6A6A6"/>
                      </a:solidFill>
                      <a:prstDash val="soli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4A11C54-FFD2-4750-A3D5-375F467AA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943600"/>
            <a:ext cx="1106424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0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Sources: Li et al. (2021); ITU-T G.9803 (2018), Amendment 2 (2022).</a:t>
            </a:r>
          </a:p>
        </p:txBody>
      </p:sp>
    </p:spTree>
    <p:extLst>
      <p:ext uri="{BB962C8B-B14F-4D97-AF65-F5344CB8AC3E}">
        <p14:creationId xmlns:p14="http://schemas.microsoft.com/office/powerpoint/2010/main" val="127081658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DAACCE0-C029-4C72-898C-8D878A107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0040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Key Engineering Advantages of RoF</a:t>
            </a:r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548640" y="1234440"/>
            <a:ext cx="3566160" cy="2011680"/>
          </a:xfrm>
          <a:prstGeom prst="rect">
            <a:avLst/>
          </a:prstGeom>
          <a:noFill/>
          <a:ln w="9525">
            <a:solidFill>
              <a:srgbClr val="A6A6A6"/>
            </a:solidFill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TextBox 3"/>
          <p:cNvSpPr txBox="1"/>
          <p:nvPr/>
        </p:nvSpPr>
        <p:spPr>
          <a:xfrm>
            <a:off x="658368" y="1325880"/>
            <a:ext cx="3346704" cy="1828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sz="1500" b="1" i="0">
                <a:solidFill>
                  <a:srgbClr val="000000"/>
                </a:solidFill>
                <a:latin typeface="Arial"/>
              </a:rPr>
              <a:t>1. Ultra-low attenuation &amp; extended reach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000000"/>
                </a:solidFill>
                <a:latin typeface="Arial"/>
              </a:rPr>
              <a:t>≈ 0.2 dB/km at 1550 nm (ITU-T G.652 SMF), so one central site can serve a wide coverage area. Reach is bounded by noise, nonlinearity and dispersion.</a:t>
            </a:r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4297679" y="1234440"/>
            <a:ext cx="3566160" cy="2011680"/>
          </a:xfrm>
          <a:prstGeom prst="rect">
            <a:avLst/>
          </a:prstGeom>
          <a:noFill/>
          <a:ln w="9525">
            <a:solidFill>
              <a:srgbClr val="A6A6A6"/>
            </a:solidFill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6" name="TextBox 5"/>
          <p:cNvSpPr txBox="1"/>
          <p:nvPr/>
        </p:nvSpPr>
        <p:spPr>
          <a:xfrm>
            <a:off x="4407407" y="1325880"/>
            <a:ext cx="3346704" cy="1828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sz="1500" b="1" i="0">
                <a:solidFill>
                  <a:srgbClr val="000000"/>
                </a:solidFill>
                <a:latin typeface="Arial"/>
              </a:rPr>
              <a:t>2. Large transport bandwidth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000000"/>
                </a:solidFill>
                <a:latin typeface="Arial"/>
              </a:rPr>
              <a:t>High fiber capacity, extended with WDM, supports multiple channels and operators on one fiber.</a:t>
            </a:r>
          </a:p>
        </p:txBody>
      </p:sp>
      <p:sp xmlns:a="http://schemas.openxmlformats.org/drawingml/2006/main">
        <p:nvSpPr>
          <p:cNvPr id="7" name="Rectangle 6"/>
          <p:cNvSpPr/>
          <p:nvPr/>
        </p:nvSpPr>
        <p:spPr>
          <a:xfrm>
            <a:off x="8046719" y="1234440"/>
            <a:ext cx="3566160" cy="2011680"/>
          </a:xfrm>
          <a:prstGeom prst="rect">
            <a:avLst/>
          </a:prstGeom>
          <a:noFill/>
          <a:ln w="9525">
            <a:solidFill>
              <a:srgbClr val="A6A6A6"/>
            </a:solidFill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8" name="TextBox 7"/>
          <p:cNvSpPr txBox="1"/>
          <p:nvPr/>
        </p:nvSpPr>
        <p:spPr>
          <a:xfrm>
            <a:off x="8156447" y="1325880"/>
            <a:ext cx="3346704" cy="1828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sz="1500" b="1" i="0">
                <a:solidFill>
                  <a:srgbClr val="000000"/>
                </a:solidFill>
                <a:latin typeface="Arial"/>
              </a:rPr>
              <a:t>3. EMI immunity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000000"/>
                </a:solidFill>
                <a:latin typeface="Arial"/>
              </a:rPr>
              <a:t>The optical fiber span is immune to electromagnetic interference. Over-the-air RF interference still applies.</a:t>
            </a:r>
          </a:p>
        </p:txBody>
      </p:sp>
      <p:sp xmlns:a="http://schemas.openxmlformats.org/drawingml/2006/main">
        <p:nvSpPr>
          <p:cNvPr id="9" name="Rectangle 8"/>
          <p:cNvSpPr/>
          <p:nvPr/>
        </p:nvSpPr>
        <p:spPr>
          <a:xfrm>
            <a:off x="548640" y="3429000"/>
            <a:ext cx="3566160" cy="2011680"/>
          </a:xfrm>
          <a:prstGeom prst="rect">
            <a:avLst/>
          </a:prstGeom>
          <a:noFill/>
          <a:ln w="9525">
            <a:solidFill>
              <a:srgbClr val="A6A6A6"/>
            </a:solidFill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0" name="TextBox 9"/>
          <p:cNvSpPr txBox="1"/>
          <p:nvPr/>
        </p:nvSpPr>
        <p:spPr>
          <a:xfrm>
            <a:off x="658368" y="3520440"/>
            <a:ext cx="3346704" cy="1828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sz="1500" b="1" i="0">
                <a:solidFill>
                  <a:srgbClr val="000000"/>
                </a:solidFill>
                <a:latin typeface="Arial"/>
              </a:rPr>
              <a:t>4. Centralized processing, low field maintenance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000000"/>
                </a:solidFill>
                <a:latin typeface="Arial"/>
              </a:rPr>
              <a:t>Complex processing stays at the BBU pool. Simpler remote units with fewer active parts reduce remote power and maintenance.</a:t>
            </a:r>
          </a:p>
        </p:txBody>
      </p:sp>
      <p:sp xmlns:a="http://schemas.openxmlformats.org/drawingml/2006/main">
        <p:nvSpPr>
          <p:cNvPr id="11" name="Rectangle 10"/>
          <p:cNvSpPr/>
          <p:nvPr/>
        </p:nvSpPr>
        <p:spPr>
          <a:xfrm>
            <a:off x="4297679" y="3429000"/>
            <a:ext cx="3566160" cy="2011680"/>
          </a:xfrm>
          <a:prstGeom prst="rect">
            <a:avLst/>
          </a:prstGeom>
          <a:noFill/>
          <a:ln w="9525">
            <a:solidFill>
              <a:srgbClr val="A6A6A6"/>
            </a:solidFill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2" name="TextBox 11"/>
          <p:cNvSpPr txBox="1"/>
          <p:nvPr/>
        </p:nvSpPr>
        <p:spPr>
          <a:xfrm>
            <a:off x="4407407" y="3520440"/>
            <a:ext cx="3346704" cy="1828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sz="1500" b="1" i="0">
                <a:solidFill>
                  <a:srgbClr val="000000"/>
                </a:solidFill>
                <a:latin typeface="Arial"/>
              </a:rPr>
              <a:t>5. Protocol &amp; modulation transparency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000000"/>
                </a:solidFill>
                <a:latin typeface="Arial"/>
              </a:rPr>
              <a:t>A transparent optical link carries multiple radio generations and modulation formats without changing remote hardware.</a:t>
            </a:r>
          </a:p>
        </p:txBody>
      </p:sp>
      <p:sp xmlns:a="http://schemas.openxmlformats.org/drawingml/2006/main">
        <p:nvSpPr>
          <p:cNvPr id="13" name="Rectangle 12"/>
          <p:cNvSpPr/>
          <p:nvPr/>
        </p:nvSpPr>
        <p:spPr>
          <a:xfrm>
            <a:off x="8046719" y="3429000"/>
            <a:ext cx="3566160" cy="2011680"/>
          </a:xfrm>
          <a:prstGeom prst="rect">
            <a:avLst/>
          </a:prstGeom>
          <a:noFill/>
          <a:ln w="9525">
            <a:solidFill>
              <a:srgbClr val="A6A6A6"/>
            </a:solidFill>
          </a:ln>
        </p:spPr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4" name="TextBox 13"/>
          <p:cNvSpPr txBox="1"/>
          <p:nvPr/>
        </p:nvSpPr>
        <p:spPr>
          <a:xfrm>
            <a:off x="8156447" y="3520440"/>
            <a:ext cx="3346704" cy="1828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sz="1500" b="1" i="0">
                <a:solidFill>
                  <a:srgbClr val="000000"/>
                </a:solidFill>
                <a:latin typeface="Arial"/>
              </a:rPr>
              <a:t>6. Cost &amp; installation efficiency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000000"/>
                </a:solidFill>
                <a:latin typeface="Arial"/>
              </a:rPr>
              <a:t>Light, flexible cable simplifies installation in tunnels and buildings; existing dark fiber can be reused.</a:t>
            </a:r>
          </a:p>
        </p:txBody>
      </p:sp>
      <p:sp xmlns:a="http://schemas.openxmlformats.org/drawingml/2006/main">
        <p:nvSpPr>
          <p:cNvPr id="15" name="TextBox 14"/>
          <p:cNvSpPr txBox="1"/>
          <p:nvPr/>
        </p:nvSpPr>
        <p:spPr>
          <a:xfrm>
            <a:off x="548640" y="5669280"/>
            <a:ext cx="11064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 i="0">
                <a:solidFill>
                  <a:srgbClr val="000000"/>
                </a:solidFill>
                <a:latin typeface="Arial"/>
              </a:rPr>
              <a:t>Note: </a:t>
            </a:r>
            <a:r>
              <a:rPr sz="1400" b="0" i="0">
                <a:solidFill>
                  <a:srgbClr val="000000"/>
                </a:solidFill>
                <a:latin typeface="Arial"/>
              </a:rPr>
              <a:t>wireless capacity remains governed by radio spectrum, modulation efficiency and the number of radio units, not by fiber bandwidth alone.</a:t>
            </a:r>
          </a:p>
        </p:txBody>
      </p:sp>
      <p:sp xmlns:a="http://schemas.openxmlformats.org/drawingml/2006/main">
        <p:nvSpPr>
          <p:cNvPr id="16" name="TextBox 15"/>
          <p:cNvSpPr txBox="1"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Fiber attenuation: typical single-mode fiber at 1550 nm, ITU-T G.652 family.</a:t>
            </a:r>
          </a:p>
        </p:txBody>
      </p:sp>
    </p:spTree>
    <p:extLst>
      <p:ext uri="{BB962C8B-B14F-4D97-AF65-F5344CB8AC3E}">
        <p14:creationId xmlns:p14="http://schemas.microsoft.com/office/powerpoint/2010/main" val="693538438"/>
      </p:ext>
    </p:extLst>
  </p:cSld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3400" b="1" i="0">
                <a:solidFill>
                  <a:srgbClr val="111111"/>
                </a:solidFill>
                <a:latin typeface="Arial"/>
              </a:rPr>
              <a:t>Part 2: Where Is RoF Used? DAS and C-RAN</a:t>
            </a:r>
          </a:p>
        </p:txBody>
      </p:sp>
      <p:pic>
        <p:nvPicPr>
          <p:cNvPr id="3" name="Picture 2" descr="hadi2023_fig1_fiber_wireless_d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622" y="1234440"/>
            <a:ext cx="5255075" cy="4846320"/>
          </a:xfrm>
          <a:prstGeom prst="rect">
            <a:avLst/>
          </a:prstGeom>
          <a:ln w="9525">
            <a:solidFill>
              <a:srgbClr val="A6A6A6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6468017" y="1280160"/>
            <a:ext cx="5144862" cy="4846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1000"/>
              </a:spcAft>
            </a:pPr>
            <a:r>
              <a:rPr sz="1600" b="1" i="0">
                <a:solidFill>
                  <a:srgbClr val="111111"/>
                </a:solidFill>
                <a:latin typeface="Arial"/>
              </a:rPr>
              <a:t>In buildings (DAS): </a:t>
            </a:r>
            <a:r>
              <a:rPr sz="1600" b="0" i="0">
                <a:solidFill>
                  <a:srgbClr val="111111"/>
                </a:solidFill>
                <a:latin typeface="Arial"/>
              </a:rPr>
              <a:t>fiber carries the radio signal from one source to many indoor antennas.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111111"/>
                </a:solidFill>
                <a:latin typeface="Arial"/>
              </a:rPr>
              <a:t>In the mobile network (C-RAN): </a:t>
            </a:r>
            <a:r>
              <a:rPr sz="1600" b="0" i="0">
                <a:solidFill>
                  <a:srgbClr val="111111"/>
                </a:solidFill>
                <a:latin typeface="Arial"/>
              </a:rPr>
              <a:t>fiber fronthaul links a central BBU pool to remote radio heads.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111111"/>
                </a:solidFill>
                <a:latin typeface="Arial"/>
              </a:rPr>
              <a:t>Same physics as Part 1: </a:t>
            </a:r>
            <a:r>
              <a:rPr sz="1600" b="0" i="0">
                <a:solidFill>
                  <a:srgbClr val="111111"/>
                </a:solidFill>
                <a:latin typeface="Arial"/>
              </a:rPr>
              <a:t>loss, noise, dynamic range and transparency become design decisions.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110642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Source: Hadi &amp; Murtaza, "Fibre Wireless Distributed Antenna Systems for 5G and 6G Services," Electronics 12(1), 64 (2023), CC BY 4.0, Fig. 1.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3400" b="1" i="0">
                <a:solidFill>
                  <a:srgbClr val="111111"/>
                </a:solidFill>
                <a:latin typeface="Arial"/>
              </a:rPr>
              <a:t>What Is a Distributed Antenna System (DAS)?</a:t>
            </a:r>
          </a:p>
        </p:txBody>
      </p:sp>
      <p:pic>
        <p:nvPicPr>
          <p:cNvPr id="3" name="Picture 2" descr="silva2023_mall_das_antenn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" y="1234440"/>
            <a:ext cx="3154679" cy="4206240"/>
          </a:xfrm>
          <a:prstGeom prst="rect">
            <a:avLst/>
          </a:prstGeom>
          <a:ln w="9525">
            <a:solidFill>
              <a:srgbClr val="A6A6A6"/>
            </a:solidFill>
          </a:ln>
        </p:spPr>
      </p:pic>
      <p:pic>
        <p:nvPicPr>
          <p:cNvPr id="4" name="Picture 3" descr="paredes2020_fig1_rau_netwo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1234440"/>
            <a:ext cx="4480560" cy="3188329"/>
          </a:xfrm>
          <a:prstGeom prst="rect">
            <a:avLst/>
          </a:prstGeom>
          <a:ln w="9525">
            <a:solidFill>
              <a:srgbClr val="A6A6A6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8869680" y="1280160"/>
            <a:ext cx="2743200" cy="43891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Arial"/>
              </a:rPr>
              <a:t>1  Signal source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111111"/>
                </a:solidFill>
                <a:latin typeface="Arial"/>
              </a:rPr>
              <a:t>operator base station</a:t>
            </a:r>
          </a:p>
          <a:p>
            <a:pPr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Arial"/>
              </a:rPr>
              <a:t>2  Distribution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111111"/>
                </a:solidFill>
                <a:latin typeface="Arial"/>
              </a:rPr>
              <a:t>fiber or coax to remote units</a:t>
            </a:r>
          </a:p>
          <a:p>
            <a:pPr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Arial"/>
              </a:rPr>
              <a:t>3  Antennas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111111"/>
                </a:solidFill>
                <a:latin typeface="Arial"/>
              </a:rPr>
              <a:t>many low-power antennas close to users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09360"/>
            <a:ext cx="110642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Left: ceiling DAS antenna, Silva et al., Sensors 23, 4579 (2023). Right: Paredes-Páliz et al., "Radio over Fiber: An Alternative Broadband Network Technology for IoT," Electronics 9(11), 1785 (2020), Fig. 1, CC BY 4.0.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3400" b="1" i="0">
                <a:solidFill>
                  <a:srgbClr val="111111"/>
                </a:solidFill>
                <a:latin typeface="Arial"/>
              </a:rPr>
              <a:t>Why Fiber Instead of Coax in a DAS?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234440"/>
          <a:ext cx="6035040" cy="44805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858000" y="1280160"/>
            <a:ext cx="4754880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1000"/>
              </a:spcAft>
            </a:pPr>
            <a:r>
              <a:rPr sz="1600" b="1" i="0">
                <a:solidFill>
                  <a:srgbClr val="111111"/>
                </a:solidFill>
                <a:latin typeface="Arial"/>
              </a:rPr>
              <a:t>Coax: </a:t>
            </a:r>
            <a:r>
              <a:rPr sz="1600" b="0" i="0">
                <a:solidFill>
                  <a:srgbClr val="111111"/>
                </a:solidFill>
                <a:latin typeface="Arial"/>
              </a:rPr>
              <a:t>loss rises with frequency; ≈ 2.4× higher at 3.5 GHz than at 700 MHz.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111111"/>
                </a:solidFill>
                <a:latin typeface="Arial"/>
              </a:rPr>
              <a:t>Fiber: </a:t>
            </a:r>
            <a:r>
              <a:rPr sz="1600" b="0" i="0">
                <a:solidFill>
                  <a:srgbClr val="111111"/>
                </a:solidFill>
                <a:latin typeface="Arial"/>
              </a:rPr>
              <a:t>≈ 0.025 dB per 100 m, the same for every band and operator.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111111"/>
                </a:solidFill>
                <a:latin typeface="Arial"/>
              </a:rPr>
              <a:t>Trade-off: </a:t>
            </a:r>
            <a:r>
              <a:rPr sz="1600" b="0" i="0">
                <a:solidFill>
                  <a:srgbClr val="111111"/>
                </a:solidFill>
                <a:latin typeface="Arial"/>
              </a:rPr>
              <a:t>remote units need E/O, O/E, amplifiers and power.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111111"/>
                </a:solidFill>
                <a:latin typeface="Arial"/>
              </a:rPr>
              <a:t>Uplink: </a:t>
            </a:r>
            <a:r>
              <a:rPr sz="1600" b="0" i="0">
                <a:solidFill>
                  <a:srgbClr val="111111"/>
                </a:solidFill>
                <a:latin typeface="Arial"/>
              </a:rPr>
              <a:t>N remote units on one port raise the noise floor by ≈ 10·log10(N) dB.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110642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Source: Times Microwave LMR-400 datasheet (attenuation formula); G.652.D single-mode fiber, ≈ 0.25 dB/km at 1550 nm.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3400" b="1" i="0">
                <a:solidFill>
                  <a:srgbClr val="111111"/>
                </a:solidFill>
                <a:latin typeface="Arial"/>
              </a:rPr>
              <a:t>From D-RAN to C-RAN</a:t>
            </a:r>
          </a:p>
        </p:txBody>
      </p:sp>
      <p:pic>
        <p:nvPicPr>
          <p:cNvPr id="3" name="Picture 2" descr="li2021_fig1_ran_evol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34440"/>
            <a:ext cx="11064240" cy="3108265"/>
          </a:xfrm>
          <a:prstGeom prst="rect">
            <a:avLst/>
          </a:prstGeom>
          <a:ln w="9525">
            <a:solidFill>
              <a:srgbClr val="A6A6A6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548640" y="6309360"/>
            <a:ext cx="110642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Source: Li, Xie, El-Hajjar, Hanzo, "Analogue Radio Over Fiber for Next-Generation RAN," arXiv:2111.13851 (2021), Fig. 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0"/>
            <a:ext cx="1106424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600" b="1" i="0">
                <a:solidFill>
                  <a:srgbClr val="111111"/>
                </a:solidFill>
                <a:latin typeface="Arial"/>
              </a:rPr>
              <a:t>C-RAN: </a:t>
            </a:r>
            <a:r>
              <a:rPr sz="1600" b="0" i="0">
                <a:solidFill>
                  <a:srgbClr val="111111"/>
                </a:solidFill>
                <a:latin typeface="Arial"/>
              </a:rPr>
              <a:t>baseband processing is pooled at a central site; remote radio heads stay at the antennas.</a:t>
            </a:r>
          </a:p>
          <a:p>
            <a:pPr>
              <a:spcAft>
                <a:spcPts val="600"/>
              </a:spcAft>
            </a:pPr>
            <a:r>
              <a:rPr sz="1600" b="1" i="0">
                <a:solidFill>
                  <a:srgbClr val="111111"/>
                </a:solidFill>
                <a:latin typeface="Arial"/>
              </a:rPr>
              <a:t>Benefits: </a:t>
            </a:r>
            <a:r>
              <a:rPr sz="1600" b="0" i="0">
                <a:solidFill>
                  <a:srgbClr val="111111"/>
                </a:solidFill>
                <a:latin typeface="Arial"/>
              </a:rPr>
              <a:t>shared processing, easier coordination between cells, less equipment and power at each site.</a:t>
            </a:r>
          </a:p>
          <a:p>
            <a:pPr>
              <a:spcAft>
                <a:spcPts val="600"/>
              </a:spcAft>
            </a:pPr>
            <a:r>
              <a:rPr sz="1600" b="1" i="0">
                <a:solidFill>
                  <a:srgbClr val="111111"/>
                </a:solidFill>
                <a:latin typeface="Arial"/>
              </a:rPr>
              <a:t>Cost: </a:t>
            </a:r>
            <a:r>
              <a:rPr sz="1600" b="0" i="0">
                <a:solidFill>
                  <a:srgbClr val="111111"/>
                </a:solidFill>
                <a:latin typeface="Arial"/>
              </a:rPr>
              <a:t>every remote radio head needs a high-capacity, low-latency fronthaul link.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3400" b="1" i="0">
                <a:solidFill>
                  <a:srgbClr val="111111"/>
                </a:solidFill>
                <a:latin typeface="Arial"/>
              </a:rPr>
              <a:t>The Fronthaul Bottleneck</a:t>
            </a:r>
          </a:p>
        </p:txBody>
      </p:sp>
      <p:pic>
        <p:nvPicPr>
          <p:cNvPr id="3" name="Picture 2" descr="li2021_fig3_bandwidth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34440"/>
            <a:ext cx="6035040" cy="4520121"/>
          </a:xfrm>
          <a:prstGeom prst="rect">
            <a:avLst/>
          </a:prstGeom>
          <a:ln w="9525">
            <a:solidFill>
              <a:srgbClr val="A6A6A6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6857999" y="1280160"/>
            <a:ext cx="4754880" cy="4846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1000"/>
              </a:spcAft>
            </a:pPr>
            <a:r>
              <a:rPr sz="1600" b="1" i="0">
                <a:solidFill>
                  <a:srgbClr val="111111"/>
                </a:solidFill>
                <a:latin typeface="Arial"/>
              </a:rPr>
              <a:t>Digital fronthaul </a:t>
            </a:r>
            <a:r>
              <a:rPr sz="1600" b="0" i="0">
                <a:solidFill>
                  <a:srgbClr val="111111"/>
                </a:solidFill>
                <a:latin typeface="Arial"/>
              </a:rPr>
              <a:t>sends sampled I/Q bits; its rate grows with bandwidth and antenna count.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111111"/>
                </a:solidFill>
                <a:latin typeface="Arial"/>
              </a:rPr>
              <a:t>Example (CPRI): </a:t>
            </a:r>
            <a:r>
              <a:rPr sz="1600" b="0" i="0">
                <a:solidFill>
                  <a:srgbClr val="111111"/>
                </a:solidFill>
                <a:latin typeface="Arial"/>
              </a:rPr>
              <a:t>20 MHz LTE, 1 antenna = 1.23 Gb/s; 100 MHz, 64 antennas ≈ 315 Gb/s.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111111"/>
                </a:solidFill>
                <a:latin typeface="Arial"/>
              </a:rPr>
              <a:t>Analog RoF </a:t>
            </a:r>
            <a:r>
              <a:rPr sz="1600" b="0" i="0">
                <a:solidFill>
                  <a:srgbClr val="111111"/>
                </a:solidFill>
                <a:latin typeface="Arial"/>
              </a:rPr>
              <a:t>needs far less fiber bandwidth: up to 40-fold less in the modeled case.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110642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Source: Li, Xie, El-Hajjar, Hanzo, "Analogue Radio Over Fiber for Next-Generation RAN," arXiv:2111.13851 (2021), Fig. 3.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3400" b="1" i="0">
                <a:solidFill>
                  <a:srgbClr val="111111"/>
                </a:solidFill>
                <a:latin typeface="Arial"/>
              </a:rPr>
              <a:t>Functional Splits: Where to Cut the Base Station</a:t>
            </a:r>
          </a:p>
        </p:txBody>
      </p:sp>
      <p:pic>
        <p:nvPicPr>
          <p:cNvPr id="3" name="Picture 2" descr="quintuna2021_fig_functional_spli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906" y="1234440"/>
            <a:ext cx="4916107" cy="4846320"/>
          </a:xfrm>
          <a:prstGeom prst="rect">
            <a:avLst/>
          </a:prstGeom>
          <a:ln w="9525">
            <a:solidFill>
              <a:srgbClr val="A6A6A6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5841333" y="1280160"/>
            <a:ext cx="5771546" cy="4846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111111"/>
                </a:solidFill>
                <a:latin typeface="Arial"/>
              </a:rPr>
              <a:t>Option 8: </a:t>
            </a:r>
            <a:r>
              <a:rPr sz="1500" b="0" i="0">
                <a:solidFill>
                  <a:srgbClr val="111111"/>
                </a:solidFill>
                <a:latin typeface="Arial"/>
              </a:rPr>
              <a:t>everything central; time-domain I/Q on the fiber (CPRI). Highest rate.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111111"/>
                </a:solidFill>
                <a:latin typeface="Arial"/>
              </a:rPr>
              <a:t>Option 7.2: </a:t>
            </a:r>
            <a:r>
              <a:rPr sz="1500" b="0" i="0">
                <a:solidFill>
                  <a:srgbClr val="111111"/>
                </a:solidFill>
                <a:latin typeface="Arial"/>
              </a:rPr>
              <a:t>low-PHY at the radio unit; frequency-domain I/Q (eCPRI, O-RAN). Lower rate.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111111"/>
                </a:solidFill>
                <a:latin typeface="Arial"/>
              </a:rPr>
              <a:t>Option 2: </a:t>
            </a:r>
            <a:r>
              <a:rPr sz="1500" b="0" i="0">
                <a:solidFill>
                  <a:srgbClr val="111111"/>
                </a:solidFill>
                <a:latin typeface="Arial"/>
              </a:rPr>
              <a:t>PDCP central; packets on the fiber. Lowest rate, relaxed latency.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111111"/>
                </a:solidFill>
                <a:latin typeface="Arial"/>
              </a:rPr>
              <a:t>Analog RoF: </a:t>
            </a:r>
            <a:r>
              <a:rPr sz="1500" b="0" i="0">
                <a:solidFill>
                  <a:srgbClr val="111111"/>
                </a:solidFill>
                <a:latin typeface="Arial"/>
              </a:rPr>
              <a:t>goes beyond Option 8: the RF waveform itself is on the fiber.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110642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Source: Quintuna Rodriguez, Guillemin, Ferrieux, Thomas, "Cloud-RAN functional split for an efficient fronthaul network," arXiv:2101.04216 (2021).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3400" b="1" i="0">
                <a:solidFill>
                  <a:srgbClr val="111111"/>
                </a:solidFill>
                <a:latin typeface="Arial"/>
              </a:rPr>
              <a:t>Analog vs. Digital Fronthaul in C-RAN</a:t>
            </a:r>
          </a:p>
        </p:txBody>
      </p:sp>
      <p:pic>
        <p:nvPicPr>
          <p:cNvPr id="3" name="Picture 2" descr="li2021_fig2_arof_vs_dro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34440"/>
            <a:ext cx="6766560" cy="4139687"/>
          </a:xfrm>
          <a:prstGeom prst="rect">
            <a:avLst/>
          </a:prstGeom>
          <a:ln w="9525">
            <a:solidFill>
              <a:srgbClr val="A6A6A6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7589520" y="1280160"/>
            <a:ext cx="4023359" cy="4846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1000"/>
              </a:spcAft>
            </a:pPr>
            <a:r>
              <a:rPr sz="1600" b="1" i="0">
                <a:solidFill>
                  <a:srgbClr val="111111"/>
                </a:solidFill>
                <a:latin typeface="Arial"/>
              </a:rPr>
              <a:t>A-RoF: </a:t>
            </a:r>
            <a:r>
              <a:rPr sz="1600" b="0" i="0">
                <a:solidFill>
                  <a:srgbClr val="111111"/>
                </a:solidFill>
                <a:latin typeface="Arial"/>
              </a:rPr>
              <a:t>RF on the fiber; RRH has photodiode, filter, amplifier.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111111"/>
                </a:solidFill>
                <a:latin typeface="Arial"/>
              </a:rPr>
              <a:t>D-RoF: </a:t>
            </a:r>
            <a:r>
              <a:rPr sz="1600" b="0" i="0">
                <a:solidFill>
                  <a:srgbClr val="111111"/>
                </a:solidFill>
                <a:latin typeface="Arial"/>
              </a:rPr>
              <a:t>ADC at the CU and DAC at every RRH (red blocks).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111111"/>
                </a:solidFill>
                <a:latin typeface="Arial"/>
              </a:rPr>
              <a:t>Result: </a:t>
            </a:r>
            <a:r>
              <a:rPr sz="1600" b="0" i="0">
                <a:solidFill>
                  <a:srgbClr val="111111"/>
                </a:solidFill>
                <a:latin typeface="Arial"/>
              </a:rPr>
              <a:t>A-RoF is simpler and more power-efficient at the RRH; D-RoF is more robust.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110642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Source: Li, Xie, El-Hajjar, Hanzo, "Analogue Radio Over Fiber for Next-Generation RAN," arXiv:2111.13851 (2021), Fig. 2.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3400" b="1" i="0">
                <a:solidFill>
                  <a:srgbClr val="111111"/>
                </a:solidFill>
                <a:latin typeface="Arial"/>
              </a:rPr>
              <a:t>The Trade-off: Signal Quality (EVM)</a:t>
            </a:r>
          </a:p>
        </p:txBody>
      </p:sp>
      <p:pic>
        <p:nvPicPr>
          <p:cNvPr id="3" name="Picture 2" descr="li2021_fig5_ev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4401" y="1234440"/>
            <a:ext cx="9532717" cy="3291840"/>
          </a:xfrm>
          <a:prstGeom prst="rect">
            <a:avLst/>
          </a:prstGeom>
          <a:ln w="9525">
            <a:solidFill>
              <a:srgbClr val="A6A6A6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548640" y="6309360"/>
            <a:ext cx="110642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Source: Li, Xie, El-Hajjar, Hanzo, "Analogue Radio Over Fiber for Next-Generation RAN," arXiv:2111.13851 (2021), Fig. 5 (1310 nm system).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663440"/>
            <a:ext cx="1106424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600" b="1" i="0">
                <a:solidFill>
                  <a:srgbClr val="111111"/>
                </a:solidFill>
                <a:latin typeface="Arial"/>
              </a:rPr>
              <a:t>A-RoF: </a:t>
            </a:r>
            <a:r>
              <a:rPr sz="1600" b="0" i="0">
                <a:solidFill>
                  <a:srgbClr val="111111"/>
                </a:solidFill>
                <a:latin typeface="Arial"/>
              </a:rPr>
              <a:t>≈ 8 % EVM: meets the 64-QAM limit, not the 3.5 % limit for 256-QAM (3GPP TS 38.104).</a:t>
            </a:r>
          </a:p>
          <a:p>
            <a:pPr>
              <a:spcAft>
                <a:spcPts val="600"/>
              </a:spcAft>
            </a:pPr>
            <a:r>
              <a:rPr sz="1600" b="1" i="0">
                <a:solidFill>
                  <a:srgbClr val="111111"/>
                </a:solidFill>
                <a:latin typeface="Arial"/>
              </a:rPr>
              <a:t>D-RoF: </a:t>
            </a:r>
            <a:r>
              <a:rPr sz="1600" b="0" i="0">
                <a:solidFill>
                  <a:srgbClr val="111111"/>
                </a:solidFill>
                <a:latin typeface="Arial"/>
              </a:rPr>
              <a:t>meets the 256-QAM limit, at the cost of much higher fiber bandwidth and power.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3400" b="1" i="0">
                <a:solidFill>
                  <a:srgbClr val="111111"/>
                </a:solidFill>
                <a:latin typeface="Arial"/>
              </a:rPr>
              <a:t>RoF Application Areas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25880"/>
            <a:ext cx="3566160" cy="2011680"/>
          </a:xfrm>
          <a:prstGeom prst="rect">
            <a:avLst/>
          </a:prstGeom>
          <a:noFill/>
          <a:ln w="9525">
            <a:solidFill>
              <a:srgbClr val="A6A6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417320"/>
            <a:ext cx="3346704" cy="1828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111111"/>
                </a:solidFill>
                <a:latin typeface="Arial"/>
              </a:rPr>
              <a:t>In-building &amp; venues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111111"/>
                </a:solidFill>
                <a:latin typeface="Arial"/>
              </a:rPr>
              <a:t>Fiber-fed DAS in buildings, stadiums, airports, tunnels and metros.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79" y="1325880"/>
            <a:ext cx="3566160" cy="2011680"/>
          </a:xfrm>
          <a:prstGeom prst="rect">
            <a:avLst/>
          </a:prstGeom>
          <a:noFill/>
          <a:ln w="9525">
            <a:solidFill>
              <a:srgbClr val="A6A6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07407" y="1417320"/>
            <a:ext cx="3346704" cy="1828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111111"/>
                </a:solidFill>
                <a:latin typeface="Arial"/>
              </a:rPr>
              <a:t>5G fronthaul (C-RAN)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111111"/>
                </a:solidFill>
                <a:latin typeface="Arial"/>
              </a:rPr>
              <a:t>Commercial fronthaul is mainly digital (CPRI / eCPRI); analog RoF is at research and trial stage.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19" y="1325880"/>
            <a:ext cx="3566160" cy="2011680"/>
          </a:xfrm>
          <a:prstGeom prst="rect">
            <a:avLst/>
          </a:prstGeom>
          <a:noFill/>
          <a:ln w="9525">
            <a:solidFill>
              <a:srgbClr val="A6A6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56447" y="1417320"/>
            <a:ext cx="3346704" cy="1828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111111"/>
                </a:solidFill>
                <a:latin typeface="Arial"/>
              </a:rPr>
              <a:t>Public safety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111111"/>
                </a:solidFill>
                <a:latin typeface="Arial"/>
              </a:rPr>
              <a:t>In-building coverage for emergency-responder radio.</a:t>
            </a:r>
          </a:p>
        </p:txBody>
      </p:sp>
      <p:sp>
        <p:nvSpPr>
          <p:cNvPr id="9" name="Rectangle 8"/>
          <p:cNvSpPr/>
          <p:nvPr/>
        </p:nvSpPr>
        <p:spPr>
          <a:xfrm>
            <a:off x="2423160" y="3566160"/>
            <a:ext cx="3566160" cy="2011680"/>
          </a:xfrm>
          <a:prstGeom prst="rect">
            <a:avLst/>
          </a:prstGeom>
          <a:noFill/>
          <a:ln w="9525">
            <a:solidFill>
              <a:srgbClr val="A6A6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32888" y="3657600"/>
            <a:ext cx="3346704" cy="1828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111111"/>
                </a:solidFill>
                <a:latin typeface="Arial"/>
              </a:rPr>
              <a:t>Defense &amp; aerospace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111111"/>
                </a:solidFill>
                <a:latin typeface="Arial"/>
              </a:rPr>
              <a:t>Antenna remoting, radar, satellite ground stations.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3566160"/>
            <a:ext cx="3566160" cy="2011680"/>
          </a:xfrm>
          <a:prstGeom prst="rect">
            <a:avLst/>
          </a:prstGeom>
          <a:noFill/>
          <a:ln w="9525">
            <a:solidFill>
              <a:srgbClr val="A6A6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81928" y="3657600"/>
            <a:ext cx="3346704" cy="1828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111111"/>
                </a:solidFill>
                <a:latin typeface="Arial"/>
              </a:rPr>
              <a:t>Research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111111"/>
                </a:solidFill>
                <a:latin typeface="Arial"/>
              </a:rPr>
              <a:t>RF-over-fiber in the SKA-low radio-telescope receiver (Perini et al., 2022).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309360"/>
            <a:ext cx="110642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Sources: ITU-T G.9803 Amd. 2 (2022); Perini et al., J. Astron. Telesc. Instrum. Syst. 8(1), 011016 (2022).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3400" b="1" i="0">
                <a:solidFill>
                  <a:srgbClr val="111111"/>
                </a:solidFill>
                <a:latin typeface="Arial"/>
              </a:rPr>
              <a:t>Limitations &amp; Technical Challenges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34440"/>
          <a:ext cx="11064240" cy="45354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26080"/>
                <a:gridCol w="4206240"/>
                <a:gridCol w="393192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11111"/>
                          </a:solidFill>
                          <a:latin typeface="Arial"/>
                        </a:rPr>
                        <a:t>Challenge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A6A6A6"/>
                      </a:solidFill>
                      <a:prstDash val="soli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11111"/>
                          </a:solidFill>
                          <a:latin typeface="Arial"/>
                        </a:rPr>
                        <a:t>Impact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A6A6A6"/>
                      </a:solidFill>
                      <a:prstDash val="soli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11111"/>
                          </a:solidFill>
                          <a:latin typeface="Arial"/>
                        </a:rPr>
                        <a:t>Mitigation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A6A6A6"/>
                      </a:solidFill>
                      <a:prstDash val="soli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11111"/>
                          </a:solidFill>
                          <a:latin typeface="Arial"/>
                        </a:rPr>
                        <a:t>Cost &amp; fiber availability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A6A6A6"/>
                      </a:solidFill>
                      <a:prstDash val="soli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11111"/>
                          </a:solidFill>
                          <a:latin typeface="Arial"/>
                        </a:rPr>
                        <a:t>New fiber and optoelectronics raise CAPEX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A6A6A6"/>
                      </a:solidFill>
                      <a:prstDash val="soli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11111"/>
                          </a:solidFill>
                          <a:latin typeface="Arial"/>
                        </a:rPr>
                        <a:t>Reuse existing fiber; share among operators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A6A6A6"/>
                      </a:solidFill>
                      <a:prstDash val="soli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11111"/>
                          </a:solidFill>
                          <a:latin typeface="Arial"/>
                        </a:rPr>
                        <a:t>Remote power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A6A6A6"/>
                      </a:solidFill>
                      <a:prstDash val="soli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11111"/>
                          </a:solidFill>
                          <a:latin typeface="Arial"/>
                        </a:rPr>
                        <a:t>Every remote unit needs power and backup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A6A6A6"/>
                      </a:solidFill>
                      <a:prstDash val="soli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11111"/>
                          </a:solidFill>
                          <a:latin typeface="Arial"/>
                        </a:rPr>
                        <a:t>Hybrid fiber–copper cable; local UPS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A6A6A6"/>
                      </a:solidFill>
                      <a:prstDash val="soli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11111"/>
                          </a:solidFill>
                          <a:latin typeface="Arial"/>
                        </a:rPr>
                        <a:t>Fronthaul capacity (C-RAN)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A6A6A6"/>
                      </a:solidFill>
                      <a:prstDash val="soli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11111"/>
                          </a:solidFill>
                          <a:latin typeface="Arial"/>
                        </a:rPr>
                        <a:t>Digital fronthaul rate grows with antennas and bandwidth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A6A6A6"/>
                      </a:solidFill>
                      <a:prstDash val="soli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11111"/>
                          </a:solidFill>
                          <a:latin typeface="Arial"/>
                        </a:rPr>
                        <a:t>Split 7.2x (eCPRI); analog RoF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A6A6A6"/>
                      </a:solidFill>
                      <a:prstDash val="soli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11111"/>
                          </a:solidFill>
                          <a:latin typeface="Arial"/>
                        </a:rPr>
                        <a:t>Latency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A6A6A6"/>
                      </a:solidFill>
                      <a:prstDash val="soli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11111"/>
                          </a:solidFill>
                          <a:latin typeface="Arial"/>
                        </a:rPr>
                        <a:t>Fronthaul distance limited by HARQ timing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A6A6A6"/>
                      </a:solidFill>
                      <a:prstDash val="soli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11111"/>
                          </a:solidFill>
                          <a:latin typeface="Arial"/>
                        </a:rPr>
                        <a:t>Keep BBU pool within the latency budget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A6A6A6"/>
                      </a:solidFill>
                      <a:prstDash val="soli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11111"/>
                          </a:solidFill>
                          <a:latin typeface="Arial"/>
                        </a:rPr>
                        <a:t>Nonlinearity &amp; noise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A6A6A6"/>
                      </a:solidFill>
                      <a:prstDash val="soli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11111"/>
                          </a:solidFill>
                          <a:latin typeface="Arial"/>
                        </a:rPr>
                        <a:t>Limit dynamic range and EVM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A6A6A6"/>
                      </a:solidFill>
                      <a:prstDash val="soli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11111"/>
                          </a:solidFill>
                          <a:latin typeface="Arial"/>
                        </a:rPr>
                        <a:t>Optimized drive level; predistortion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A6A6A6"/>
                      </a:solidFill>
                      <a:prstDash val="soli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11111"/>
                          </a:solidFill>
                          <a:latin typeface="Arial"/>
                        </a:rPr>
                        <a:t>Chromatic dispersion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A6A6A6"/>
                      </a:solidFill>
                      <a:prstDash val="soli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11111"/>
                          </a:solidFill>
                          <a:latin typeface="Arial"/>
                        </a:rPr>
                        <a:t>RF power fading at high RF and long fiber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A6A6A6"/>
                      </a:solidFill>
                      <a:prstDash val="soli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11111"/>
                          </a:solidFill>
                          <a:latin typeface="Arial"/>
                        </a:rPr>
                        <a:t>1310 nm; single-sideband; IFoF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A6A6A6"/>
                      </a:solidFill>
                      <a:prstDash val="soli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11111"/>
                          </a:solidFill>
                          <a:latin typeface="Arial"/>
                        </a:rPr>
                        <a:t>Interoperability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A6A6A6"/>
                      </a:solidFill>
                      <a:prstDash val="soli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11111"/>
                          </a:solidFill>
                          <a:latin typeface="Arial"/>
                        </a:rPr>
                        <a:t>Analog interfaces are vendor-specific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A6A6A6"/>
                      </a:solidFill>
                      <a:prstDash val="soli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11111"/>
                          </a:solidFill>
                          <a:latin typeface="Arial"/>
                        </a:rPr>
                        <a:t>ITU-T G.9803 requirements; eCPRI / O-RAN</a:t>
                      </a: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A6A6A6"/>
                      </a:solidFill>
                      <a:prstDash val="soli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3400" b="1" i="0">
                <a:solidFill>
                  <a:srgbClr val="111111"/>
                </a:solidFill>
                <a:latin typeface="Arial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4846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1400"/>
              </a:spcAft>
            </a:pPr>
            <a:r>
              <a:rPr sz="2000" b="0" i="0">
                <a:solidFill>
                  <a:srgbClr val="111111"/>
                </a:solidFill>
                <a:latin typeface="Arial"/>
              </a:rPr>
              <a:t>• RoF carries the analog radio waveform over fiber: E/O at one end, O/E at the other.</a:t>
            </a:r>
          </a:p>
          <a:p>
            <a:pPr>
              <a:spcAft>
                <a:spcPts val="1400"/>
              </a:spcAft>
            </a:pPr>
            <a:r>
              <a:rPr sz="2000" b="0" i="0">
                <a:solidFill>
                  <a:srgbClr val="111111"/>
                </a:solidFill>
                <a:latin typeface="Arial"/>
              </a:rPr>
              <a:t>• Fiber loss is low and band-independent; the link still adds conversion loss, noise and distortion.</a:t>
            </a:r>
          </a:p>
          <a:p>
            <a:pPr>
              <a:spcAft>
                <a:spcPts val="1400"/>
              </a:spcAft>
            </a:pPr>
            <a:r>
              <a:rPr sz="2000" b="0" i="0">
                <a:solidFill>
                  <a:srgbClr val="111111"/>
                </a:solidFill>
                <a:latin typeface="Arial"/>
              </a:rPr>
              <a:t>• In buildings, a fiber-fed DAS uses RoF to feed many antennas from one signal source.</a:t>
            </a:r>
          </a:p>
          <a:p>
            <a:pPr>
              <a:spcAft>
                <a:spcPts val="1400"/>
              </a:spcAft>
            </a:pPr>
            <a:r>
              <a:rPr sz="2000" b="0" i="0">
                <a:solidFill>
                  <a:srgbClr val="111111"/>
                </a:solidFill>
                <a:latin typeface="Arial"/>
              </a:rPr>
              <a:t>• In C-RAN, analog RoF cuts fronthaul bandwidth sharply but loses signal quality versus digital fronthaul.</a:t>
            </a:r>
          </a:p>
          <a:p>
            <a:pPr>
              <a:spcAft>
                <a:spcPts val="1400"/>
              </a:spcAft>
            </a:pPr>
            <a:r>
              <a:rPr sz="2000" b="1" i="0">
                <a:solidFill>
                  <a:srgbClr val="111111"/>
                </a:solidFill>
                <a:latin typeface="Arial"/>
              </a:rPr>
              <a:t>• RoF moves the antenna closer to users; it does not add spectrum or air-interface capacity.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3400" b="1" i="0">
                <a:solidFill>
                  <a:srgbClr val="111111"/>
                </a:solidFill>
                <a:latin typeface="Arial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5212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300" b="0" i="0">
                <a:solidFill>
                  <a:srgbClr val="111111"/>
                </a:solidFill>
                <a:latin typeface="Arial"/>
              </a:rPr>
              <a:t>1. ITU-T G.9803 (2018), Radio over fibre systems; Amendments 1 (2019) and 2 (2022). ITU-T G.Suppl.55 (10/2025). ITU-T G.652.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111111"/>
                </a:solidFill>
                <a:latin typeface="Arial"/>
              </a:rPr>
              <a:t>2. Y. Li, Q. Xie, M. El-Hajjar, L. Hanzo, "Analogue Radio Over Fiber for Next-Generation RAN: Challenges and Opportunities," arXiv:2111.13851, 2021.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111111"/>
                </a:solidFill>
                <a:latin typeface="Arial"/>
              </a:rPr>
              <a:t>3. M. U. Hadi, G. Murtaza, "Fibre Wireless Distributed Antenna Systems for 5G and 6G Services," Electronics 12(1), 64, 2023. DOI: 10.3390/electronics12010064.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111111"/>
                </a:solidFill>
                <a:latin typeface="Arial"/>
              </a:rPr>
              <a:t>4. D. F. Paredes-Páliz et al., "Radio over Fiber: An Alternative Broadband Network Technology for IoT," Electronics 9(11), 1785, 2020. DOI: 10.3390/electronics9111785.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111111"/>
                </a:solidFill>
                <a:latin typeface="Arial"/>
              </a:rPr>
              <a:t>5. V. Quintuna Rodriguez et al., "Cloud-RAN functional split for an efficient fronthaul network," arXiv:2101.04216, 2021.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111111"/>
                </a:solidFill>
                <a:latin typeface="Arial"/>
              </a:rPr>
              <a:t>6. J. da L. A. Silva et al., "Human Exposure to Non-Ionizing Radiation from Indoor DAS: Shopping Mall Measurement Analysis," Sensors 23, 4579, 2023.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111111"/>
                </a:solidFill>
                <a:latin typeface="Arial"/>
              </a:rPr>
              <a:t>7. CPRI Specification V7.0 (2015); eCPRI Specification V2.0 (2019); 3GPP TS 38.104.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111111"/>
                </a:solidFill>
                <a:latin typeface="Arial"/>
              </a:rPr>
              <a:t>8. Times Microwave Systems, LMR-400 coaxial cable datasheet.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111111"/>
                </a:solidFill>
                <a:latin typeface="Arial"/>
              </a:rPr>
              <a:t>9. F. Perini et al., "Radio frequency over fiber technology for SKA-low receiver," JATIS 8(1), 011016, 2022.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111111"/>
                </a:solidFill>
                <a:latin typeface="Arial"/>
              </a:rPr>
              <a:t>10. SolFinder Research, "Radio Over Fiber," video presentation (source of original material).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3400" b="1" i="0">
                <a:solidFill>
                  <a:srgbClr val="111111"/>
                </a:solidFill>
                <a:latin typeface="Arial"/>
              </a:rPr>
              <a:t>Backup: 5G + Candidate 6G Demo on One Fiber</a:t>
            </a:r>
          </a:p>
        </p:txBody>
      </p:sp>
      <p:pic>
        <p:nvPicPr>
          <p:cNvPr id="3" name="Picture 2" descr="hadi2023_fig2_5g_6g_de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015" y="1234440"/>
            <a:ext cx="10435488" cy="4754880"/>
          </a:xfrm>
          <a:prstGeom prst="rect">
            <a:avLst/>
          </a:prstGeom>
          <a:ln w="9525">
            <a:solidFill>
              <a:srgbClr val="A6A6A6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548640" y="6309360"/>
            <a:ext cx="110642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Source: Hadi &amp; Murtaza, "Fibre Wireless Distributed Antenna Systems for 5G and 6G Services," Electronics 12(1), 64 (2023), CC BY 4.0, Fig. 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2026-10-27T21:33:06.7340000Z</dcterms:created>
  <dcterms:modified xsi:type="dcterms:W3CDTF">2026-10-27T21:33:06.7340000Z</dcterms:modified>
</coreProperties>
</file>