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5c022cb3b02472e" Type="http://schemas.openxmlformats.org/package/2006/relationships/metadata/core-properties" Target="docProps/core.xml"/><Relationship Id="R7c6e046d56274bec" Type="http://schemas.openxmlformats.org/officeDocument/2006/relationships/extended-properties" Target="docProps/app.xml"/><Relationship Id="R81443189ff644e9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f4b5434574f4e"/>
  </p:sldMasterIdLst>
  <p:notesMasterIdLst>
    <p:notesMasterId xmlns:r="http://schemas.openxmlformats.org/officeDocument/2006/relationships" r:id="R0b66b19720534cd7"/>
  </p:notesMasterIdLst>
  <p:sldIdLst>
    <p:sldId xmlns:ns0="http://schemas.openxmlformats.org/officeDocument/2006/relationships" id="256" ns0:id="rId7"/>
    <p:sldId xmlns:ns0="http://schemas.openxmlformats.org/officeDocument/2006/relationships" id="257" ns0:id="rId8"/>
    <p:sldId xmlns:ns0="http://schemas.openxmlformats.org/officeDocument/2006/relationships" id="258" ns0:id="rId9"/>
    <p:sldId xmlns:ns0="http://schemas.openxmlformats.org/officeDocument/2006/relationships" id="259" ns0:id="rId10"/>
    <p:sldId xmlns:ns0="http://schemas.openxmlformats.org/officeDocument/2006/relationships" id="260" ns0:id="rId11"/>
    <p:sldId xmlns:ns0="http://schemas.openxmlformats.org/officeDocument/2006/relationships" id="261" ns0:id="rId12"/>
    <p:sldId xmlns:ns0="http://schemas.openxmlformats.org/officeDocument/2006/relationships" id="262" ns0:id="rId13"/>
    <p:sldId xmlns:ns0="http://schemas.openxmlformats.org/officeDocument/2006/relationships" id="263" ns0:id="rId14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66b19720534cd7" Type="http://schemas.openxmlformats.org/officeDocument/2006/relationships/notesMaster" Target="notesMasters/notesMaster1.xml"/><Relationship Id="R2045d7af543143fd" Type="http://schemas.openxmlformats.org/officeDocument/2006/relationships/theme" Target="theme/theme1.xml"/><Relationship Id="R6def4b5434574f4e" Type="http://schemas.openxmlformats.org/officeDocument/2006/relationships/slideMaster" Target="slideMasters/slideMaster1.xml"/><Relationship Id="R9a89b5fcce9b4b49" Type="http://schemas.openxmlformats.org/officeDocument/2006/relationships/presProps" Target="presProps.xml"/><Relationship Id="Rbcbfeecd3f1c4b6e" Type="http://schemas.openxmlformats.org/officeDocument/2006/relationships/viewProps" Target="viewProps.xml"/><Relationship Id="Rf6faa1f67f7c42fd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Coax loss per 100 m (dB)</c:v>
                </c:pt>
              </c:strCache>
            </c:strRef>
          </c:tx>
          <c:spPr>
            <a:solidFill>
              <a:srgbClr val="7F7F7F"/>
            </a:solidFill>
          </c:spPr>
          <c:cat>
            <c:strRef>
              <c:f>Sheet1!$A$2:$A$5</c:f>
              <c:strCache>
                <c:ptCount val="4"/>
                <c:pt idx="0">
                  <c:v>700 MHz</c:v>
                </c:pt>
                <c:pt idx="1">
                  <c:v>1800 MHz</c:v>
                </c:pt>
                <c:pt idx="2">
                  <c:v>2600 MHz</c:v>
                </c:pt>
                <c:pt idx="3">
                  <c:v>3500 MHz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11.2</c:v>
                </c:pt>
                <c:pt idx="1">
                  <c:v>18.6</c:v>
                </c:pt>
                <c:pt idx="2">
                  <c:v>22.7</c:v>
                </c:pt>
                <c:pt idx="3">
                  <c:v>26.7</c:v>
                </c:pt>
              </c:numCache>
            </c:numRef>
          </c:val>
        </c:ser>
        <c:dLbls>
          <c:numFmt formatCode="0.0&quot; dB&quot;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a9f60853ae694a6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 of Part 2: show where the RoF link from Part 1 is used in practice, and what it costs. Left: C-RAN fronthaul (BBU to RRH over fiber). Right: indoor 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Students: one signal source, many low-power antennas close to users (photo: real ceiling DAS antenna). Experts: coax loss rises with frequency, so fiber feeds remote units; cost moves to remote power, and uplink noise rises ~10log10(N) when N units share a 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Baseband moves away from the antenna site and is pooled. The price is fronthaul: CPRI 20 MHz x1 antenna = 1.23 Gb/s; 100 MHz x64 antennas ≈ 315 Gb/s (CPRI V7.0 formula).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aggregated fiber bandwidth, A-RoF far lower (up to 40-fold in the modeled case). Right: EVM; A-RoF ~8 % meets 64-QAM but not the 3.5 % 256-QAM limit (3GPP TS 38.104); D-RoF meets it. This is the core trade-off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rows only; details on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talk on the boundary experts will test: RoF moves the antenna, not the spectrum.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RAN experts: the lower the split, the more is central and the higher the fronthaul rate. Analog RoF sits below Option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5ec2779983f94ab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617f600b29044cea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26aab51319704b6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0ead423a3be641d8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8ee5c6c3e5584b8a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57319ecf8ae4ddf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a36037d5db594f8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79db2bbe06c94408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f2fa1ccb61c34db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6df53b5feb8c481b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92e9865701e8454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43C586-A518-42A6-83F1-1DD71F61788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1F4BA07-5072-4D5E-8E73-E9B1CE328A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3EE862-0128-46AF-894B-911ABB62DA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AA385A-4357-4A2B-84C5-428E5AA38B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D86060-7A22-4C87-928B-32A51E3162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ED53B0-8DE5-4130-8380-47C65A152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26B565-E199-436E-B9F8-4F4BE49F62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4E4E94-9448-497D-9FFC-10220621D1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FB8F31-F4B3-4FF9-91F8-66CC9DE46D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414516-DAB3-4DCA-A2C4-A59E627AB2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4A23B7-0928-4494-926C-1388377A53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20B345-8860-498F-9227-98F5A0BEFC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DBBE51-2886-4E97-8FCD-545E36B5A8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653122-4D7B-4EF6-B184-26B33A9613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4ED7CC-D18F-46EF-9E55-AFBF5BDC8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43FA1A-EE9E-4FF3-A5C9-AA881BF41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F468EB-498A-4214-B260-3D44A15467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A992AEC-D781-4499-8C0D-C12C4D73E9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420532E-1AE1-4018-8FA0-2314003A21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2799B7C-BAE7-4E99-8B05-3CD398F422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02E3DF2-CE3C-4315-B569-FF5A5BEA4B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20A9D9-5E5F-4FC1-9CEB-C5633C76CA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DC264A-B5F5-4DF8-9468-DF1BEB58D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E7B0BC9-2312-44DE-A69A-3E2EFAED1E9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A0CAF2F-7FC2-4DEB-9F33-3E342FAB28B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81F4E49-6856-42FD-8F17-30A5265BD00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296506D-0E24-40B3-B4C3-70BD0D010F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1AD3D24-9580-49F1-A13C-35BD7B312F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302E4E8-A310-4826-8FE5-C766E6C1A7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940761-D61B-4CED-B118-3B5DA8D7FF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B88BC6D-F8A2-4945-80ED-1E6450626F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B065D89-A252-4AFF-9310-E83B7503E0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D727DCD-9AB9-4757-B16D-8DED7DE045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5CA298D-1BAF-4DC1-9272-F747E6546C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70B20C0-8051-42C0-9BAF-1039394510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BBB98DF-B255-48FA-A03C-22B8243C90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DC351B-9C59-40DF-ADAB-F9FE8E727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C5E38F-C883-4D46-B88D-C951AB23B6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2FA1FA-B257-4146-9F03-C1E792D7B4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20AC21E-02A6-4ABE-B0CD-0117495362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16CAFE-1A2F-4980-A5CE-32397D624F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B49825E-7CF3-4C70-AE9D-706143B214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7A6725-ADF6-4A91-8878-E29AC45485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12E7875-EE07-4A09-B944-1E9CA3756C9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CF33E7-F5E7-4662-B938-BA3620829C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AF73A8D-47C5-4A1E-A885-20EE10D45F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8F2174F-803F-410A-9152-9E33701368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F4FB4B3-F9D7-4085-ABEF-FBA693457B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27D52B-947F-419E-AFBC-DA663E30D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364FCD9-1665-4E37-B4CB-86B3AEA593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A0E85F-CC3A-4317-A622-C9356E8153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3727E6-E014-4B5C-8BF4-39FFA77E3D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54D67F-99BA-4CEB-B8F0-354D4EB749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606A4AF-5DE0-4166-A35F-F02F2E27CD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663C57-3694-4713-8833-A2550716B7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A87559-3EDA-444C-86E5-B993C16917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477C30-C7B2-4DBD-AEB6-7A293A802B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A6063B-CC0A-48BD-9BE5-F7EE5C4CA4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4779dd8270fa4551" Type="http://schemas.openxmlformats.org/officeDocument/2006/relationships/theme" Target="theme/theme2.xml"/><Relationship Id="R627e7167f2284189" Type="http://schemas.openxmlformats.org/officeDocument/2006/relationships/slideLayout" Target="../slideLayouts/slideLayout7.xml"/><Relationship Id="R64056dbcbaf8412d" Type="http://schemas.openxmlformats.org/officeDocument/2006/relationships/slideLayout" Target="../slideLayouts/slideLayout9.xml"/><Relationship Id="R7ee82482cfb24b58" Type="http://schemas.openxmlformats.org/officeDocument/2006/relationships/slideLayout" Target="../slideLayouts/slideLayout2.xml"/><Relationship Id="R9aac49015bc14834" Type="http://schemas.openxmlformats.org/officeDocument/2006/relationships/slideLayout" Target="../slideLayouts/slideLayout11.xml"/><Relationship Id="R9f4bf29e030a4fb8" Type="http://schemas.openxmlformats.org/officeDocument/2006/relationships/slideLayout" Target="../slideLayouts/slideLayout1.xml"/><Relationship Id="Ra1bdc4ffb4c540ea" Type="http://schemas.openxmlformats.org/officeDocument/2006/relationships/slideLayout" Target="../slideLayouts/slideLayout10.xml"/><Relationship Id="Ra9d2cf40b00b4147" Type="http://schemas.openxmlformats.org/officeDocument/2006/relationships/slideLayout" Target="../slideLayouts/slideLayout8.xml"/><Relationship Id="Rade36bdad16749e4" Type="http://schemas.openxmlformats.org/officeDocument/2006/relationships/slideLayout" Target="../slideLayouts/slideLayout6.xml"/><Relationship Id="Rdd3e66822bf54d39" Type="http://schemas.openxmlformats.org/officeDocument/2006/relationships/slideLayout" Target="../slideLayouts/slideLayout5.xml"/><Relationship Id="Rde82e93a6add4d84" Type="http://schemas.openxmlformats.org/officeDocument/2006/relationships/slideLayout" Target="../slideLayouts/slideLayout4.xml"/><Relationship Id="Ree74b6777b0c49da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062B21C-554E-47B5-ABFD-DF1FAF401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21E6CF-0741-4054-A86A-740A8F3861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825ADD-9702-425D-942F-9E59FEAF99D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5A12AA-92B1-41CB-8D53-E85AEA97303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6777C8-9C54-4F7C-850C-0F55DD7E8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4bf29e030a4fb8"/>
    <p:sldLayoutId xmlns:r="http://schemas.openxmlformats.org/officeDocument/2006/relationships" id="2147483650" r:id="R7ee82482cfb24b58"/>
    <p:sldLayoutId xmlns:r="http://schemas.openxmlformats.org/officeDocument/2006/relationships" id="2147483651" r:id="Ree74b6777b0c49da"/>
    <p:sldLayoutId xmlns:r="http://schemas.openxmlformats.org/officeDocument/2006/relationships" id="2147483652" r:id="Rde82e93a6add4d84"/>
    <p:sldLayoutId xmlns:r="http://schemas.openxmlformats.org/officeDocument/2006/relationships" id="2147483653" r:id="Rdd3e66822bf54d39"/>
    <p:sldLayoutId xmlns:r="http://schemas.openxmlformats.org/officeDocument/2006/relationships" id="2147483654" r:id="Rade36bdad16749e4"/>
    <p:sldLayoutId xmlns:r="http://schemas.openxmlformats.org/officeDocument/2006/relationships" id="2147483655" r:id="R627e7167f2284189"/>
    <p:sldLayoutId xmlns:r="http://schemas.openxmlformats.org/officeDocument/2006/relationships" id="2147483656" r:id="Ra9d2cf40b00b4147"/>
    <p:sldLayoutId xmlns:r="http://schemas.openxmlformats.org/officeDocument/2006/relationships" id="2147483657" r:id="R64056dbcbaf8412d"/>
    <p:sldLayoutId xmlns:r="http://schemas.openxmlformats.org/officeDocument/2006/relationships" id="2147483658" r:id="Ra1bdc4ffb4c540ea"/>
    <p:sldLayoutId xmlns:r="http://schemas.openxmlformats.org/officeDocument/2006/relationships" id="2147483659" r:id="R9aac49015bc1483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Where Is RoF Used in Practice?</a:t>
            </a:r>
          </a:p>
        </p:txBody>
      </p:sp>
      <p:pic>
        <p:nvPicPr>
          <p:cNvPr id="3" name="Picture 2" descr="hadi2023_fig1_top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11064240" cy="3926699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Two uses, one question: </a:t>
            </a:r>
            <a:r>
              <a:rPr sz="1700" b="0" i="0">
                <a:solidFill>
                  <a:srgbClr val="111111"/>
                </a:solidFill>
                <a:latin typeface="Arial"/>
              </a:rPr>
              <a:t>where does the fiber carry the radio signal, and what is the trade-off?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Adapted from: Hadi &amp; Murtaza, "Fibre Wireless Distributed Antenna Systems for 5G and 6G Services," Electronics 12(1), 64 (2023), Fig. 1, CC BY 4.0.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Use 1: In-Building DAS</a:t>
            </a:r>
          </a:p>
        </p:txBody>
      </p:sp>
      <p:pic>
        <p:nvPicPr>
          <p:cNvPr id="3" name="Picture 2" descr="silva2023_mall_das_antenn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2743200" cy="3657600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74720" y="1234440"/>
          <a:ext cx="4206240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234440"/>
            <a:ext cx="3749039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DAS: </a:t>
            </a:r>
            <a:r>
              <a:rPr sz="1500" b="0" i="0">
                <a:solidFill>
                  <a:srgbClr val="111111"/>
                </a:solidFill>
                <a:latin typeface="Arial"/>
              </a:rPr>
              <a:t>one base station, many low-power antennas close to users.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Coax: </a:t>
            </a:r>
            <a:r>
              <a:rPr sz="1500" b="0" i="0">
                <a:solidFill>
                  <a:srgbClr val="111111"/>
                </a:solidFill>
                <a:latin typeface="Arial"/>
              </a:rPr>
              <a:t>loss grows with frequency, 26.7 dB/100 m at 3.5 GHz.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Fiber: </a:t>
            </a:r>
            <a:r>
              <a:rPr sz="1500" b="0" i="0">
                <a:solidFill>
                  <a:srgbClr val="111111"/>
                </a:solidFill>
                <a:latin typeface="Arial"/>
              </a:rPr>
              <a:t>≈ 0.025 dB/100 m for every band and operator.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Cost: </a:t>
            </a:r>
            <a:r>
              <a:rPr sz="1500" b="0" i="0">
                <a:solidFill>
                  <a:srgbClr val="111111"/>
                </a:solidFill>
                <a:latin typeface="Arial"/>
              </a:rPr>
              <a:t>power at every remote unit; uplink noise rises with more units.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Photo: ceiling DAS antenna, Silva et al., Sensors 23, 4579 (2023). Chart: Times Microwave LMR-400 datasheet formula.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Use 2: C-RAN Fronthaul</a:t>
            </a:r>
          </a:p>
        </p:txBody>
      </p:sp>
      <p:pic>
        <p:nvPicPr>
          <p:cNvPr id="3" name="Picture 2" descr="li2021_fig1_ran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11064240" cy="3108265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C-RAN: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baseband pooled centrally; radio heads stay at the antennas.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Gain: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shared processing, easier cell coordination, less equipment at each site.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Price: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fronthaul. CPRI: 1.23 Gb/s for 20 MHz × 1 antenna; ≈ 315 Gb/s for 100 MHz × 64 antennas.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Source: Li, Xie, El-Hajjar, Hanzo, "Analogue Radio Over Fiber for Next-Generation RAN," arXiv:2111.13851 (2021), Fig. 1. Rates: CPRI Specification V7.0.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Analog vs. Digital Fronthaul: Bandwidth vs. Quality</a:t>
            </a:r>
          </a:p>
        </p:txBody>
      </p:sp>
      <p:pic>
        <p:nvPicPr>
          <p:cNvPr id="3" name="Picture 2" descr="li2021_fig3_bandwid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206240" cy="3150387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pic>
        <p:nvPicPr>
          <p:cNvPr id="4" name="Picture 3" descr="li2021_fig5_ev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88720"/>
            <a:ext cx="6675120" cy="2305053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Analog RoF: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up to 40× less fiber bandwidth, simpler radio head, but EVM ≈ 8 % (fails the 3.5 % limit for 256-QAM).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Digital fronthaul: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robust and standardized (CPRI / eCPRI), but bandwidth- and power-hungry.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Source: Li, Xie, El-Hajjar, Hanzo, "Analogue Radio Over Fiber for Next-Generation RAN," arXiv:2111.13851 (2021), Figs. 3 and 5. EVM limit: 3GPP TS 38.104.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Limitations &amp; Mitigation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8960"/>
                <a:gridCol w="4114800"/>
                <a:gridCol w="384048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Fiber &amp; remote power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CAPEX; every remote unit needs power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Reuse fiber; hybrid fiber–copper cable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Noise &amp; nonlinearity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Limit dynamic range and EVM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Drive-level optimization; predistortion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Chromatic dispersion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RF power fading at high RF, long fiber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1310 nm; single-sideband; IFoF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Fronthaul rate (C-RAN)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Grows with antennas and bandwidth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Split 7.2x (eCPRI); analog RoF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Interoperability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Analog interfaces are vendor-specific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ITU-T G.9803; eCPRI / O-RAN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Arial"/>
              </a:rPr>
              <a:t>• RoF carries the analog radio waveform over fiber: low, band-independent loss.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Arial"/>
              </a:rPr>
              <a:t>• In buildings (DAS): fiber replaces lossy coax and feeds many antennas from one source.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Arial"/>
              </a:rPr>
              <a:t>• In C-RAN: analog RoF cuts fronthaul bandwidth sharply but loses signal quality.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Arial"/>
              </a:rPr>
              <a:t>• The choice depends on fiber availability, bands, required EVM and remote power.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111111"/>
                </a:solidFill>
                <a:latin typeface="Arial"/>
              </a:rPr>
              <a:t>• RoF moves the antenna closer to users; it does not add spectrum or capacity.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1. Y. Li, Q. Xie, M. El-Hajjar, L. Hanzo, arXiv:2111.13851, 2021.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2. M. U. Hadi, G. Murtaza, Electronics 12(1), 64, 2023. DOI: 10.3390/electronics12010064.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3. J. da L. A. Silva et al., Sensors 23, 4579, 2023.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4. V. Quintuna Rodriguez et al., arXiv:2101.04216, 2021.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5. CPRI V7.0 (2015); eCPRI V2.0 (2019); 3GPP TS 38.104; ITU-T G.9803 (2018) &amp; Amd. 2 (2022).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6. Times Microwave Systems, LMR-400 datasheet.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Backup: Functional Splits</a:t>
            </a:r>
          </a:p>
        </p:txBody>
      </p:sp>
      <p:pic>
        <p:nvPicPr>
          <p:cNvPr id="3" name="Picture 2" descr="quintuna2021_fig_functional_spl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26" y="1188720"/>
            <a:ext cx="4916107" cy="4846320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492240" y="1280160"/>
            <a:ext cx="51206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Option 8: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time-domain I/Q (CPRI), highest rate.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Option 7.2: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frequency-domain I/Q (eCPRI, O-RAN).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Option 2: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packets; lowest rate.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Analog RoF: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the RF waveform itself, below Option 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Source: Quintuna Rodriguez et al., "Cloud-RAN functional split for an efficient fronthaul network," arXiv:2101.04216 (2021).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2026-10-27T21:33:06.7340000Z</dcterms:created>
  <dcterms:modified xsi:type="dcterms:W3CDTF">2026-10-27T21:33:06.7340000Z</dcterms:modified>
</coreProperties>
</file>