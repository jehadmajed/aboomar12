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5c022cb3b02472e" Type="http://schemas.openxmlformats.org/package/2006/relationships/metadata/core-properties" Target="docProps/core.xml"/><Relationship Id="R7c6e046d56274bec" Type="http://schemas.openxmlformats.org/officeDocument/2006/relationships/extended-properties" Target="docProps/app.xml"/><Relationship Id="R81443189ff644e9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f4b5434574f4e"/>
  </p:sldMasterIdLst>
  <p:notesMasterIdLst>
    <p:notesMasterId xmlns:r="http://schemas.openxmlformats.org/officeDocument/2006/relationships" r:id="R0b66b19720534cd7"/>
  </p:notesMasterIdLst>
  <p:sldIdLst>
    <p:sldId xmlns:r="http://schemas.openxmlformats.org/officeDocument/2006/relationships" id="256" r:id="R4a26c1d0490647dd"/>
    <p:sldId xmlns:r="http://schemas.openxmlformats.org/officeDocument/2006/relationships" id="257" r:id="R7db0d0b22e944ca9"/>
    <p:sldId xmlns:ns0="http://schemas.openxmlformats.org/officeDocument/2006/relationships" id="283" ns0:id="rId34"/>
    <p:sldId xmlns:ns0="http://schemas.openxmlformats.org/officeDocument/2006/relationships" id="284" ns0:id="rId35"/>
    <p:sldId xmlns:ns0="http://schemas.openxmlformats.org/officeDocument/2006/relationships" id="285" ns0:id="rId36"/>
    <p:sldId xmlns:r="http://schemas.openxmlformats.org/officeDocument/2006/relationships" id="258" r:id="R5dc353ceb98d4ec6"/>
    <p:sldId xmlns:r="http://schemas.openxmlformats.org/officeDocument/2006/relationships" id="260" r:id="R297094f5478145a7"/>
    <p:sldId xmlns:r="http://schemas.openxmlformats.org/officeDocument/2006/relationships" id="261" r:id="Rbc9b4daef2f84424"/>
    <p:sldId xmlns:r="http://schemas.openxmlformats.org/officeDocument/2006/relationships" id="262" r:id="R73f47a9db29e4f2d"/>
    <p:sldId xmlns:r="http://schemas.openxmlformats.org/officeDocument/2006/relationships" id="263" r:id="Rfea60e8a735349a0"/>
    <p:sldId xmlns:r="http://schemas.openxmlformats.org/officeDocument/2006/relationships" id="265" r:id="R54c628abb7764a60"/>
    <p:sldId xmlns:r="http://schemas.openxmlformats.org/officeDocument/2006/relationships" id="268" r:id="Rfb53374a594344c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66b19720534cd7" Type="http://schemas.openxmlformats.org/officeDocument/2006/relationships/notesMaster" Target="notesMasters/notesMaster1.xml"/><Relationship Id="R2045d7af543143fd" Type="http://schemas.openxmlformats.org/officeDocument/2006/relationships/theme" Target="theme/theme1.xml"/><Relationship Id="R297094f5478145a7" Type="http://schemas.openxmlformats.org/officeDocument/2006/relationships/slide" Target="slides/slide5.xml"/><Relationship Id="R4a26c1d0490647dd" Type="http://schemas.openxmlformats.org/officeDocument/2006/relationships/slide" Target="slides/slide1.xml"/><Relationship Id="R54c628abb7764a60" Type="http://schemas.openxmlformats.org/officeDocument/2006/relationships/slide" Target="slides/slide10.xml"/><Relationship Id="R5dc353ceb98d4ec6" Type="http://schemas.openxmlformats.org/officeDocument/2006/relationships/slide" Target="slides/slide3.xml"/><Relationship Id="R6def4b5434574f4e" Type="http://schemas.openxmlformats.org/officeDocument/2006/relationships/slideMaster" Target="slideMasters/slideMaster1.xml"/><Relationship Id="R73f47a9db29e4f2d" Type="http://schemas.openxmlformats.org/officeDocument/2006/relationships/slide" Target="slides/slide7.xml"/><Relationship Id="R7db0d0b22e944ca9" Type="http://schemas.openxmlformats.org/officeDocument/2006/relationships/slide" Target="slides/slide2.xml"/><Relationship Id="R9a89b5fcce9b4b49" Type="http://schemas.openxmlformats.org/officeDocument/2006/relationships/presProps" Target="presProps.xml"/><Relationship Id="Rbc9b4daef2f84424" Type="http://schemas.openxmlformats.org/officeDocument/2006/relationships/slide" Target="slides/slide6.xml"/><Relationship Id="Rbcbfeecd3f1c4b6e" Type="http://schemas.openxmlformats.org/officeDocument/2006/relationships/viewProps" Target="viewProps.xml"/><Relationship Id="Rf6faa1f67f7c42fd" Type="http://schemas.openxmlformats.org/officeDocument/2006/relationships/tableStyles" Target="tableStyles.xml"/><Relationship Id="Rfb53374a594344ce" Type="http://schemas.openxmlformats.org/officeDocument/2006/relationships/slide" Target="slides/slide13.xml"/><Relationship Id="Rfea60e8a735349a0" Type="http://schemas.openxmlformats.org/officeDocument/2006/relationships/slide" Target="slides/slide8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a9f60853ae694a6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f52441485534b19" Type="http://schemas.openxmlformats.org/officeDocument/2006/relationships/notesMaster" Target="../notesMasters/notesMaster1.xml"/><Relationship Id="Rb9d96ed320e4426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4a1fb62a77f46ee" Type="http://schemas.openxmlformats.org/officeDocument/2006/relationships/slide" Target="../slides/slide2.xml"/><Relationship Id="R7a3c53e87acb4dc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5150ccce6884327" Type="http://schemas.openxmlformats.org/officeDocument/2006/relationships/slide" Target="../slides/slide3.xml"/><Relationship Id="Rfa2cc5738ddd40c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271fbc97dce4aa2" Type="http://schemas.openxmlformats.org/officeDocument/2006/relationships/notesMaster" Target="../notesMasters/notesMaster1.xml"/><Relationship Id="Rb9e28c0c41a4407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fc9e9b7f2ef4b67" Type="http://schemas.openxmlformats.org/officeDocument/2006/relationships/notesMaster" Target="../notesMasters/notesMaster1.xml"/><Relationship Id="R64dafff164bc437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4726478157b4486" Type="http://schemas.openxmlformats.org/officeDocument/2006/relationships/notesMaster" Target="../notesMasters/notesMaster1.xml"/><Relationship Id="R358d040611eb4a55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c4eb60a0c3d4b5d" Type="http://schemas.openxmlformats.org/officeDocument/2006/relationships/slide" Target="../slides/slide8.xml"/><Relationship Id="R7b161a0c4dee4b7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67e59af5e4049fc" Type="http://schemas.openxmlformats.org/officeDocument/2006/relationships/slide" Target="../slides/slide10.xml"/><Relationship Id="Ra2b42ac12fd4475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d0e1bbaf3084e39" Type="http://schemas.openxmlformats.org/officeDocument/2006/relationships/slide" Target="../slides/slide13.xml"/><Relationship Id="R4d08463944af4c1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r>
              <a:t>Figure source: “Radio over Fiber: An Alternative Broadband Network Technology for IoT,” Electronics 9(11), 1785 (2020), Figure 3. DOI: https://doi.org/10.3390/electronics9111785.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ec2779983f94ab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17f600b29044ce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6aab51319704b6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ead423a3be641d8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ee5c6c3e5584b8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57319ecf8ae4dd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36037d5db594f8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79db2bbe06c94408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2fa1ccb61c34db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6df53b5feb8c481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2e9865701e845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43C586-A518-42A6-83F1-1DD71F6178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F4BA07-5072-4D5E-8E73-E9B1CE328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3EE862-0128-46AF-894B-911ABB62D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AA385A-4357-4A2B-84C5-428E5AA38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86060-7A22-4C87-928B-32A51E3162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ED53B0-8DE5-4130-8380-47C65A152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26B565-E199-436E-B9F8-4F4BE49F62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4E4E94-9448-497D-9FFC-10220621D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B8F31-F4B3-4FF9-91F8-66CC9DE46D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414516-DAB3-4DCA-A2C4-A59E627AB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4A23B7-0928-4494-926C-1388377A5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20B345-8860-498F-9227-98F5A0BEF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DBBE51-2886-4E97-8FCD-545E36B5A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653122-4D7B-4EF6-B184-26B33A9613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4ED7CC-D18F-46EF-9E55-AFBF5BDC8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43FA1A-EE9E-4FF3-A5C9-AA881BF41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F468EB-498A-4214-B260-3D44A15467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992AEC-D781-4499-8C0D-C12C4D73E9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20532E-1AE1-4018-8FA0-2314003A21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799B7C-BAE7-4E99-8B05-3CD398F42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2E3DF2-CE3C-4315-B569-FF5A5BEA4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20A9D9-5E5F-4FC1-9CEB-C5633C76C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DC264A-B5F5-4DF8-9468-DF1BEB58D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7B0BC9-2312-44DE-A69A-3E2EFAED1E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A0CAF2F-7FC2-4DEB-9F33-3E342FAB28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1F4E49-6856-42FD-8F17-30A5265BD0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96506D-0E24-40B3-B4C3-70BD0D010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1AD3D24-9580-49F1-A13C-35BD7B312F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02E4E8-A310-4826-8FE5-C766E6C1A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40761-D61B-4CED-B118-3B5DA8D7F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B88BC6D-F8A2-4945-80ED-1E6450626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B065D89-A252-4AFF-9310-E83B7503E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727DCD-9AB9-4757-B16D-8DED7DE04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CA298D-1BAF-4DC1-9272-F747E6546C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0B20C0-8051-42C0-9BAF-103939451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BBB98DF-B255-48FA-A03C-22B8243C9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C351B-9C59-40DF-ADAB-F9FE8E727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C5E38F-C883-4D46-B88D-C951AB23B6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2FA1FA-B257-4146-9F03-C1E792D7B4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0AC21E-02A6-4ABE-B0CD-011749536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16CAFE-1A2F-4980-A5CE-32397D624F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49825E-7CF3-4C70-AE9D-706143B21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A6725-ADF6-4A91-8878-E29AC4548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2E7875-EE07-4A09-B944-1E9CA3756C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CF33E7-F5E7-4662-B938-BA3620829C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F73A8D-47C5-4A1E-A885-20EE10D45F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F2174F-803F-410A-9152-9E33701368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4FB4B3-F9D7-4085-ABEF-FBA693457B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27D52B-947F-419E-AFBC-DA663E30D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64FCD9-1665-4E37-B4CB-86B3AEA59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A0E85F-CC3A-4317-A622-C9356E8153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727E6-E014-4B5C-8BF4-39FFA77E3D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54D67F-99BA-4CEB-B8F0-354D4EB74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06A4AF-5DE0-4166-A35F-F02F2E27C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663C57-3694-4713-8833-A2550716B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A87559-3EDA-444C-86E5-B993C16917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77C30-C7B2-4DBD-AEB6-7A293A802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6063B-CC0A-48BD-9BE5-F7EE5C4CA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779dd8270fa4551" Type="http://schemas.openxmlformats.org/officeDocument/2006/relationships/theme" Target="theme/theme2.xml"/><Relationship Id="R627e7167f2284189" Type="http://schemas.openxmlformats.org/officeDocument/2006/relationships/slideLayout" Target="../slideLayouts/slideLayout7.xml"/><Relationship Id="R64056dbcbaf8412d" Type="http://schemas.openxmlformats.org/officeDocument/2006/relationships/slideLayout" Target="../slideLayouts/slideLayout9.xml"/><Relationship Id="R7ee82482cfb24b58" Type="http://schemas.openxmlformats.org/officeDocument/2006/relationships/slideLayout" Target="../slideLayouts/slideLayout2.xml"/><Relationship Id="R9aac49015bc14834" Type="http://schemas.openxmlformats.org/officeDocument/2006/relationships/slideLayout" Target="../slideLayouts/slideLayout11.xml"/><Relationship Id="R9f4bf29e030a4fb8" Type="http://schemas.openxmlformats.org/officeDocument/2006/relationships/slideLayout" Target="../slideLayouts/slideLayout1.xml"/><Relationship Id="Ra1bdc4ffb4c540ea" Type="http://schemas.openxmlformats.org/officeDocument/2006/relationships/slideLayout" Target="../slideLayouts/slideLayout10.xml"/><Relationship Id="Ra9d2cf40b00b4147" Type="http://schemas.openxmlformats.org/officeDocument/2006/relationships/slideLayout" Target="../slideLayouts/slideLayout8.xml"/><Relationship Id="Rade36bdad16749e4" Type="http://schemas.openxmlformats.org/officeDocument/2006/relationships/slideLayout" Target="../slideLayouts/slideLayout6.xml"/><Relationship Id="Rdd3e66822bf54d39" Type="http://schemas.openxmlformats.org/officeDocument/2006/relationships/slideLayout" Target="../slideLayouts/slideLayout5.xml"/><Relationship Id="Rde82e93a6add4d84" Type="http://schemas.openxmlformats.org/officeDocument/2006/relationships/slideLayout" Target="../slideLayouts/slideLayout4.xml"/><Relationship Id="Ree74b6777b0c49da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062B21C-554E-47B5-ABFD-DF1FAF401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21E6CF-0741-4054-A86A-740A8F386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825ADD-9702-425D-942F-9E59FEAF99D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5A12AA-92B1-41CB-8D53-E85AEA9730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6777C8-9C54-4F7C-850C-0F55DD7E8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bf29e030a4fb8"/>
    <p:sldLayoutId xmlns:r="http://schemas.openxmlformats.org/officeDocument/2006/relationships" id="2147483650" r:id="R7ee82482cfb24b58"/>
    <p:sldLayoutId xmlns:r="http://schemas.openxmlformats.org/officeDocument/2006/relationships" id="2147483651" r:id="Ree74b6777b0c49da"/>
    <p:sldLayoutId xmlns:r="http://schemas.openxmlformats.org/officeDocument/2006/relationships" id="2147483652" r:id="Rde82e93a6add4d84"/>
    <p:sldLayoutId xmlns:r="http://schemas.openxmlformats.org/officeDocument/2006/relationships" id="2147483653" r:id="Rdd3e66822bf54d39"/>
    <p:sldLayoutId xmlns:r="http://schemas.openxmlformats.org/officeDocument/2006/relationships" id="2147483654" r:id="Rade36bdad16749e4"/>
    <p:sldLayoutId xmlns:r="http://schemas.openxmlformats.org/officeDocument/2006/relationships" id="2147483655" r:id="R627e7167f2284189"/>
    <p:sldLayoutId xmlns:r="http://schemas.openxmlformats.org/officeDocument/2006/relationships" id="2147483656" r:id="Ra9d2cf40b00b4147"/>
    <p:sldLayoutId xmlns:r="http://schemas.openxmlformats.org/officeDocument/2006/relationships" id="2147483657" r:id="R64056dbcbaf8412d"/>
    <p:sldLayoutId xmlns:r="http://schemas.openxmlformats.org/officeDocument/2006/relationships" id="2147483658" r:id="Ra1bdc4ffb4c540ea"/>
    <p:sldLayoutId xmlns:r="http://schemas.openxmlformats.org/officeDocument/2006/relationships" id="2147483659" r:id="R9aac49015bc1483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5fad57ecdf4678" Type="http://schemas.openxmlformats.org/officeDocument/2006/relationships/slideLayout" Target="../slideLayouts/slideLayout7.xml"/><Relationship Id="R2e3e70a6f1be4e2b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d6b756409ae4526" Type="http://schemas.openxmlformats.org/officeDocument/2006/relationships/slideLayout" Target="../slideLayouts/slideLayout7.xml"/><Relationship Id="Rdbb8ea056ccb4a5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bde4a07cf294728" Type="http://schemas.openxmlformats.org/officeDocument/2006/relationships/slideLayout" Target="../slideLayouts/slideLayout7.xml"/><Relationship Id="R2d77216d200348bf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c1015b335a9a41bd" Type="http://schemas.openxmlformats.org/officeDocument/2006/relationships/image" Target="../media/image.png"/><Relationship Id="Rc225f84c7ba149ad" Type="http://schemas.openxmlformats.org/officeDocument/2006/relationships/notesSlide" Target="../notesSlides/notesSlide5.xml"/><Relationship Id="Rf1d8ee4fe38a4af9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28d961c8510140f1" Type="http://schemas.openxmlformats.org/officeDocument/2006/relationships/notesSlide" Target="../notesSlides/notesSlide6.xml"/><Relationship Id="Rb15d578ed41242de" Type="http://schemas.openxmlformats.org/officeDocument/2006/relationships/slideLayout" Target="../slideLayouts/slideLayout7.xml"/><Relationship Id="Rb6c19aa48ec7452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046a79442cd9496b" Type="http://schemas.openxmlformats.org/officeDocument/2006/relationships/image" Target="../media/image3.png"/><Relationship Id="R4cbca6183c374d84" Type="http://schemas.openxmlformats.org/officeDocument/2006/relationships/slideLayout" Target="../slideLayouts/slideLayout7.xml"/><Relationship Id="R78b935b1ca5940a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2c4529dfe184641" Type="http://schemas.openxmlformats.org/officeDocument/2006/relationships/notesSlide" Target="../notesSlides/notesSlide8.xml"/><Relationship Id="Rc1ef2cf4c6ef4b5b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97da67c6d69f46ba" Type="http://schemas.openxmlformats.org/officeDocument/2006/relationships/notesSlide" Target="../notesSlides/notesSlide10.xml"/><Relationship Id="Rdb29c8e642414bf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2f8b1efb2db44ce5" Type="http://schemas.openxmlformats.org/officeDocument/2006/relationships/notesSlide" Target="../notesSlides/notesSlide13.xml"/><Relationship Id="Ra121de2f00284456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B548EF-E0C9-4FF0-B06C-0F0D2E9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10698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Radio over Fiber (RoF)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C26D45-6BD5-4E2F-B01B-CCDC6CDE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10698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Technology, Architecture, Advantages, Applications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8579492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8B1A46-6649-4074-BB67-0C203471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DB846A-5D55-4023-9077-9010E23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1064240" cy="484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Radio over Fiber?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it works: architecture and building blocks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Analog vs. digital RoF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Advantages of RoF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in Distributed Antenna Systems (DAS)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Application areas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Limitations, challenges and outlook</a:t>
            </a:r>
          </a:p>
        </p:txBody>
      </p:sp>
    </p:spTree>
    <p:extLst>
      <p:ext uri="{BB962C8B-B14F-4D97-AF65-F5344CB8AC3E}">
        <p14:creationId xmlns:p14="http://schemas.microsoft.com/office/powerpoint/2010/main" val="1056538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DA2252-AE7E-4F2B-929F-7E007F15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Radio over Fiber: Definition &amp; Principle of Operation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21C7F0-4621-4FF1-9D2E-45A34C7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1106424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Core concept: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RoF transports an analog RF or IF waveform directly over an optical fiber carrier, rather than baseband digital bits.</a:t>
            </a:r>
          </a:p>
          <a:p xmlns:a="http://schemas.openxmlformats.org/drawingml/2006/main">
            <a:pPr>
              <a:spcAft>
                <a:spcPts val="12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Downlink (E/O → O/E):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at the central station, the RF/IF signal modulates a CW laser carrier (direct modulation or an external MZM). At the remote unit, a photodiode recovers the RF/IF signal for filtering, amplification and antenna transmission.</a:t>
            </a:r>
          </a:p>
          <a:p xmlns:a="http://schemas.openxmlformats.org/drawingml/2006/main">
            <a:pPr>
              <a:spcAft>
                <a:spcPts val="12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Uplink: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follows the reverse conversion path, from the remote antenna back to the central processing unit.</a:t>
            </a:r>
          </a:p>
          <a:p xmlns:a="http://schemas.openxmlformats.org/drawingml/2006/main">
            <a:pPr>
              <a:spcAft>
                <a:spcPts val="12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Multiplexing: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wavelength-division multiplexing (WDM) lets several RF channels share one fiber on different wavelengths (λ1 … λn).</a:t>
            </a:r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 lIns="182880" rIns="18288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Arial"/>
              </a:rPr>
              <a:t>Critical distinction: </a:t>
            </a:r>
            <a:r>
              <a:rPr sz="1700" b="0" i="1">
                <a:solidFill>
                  <a:srgbClr val="000000"/>
                </a:solidFill>
                <a:latin typeface="Arial"/>
              </a:rPr>
              <a:t>RoF removes the transport bottleneck, but it does not create extra radio spectrum or wireless air-interface capacity by itself.</a:t>
            </a:r>
          </a:p>
        </p:txBody>
      </p:sp>
    </p:spTree>
    <p:extLst>
      <p:ext uri="{BB962C8B-B14F-4D97-AF65-F5344CB8AC3E}">
        <p14:creationId xmlns:p14="http://schemas.microsoft.com/office/powerpoint/2010/main" val="1325025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0C24DC4-0424-4FFB-A059-3C9F765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Network Architecture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7FC7C44-F6C5-4E4A-8EF6-91F8B896E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15b335a9a41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647" y="1280160"/>
            <a:ext cx="10058400" cy="3722007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6A6A6"/>
            </a:solidFill>
          </a:ln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631966-83CE-4288-9721-200A112A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47" y="5139327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BBU: Baseband Unit · BS: Base Station · RRH: Remote Radio Head</a:t>
            </a:r>
          </a:p>
        </p:txBody>
      </p:sp>
    </p:spTree>
    <p:extLst>
      <p:ext uri="{BB962C8B-B14F-4D97-AF65-F5344CB8AC3E}">
        <p14:creationId xmlns:p14="http://schemas.microsoft.com/office/powerpoint/2010/main" val="19920304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354E93-0735-4C6C-99B7-3B52460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Link Block Diagram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F2CBD19-97B9-4217-AAD4-C268B102EA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9aa48ec7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9669" y="1188720"/>
            <a:ext cx="8772356" cy="324612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6A6A6"/>
            </a:solidFill>
          </a:ln>
        </p:spPr>
      </p:pic>
      <p:sp xmlns:a="http://schemas.openxmlformats.org/drawingml/2006/main">
        <p:nvSpPr>
          <p:cNvPr id="4" name="Rectangle 3"/>
          <p:cNvSpPr/>
          <p:nvPr/>
        </p:nvSpPr>
        <p:spPr>
          <a:xfrm>
            <a:off x="1709669" y="4617720"/>
            <a:ext cx="8772356" cy="16002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1819397" y="4690872"/>
            <a:ext cx="420329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CW laser: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continuous-wave source that provides the optical carrier.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MZM: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Mach-Zehnder modulator; varies light intensity with the RF signal (alternative: direct laser modulation).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WDM MUX / DEMUX: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combine and separate channels λ1 … λn when they share one fiber.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168999" y="4690872"/>
            <a:ext cx="420329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Photodiode: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converts light back into the electrical RF signal at the base station (remote antenna site).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Filter and PA: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remove out-of-band products and amplify the RF signal before the antenna.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Downlink shown;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the uplink follows the reverse conversion path.</a:t>
            </a:r>
          </a:p>
        </p:txBody>
      </p:sp>
    </p:spTree>
    <p:extLst>
      <p:ext uri="{BB962C8B-B14F-4D97-AF65-F5344CB8AC3E}">
        <p14:creationId xmlns:p14="http://schemas.microsoft.com/office/powerpoint/2010/main" val="14501069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7259381-1281-4C09-95A8-118762C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Remote Antenna Unit (RAU) Types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C67ADCD-A5DA-4A0B-BB95-0C754AD09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a79442cd949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280160"/>
            <a:ext cx="3584813" cy="493776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6A6A6"/>
            </a:solidFill>
          </a:ln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A221E3-328F-457F-9AF7-4554430E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773" y="1280160"/>
            <a:ext cx="7205106" cy="493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BBoF — baseband over fiber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RAU: modulator + mixer + LO. Converts baseband up to RF.</a:t>
            </a:r>
          </a:p>
          <a:p xmlns:a="http://schemas.openxmlformats.org/drawingml/2006/main">
            <a:pPr>
              <a:spcBef>
                <a:spcPts val="140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IFoF — intermediate frequency over fiber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RAU: mixer + LO. Converts IF up to RF.</a:t>
            </a:r>
          </a:p>
          <a:p xmlns:a="http://schemas.openxmlformats.org/drawingml/2006/main">
            <a:pPr>
              <a:spcBef>
                <a:spcPts val="140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RFoF — RF over fiber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RAU: photodiode + TIA + PA. No frequency conversion; simplest RAU.</a:t>
            </a:r>
          </a:p>
          <a:p xmlns:a="http://schemas.openxmlformats.org/drawingml/2006/main">
            <a:pPr>
              <a:spcBef>
                <a:spcPts val="140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All types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Downlink: photodiode, TIA, PA.  Uplink: LNA, laser diode (LD).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BAAC74-9508-419C-96C6-B6E6088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TIA: transimpedance amplifier · PA: power amplifier · LNA: low-noise amplifier. Figure adapted from “Radio over Fiber: An Alternative Broadband Network Technology for IoT,” Electronics 9(11), 1785 (2020), Fig. 3.</a:t>
            </a:r>
          </a:p>
        </p:txBody>
      </p:sp>
    </p:spTree>
    <p:extLst>
      <p:ext uri="{BB962C8B-B14F-4D97-AF65-F5344CB8AC3E}">
        <p14:creationId xmlns:p14="http://schemas.microsoft.com/office/powerpoint/2010/main" val="9504233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7CB579-89EE-4B5B-AF6F-B17FE81E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Analog vs. Digital RoF</a:t>
            </a:r>
          </a:p>
        </p:txBody>
      </p:sp>
      <p:graphicFrame>
        <p:nvGraphicFramePr>
          <p:cNvPr id="3" name="Table 2">
            <a:extLst xmlns:a="http://schemas.openxmlformats.org/drawingml/2006/main">
              <a:ext uri="{FF2B5EF4-FFF2-40B4-BE49-F238E27FC236}">
                <a16:creationId xmlns:a16="http://schemas.microsoft.com/office/drawing/2014/main" id="{391F3539-F998-49D0-B1CB-886ED0E2CC34}"/>
              </a:ext>
            </a:extLst>
          </p:cNvPr>
          <p:cNvGraphicFramePr/>
          <p:nvPr/>
        </p:nvGraphicFramePr>
        <p:xfrm>
          <a:off xmlns:a="http://schemas.openxmlformats.org/drawingml/2006/main" x="548640" y="1280160"/>
          <a:ext xmlns:a="http://schemas.openxmlformats.org/drawingml/2006/main" cx="11064240" cy="2743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Analog RoF (A-RoF)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Digital RoF (D-RoF)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Signal on fiber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RF waveform itself modulates the light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Sampled and quantized digital bits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Remote unit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simple: photodiode, filter, amplifier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More complex: needs DAC / ADC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Fiber bandwidth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Efficient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high; grows with antennas and bandwidth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Main weakness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Noise, nonlinearity, dispersion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 data rate, remote-unit cost and power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Standards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ITU-T G.9803 defines RoF system requirements, including IMT-2020 fronthaul in Amendment 2 (2022).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CPRI / eCPRI: digital fronthaul interface families.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4A11C54-FFD2-4750-A3D5-375F467A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424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Sources: Li et al. (2021); ITU-T G.9803 (2018), Amendment 2 (2022).</a:t>
            </a:r>
          </a:p>
        </p:txBody>
      </p:sp>
    </p:spTree>
    <p:extLst>
      <p:ext uri="{BB962C8B-B14F-4D97-AF65-F5344CB8AC3E}">
        <p14:creationId xmlns:p14="http://schemas.microsoft.com/office/powerpoint/2010/main" val="12708165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AACCE0-C029-4C72-898C-8D878A1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Key Engineering Advantages of RoF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548640" y="123444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658368" y="132588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1. Ultra-low attenuation &amp; extended reach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≈ 0.2 dB/km at 1550 nm (ITU-T G.652 SMF), so one central site can serve a wide coverage area. Reach is bounded by noise, nonlinearity and dispersion.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4297679" y="123444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4407407" y="132588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2. Large transport bandwidth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High fiber capacity, extended with WDM, supports multiple channels and operators on one fiber.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046719" y="123444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156447" y="132588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3. EMI immunity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The optical fiber span is immune to electromagnetic interference. Over-the-air RF interference still applies.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548640" y="342900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58368" y="352044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4. Centralized processing, low field maintenance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Complex processing stays at the BBU pool. Simpler remote units with fewer active parts reduce remote power and maintenance.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4297679" y="342900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4407407" y="352044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5. Protocol &amp; modulation transparency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A transparent optical link carries multiple radio generations and modulation formats without changing remote hardware.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8046719" y="342900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8156447" y="352044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6. Cost &amp; installation efficiency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Light, flexible cable simplifies installation in tunnels and buildings; existing dark fiber can be reused.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Arial"/>
              </a:rPr>
              <a:t>Note: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wireless capacity remains governed by radio spectrum, modulation efficiency and the number of radio units, not by fiber bandwidth alone.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Fiber attenuation: typical single-mode fiber at 1550 nm, ITU-T G.652 family.</a:t>
            </a:r>
          </a:p>
        </p:txBody>
      </p:sp>
    </p:spTree>
    <p:extLst>
      <p:ext uri="{BB962C8B-B14F-4D97-AF65-F5344CB8AC3E}">
        <p14:creationId xmlns:p14="http://schemas.microsoft.com/office/powerpoint/2010/main" val="6935384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62BD6A-117B-4601-8295-0F91AC77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RoF: Distributed Antenna System (DAS)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EEF83BA-C82C-4894-BC1C-3218BB9B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1064240" cy="259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common RoF deployment model is the Distributed Antenna System (DAS), which connects a central equipment room to remote radio units over fiber.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DAS can improve indoor or venue coverage in places such as stadiums, airports, shopping malls and campuses. Wireless capacity still depends on radio spectrum and radio design.</a:t>
            </a:r>
          </a:p>
        </p:txBody>
      </p:sp>
    </p:spTree>
    <p:extLst>
      <p:ext uri="{BB962C8B-B14F-4D97-AF65-F5344CB8AC3E}">
        <p14:creationId xmlns:p14="http://schemas.microsoft.com/office/powerpoint/2010/main" val="1883690961"/>
      </p:ext>
    </p:extLst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Do We Need Radio over Fiber?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1280160"/>
            <a:ext cx="1106424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do you bring a clear mobile signal inside a tunnel or a big stadium?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2286000"/>
            <a:ext cx="1106424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problem: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walls, distance and crowds weaken radio signals, so one antenna cannot cover a whole building or venue.</a:t>
            </a:r>
          </a:p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usual fix: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place many small antennas around the area, all fed from one central equipment room.</a:t>
            </a:r>
          </a:p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Coaxial cable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can feed them, but at radio frequencies it loses signal quickly over distance and is heavy and bulky.</a:t>
            </a:r>
          </a:p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Optical fiber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loses very little signal, is thin and light, and does not pick up electromagnetic interference. This is the idea behind RoF.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vs. Coaxial Cable and Microwave Links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990000"/>
                <a:gridCol w="2990000"/>
                <a:gridCol w="2984240"/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Coaxial cable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Microwave link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RoF (fiber)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Loss over distance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 at radio frequencies; grows with frequency and length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Free-space path loss; needs a clear line of sight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low (about 0.2 dB/km at 1550 nm)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Short runs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Line-of-sight hops between towers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Many kilometers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Shielded, but not immune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Affected by weather and radio interference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Fiber span is immune to electromagnetic pickup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Size and weight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Heavy and bulky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Needs antennas, dishes and towers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Thin and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Bandwidth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Moderate; loss limits useful length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Limited by allocated spectrum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large (more with WDM)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Best fit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Short indoor links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Point-to-point links where fiber is not available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Longer links to many remote antennas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>
            <a:spLocks noGrp="1"/>
          </p:cNvSpPr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Qualitative comparison; actual values depend on cable type, frequency and link design. Fiber loss: ITU-T G.652 family.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Example: Signal Loss over Distance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1280160"/>
            <a:ext cx="110642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2.4 GHz signal carried over each medium (loss = power lost along the cable):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548640" y="19202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900000"/>
                <a:gridCol w="4364240"/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Coax (about 22 dB per 100 m at 2.4 GHz)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Fiber (0.2 dB/km at 1550 nm)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about 22 dB loss (under 1% of the power left)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0.02 dB loss (about 99.5% left)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about 220 dB loss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0.2 dB loss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about 2,200 dB loss: not usable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 dB loss (about 63% left)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>
            <a:spLocks noGrp="1"/>
          </p:cNvSpPr>
          <p:nvPr/>
        </p:nvSpPr>
        <p:spPr>
          <a:xfrm>
            <a:off x="548640" y="4480560"/>
            <a:ext cx="110642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Takeaway: </a:t>
            </a:r>
            <a:r>
              <a:rPr lang="en-US" sz="2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over 10 km, fiber loses a few dB while coax loses far more than any amplifier could recover.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440680"/>
            <a:ext cx="110642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an intensity-modulated link, 1 dB of optical loss reduces the recovered RF power by about 2 dB, so 2 dB of fiber loss is roughly 4 dB of RF loss. Still tiny next to coax.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Illustrative values. Coax: typical datasheet figure for LMR-400-class cable at 2.4 GHz; check your own cable’s datasheet. Fiber: ITU-T G.652 family.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2026-10-27T21:33:06.7340000Z</dcterms:created>
  <dcterms:modified xsi:type="dcterms:W3CDTF">2026-10-27T21:33:06.7340000Z</dcterms:modified>
</coreProperties>
</file>