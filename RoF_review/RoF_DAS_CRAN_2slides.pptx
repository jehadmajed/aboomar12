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5c022cb3b02472e" Type="http://schemas.openxmlformats.org/package/2006/relationships/metadata/core-properties" Target="docProps/core.xml"/><Relationship Id="R7c6e046d56274bec" Type="http://schemas.openxmlformats.org/officeDocument/2006/relationships/extended-properties" Target="docProps/app.xml"/><Relationship Id="R81443189ff644e9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f4b5434574f4e"/>
  </p:sldMasterIdLst>
  <p:notesMasterIdLst>
    <p:notesMasterId xmlns:r="http://schemas.openxmlformats.org/officeDocument/2006/relationships" r:id="R0b66b19720534cd7"/>
  </p:notesMasterIdLst>
  <p:sldIdLst>
    <p:sldId xmlns:ns0="http://schemas.openxmlformats.org/officeDocument/2006/relationships" id="256" ns0:id="rId7"/>
    <p:sldId xmlns:ns0="http://schemas.openxmlformats.org/officeDocument/2006/relationships" id="257" ns0:id="rId8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66b19720534cd7" Type="http://schemas.openxmlformats.org/officeDocument/2006/relationships/notesMaster" Target="notesMasters/notesMaster1.xml"/><Relationship Id="R2045d7af543143fd" Type="http://schemas.openxmlformats.org/officeDocument/2006/relationships/theme" Target="theme/theme1.xml"/><Relationship Id="R6def4b5434574f4e" Type="http://schemas.openxmlformats.org/officeDocument/2006/relationships/slideMaster" Target="slideMasters/slideMaster1.xml"/><Relationship Id="R9a89b5fcce9b4b49" Type="http://schemas.openxmlformats.org/officeDocument/2006/relationships/presProps" Target="presProps.xml"/><Relationship Id="Rbcbfeecd3f1c4b6e" Type="http://schemas.openxmlformats.org/officeDocument/2006/relationships/viewProps" Target="viewProps.xml"/><Relationship Id="Rf6faa1f67f7c42fd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a9f60853ae694a6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outdoor macro signal cannot penetrate the building; with DAS, many low-power antennas inside give uniform coverage. Right: the chain. Donor Unit takes the operator signal, Main Hub Unit converts RF to optical, fiber runs up the riser to Remote Optic Units on each floor, short low-loss coax and passive splitters (DSU) feed the ceiling antennas. The fiber riser is the RoF link from Part 1. Image sources: add the URLs of both images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Baseband units are pooled centrally; each remote radio head keeps only the RF part. Backhaul (core to BBU pool) is digital; fronthaul (BBU to RRH) is the RoF link. Digital fronthaul (CPRI) needs 1.23 Gb/s for 20 MHz x 1 antenna and about 315 Gb/s for 100 MHz x 64 antennas; analog RoF needs up to 40x less fiber bandwidth but EVM of about 8 % fails the 3.5 % 256-QAM limit (Li et al., arXiv:2111.13851; 3GPP TS 38.104). Image source: add the URL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5ec2779983f94ab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17f600b29044ce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6aab51319704b6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ead423a3be641d8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ee5c6c3e5584b8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57319ecf8ae4ddf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36037d5db594f8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79db2bbe06c94408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2fa1ccb61c34db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6df53b5feb8c481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92e9865701e8454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43C586-A518-42A6-83F1-1DD71F6178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1F4BA07-5072-4D5E-8E73-E9B1CE328A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3EE862-0128-46AF-894B-911ABB62DA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AA385A-4357-4A2B-84C5-428E5AA38B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86060-7A22-4C87-928B-32A51E3162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ED53B0-8DE5-4130-8380-47C65A152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26B565-E199-436E-B9F8-4F4BE49F62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4E4E94-9448-497D-9FFC-10220621D1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FB8F31-F4B3-4FF9-91F8-66CC9DE46D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414516-DAB3-4DCA-A2C4-A59E627AB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4A23B7-0928-4494-926C-1388377A5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20B345-8860-498F-9227-98F5A0BEF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DBBE51-2886-4E97-8FCD-545E36B5A8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653122-4D7B-4EF6-B184-26B33A9613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4ED7CC-D18F-46EF-9E55-AFBF5BDC8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43FA1A-EE9E-4FF3-A5C9-AA881BF41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F468EB-498A-4214-B260-3D44A15467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992AEC-D781-4499-8C0D-C12C4D73E9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20532E-1AE1-4018-8FA0-2314003A21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799B7C-BAE7-4E99-8B05-3CD398F42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2E3DF2-CE3C-4315-B569-FF5A5BEA4B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20A9D9-5E5F-4FC1-9CEB-C5633C76C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DC264A-B5F5-4DF8-9468-DF1BEB58D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E7B0BC9-2312-44DE-A69A-3E2EFAED1E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A0CAF2F-7FC2-4DEB-9F33-3E342FAB28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81F4E49-6856-42FD-8F17-30A5265BD0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96506D-0E24-40B3-B4C3-70BD0D010F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1AD3D24-9580-49F1-A13C-35BD7B312F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302E4E8-A310-4826-8FE5-C766E6C1A7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940761-D61B-4CED-B118-3B5DA8D7F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B88BC6D-F8A2-4945-80ED-1E6450626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B065D89-A252-4AFF-9310-E83B7503E0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727DCD-9AB9-4757-B16D-8DED7DE04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CA298D-1BAF-4DC1-9272-F747E6546C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0B20C0-8051-42C0-9BAF-103939451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BBB98DF-B255-48FA-A03C-22B8243C9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DC351B-9C59-40DF-ADAB-F9FE8E727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C5E38F-C883-4D46-B88D-C951AB23B6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2FA1FA-B257-4146-9F03-C1E792D7B4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0AC21E-02A6-4ABE-B0CD-011749536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16CAFE-1A2F-4980-A5CE-32397D624F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49825E-7CF3-4C70-AE9D-706143B214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A6725-ADF6-4A91-8878-E29AC4548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12E7875-EE07-4A09-B944-1E9CA3756C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CF33E7-F5E7-4662-B938-BA3620829C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F73A8D-47C5-4A1E-A885-20EE10D45F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F2174F-803F-410A-9152-9E33701368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4FB4B3-F9D7-4085-ABEF-FBA693457B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27D52B-947F-419E-AFBC-DA663E30D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64FCD9-1665-4E37-B4CB-86B3AEA59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A0E85F-CC3A-4317-A622-C9356E8153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3727E6-E014-4B5C-8BF4-39FFA77E3D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54D67F-99BA-4CEB-B8F0-354D4EB749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606A4AF-5DE0-4166-A35F-F02F2E27C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663C57-3694-4713-8833-A2550716B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A87559-3EDA-444C-86E5-B993C16917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477C30-C7B2-4DBD-AEB6-7A293A802B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A6063B-CC0A-48BD-9BE5-F7EE5C4CA4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4779dd8270fa4551" Type="http://schemas.openxmlformats.org/officeDocument/2006/relationships/theme" Target="theme/theme2.xml"/><Relationship Id="R627e7167f2284189" Type="http://schemas.openxmlformats.org/officeDocument/2006/relationships/slideLayout" Target="../slideLayouts/slideLayout7.xml"/><Relationship Id="R64056dbcbaf8412d" Type="http://schemas.openxmlformats.org/officeDocument/2006/relationships/slideLayout" Target="../slideLayouts/slideLayout9.xml"/><Relationship Id="R7ee82482cfb24b58" Type="http://schemas.openxmlformats.org/officeDocument/2006/relationships/slideLayout" Target="../slideLayouts/slideLayout2.xml"/><Relationship Id="R9aac49015bc14834" Type="http://schemas.openxmlformats.org/officeDocument/2006/relationships/slideLayout" Target="../slideLayouts/slideLayout11.xml"/><Relationship Id="R9f4bf29e030a4fb8" Type="http://schemas.openxmlformats.org/officeDocument/2006/relationships/slideLayout" Target="../slideLayouts/slideLayout1.xml"/><Relationship Id="Ra1bdc4ffb4c540ea" Type="http://schemas.openxmlformats.org/officeDocument/2006/relationships/slideLayout" Target="../slideLayouts/slideLayout10.xml"/><Relationship Id="Ra9d2cf40b00b4147" Type="http://schemas.openxmlformats.org/officeDocument/2006/relationships/slideLayout" Target="../slideLayouts/slideLayout8.xml"/><Relationship Id="Rade36bdad16749e4" Type="http://schemas.openxmlformats.org/officeDocument/2006/relationships/slideLayout" Target="../slideLayouts/slideLayout6.xml"/><Relationship Id="Rdd3e66822bf54d39" Type="http://schemas.openxmlformats.org/officeDocument/2006/relationships/slideLayout" Target="../slideLayouts/slideLayout5.xml"/><Relationship Id="Rde82e93a6add4d84" Type="http://schemas.openxmlformats.org/officeDocument/2006/relationships/slideLayout" Target="../slideLayouts/slideLayout4.xml"/><Relationship Id="Ree74b6777b0c49da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062B21C-554E-47B5-ABFD-DF1FAF401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21E6CF-0741-4054-A86A-740A8F3861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825ADD-9702-425D-942F-9E59FEAF99D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5A12AA-92B1-41CB-8D53-E85AEA9730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6777C8-9C54-4F7C-850C-0F55DD7E8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bf29e030a4fb8"/>
    <p:sldLayoutId xmlns:r="http://schemas.openxmlformats.org/officeDocument/2006/relationships" id="2147483650" r:id="R7ee82482cfb24b58"/>
    <p:sldLayoutId xmlns:r="http://schemas.openxmlformats.org/officeDocument/2006/relationships" id="2147483651" r:id="Ree74b6777b0c49da"/>
    <p:sldLayoutId xmlns:r="http://schemas.openxmlformats.org/officeDocument/2006/relationships" id="2147483652" r:id="Rde82e93a6add4d84"/>
    <p:sldLayoutId xmlns:r="http://schemas.openxmlformats.org/officeDocument/2006/relationships" id="2147483653" r:id="Rdd3e66822bf54d39"/>
    <p:sldLayoutId xmlns:r="http://schemas.openxmlformats.org/officeDocument/2006/relationships" id="2147483654" r:id="Rade36bdad16749e4"/>
    <p:sldLayoutId xmlns:r="http://schemas.openxmlformats.org/officeDocument/2006/relationships" id="2147483655" r:id="R627e7167f2284189"/>
    <p:sldLayoutId xmlns:r="http://schemas.openxmlformats.org/officeDocument/2006/relationships" id="2147483656" r:id="Ra9d2cf40b00b4147"/>
    <p:sldLayoutId xmlns:r="http://schemas.openxmlformats.org/officeDocument/2006/relationships" id="2147483657" r:id="R64056dbcbaf8412d"/>
    <p:sldLayoutId xmlns:r="http://schemas.openxmlformats.org/officeDocument/2006/relationships" id="2147483658" r:id="Ra1bdc4ffb4c540ea"/>
    <p:sldLayoutId xmlns:r="http://schemas.openxmlformats.org/officeDocument/2006/relationships" id="2147483659" r:id="R9aac49015bc1483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Use 1: In-Building DAS</a:t>
            </a:r>
          </a:p>
        </p:txBody>
      </p:sp>
      <p:pic>
        <p:nvPicPr>
          <p:cNvPr id="3" name="Picture 2" descr="user_das_problem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394960" cy="3306398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pic>
        <p:nvPicPr>
          <p:cNvPr id="4" name="Picture 3" descr="user_das_un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736" y="1234440"/>
            <a:ext cx="5129326" cy="356616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Problem → solution: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walls block the outdoor signal; many low-power antennas inside give uniform coverage.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Chain: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Donor Unit → Main Hub (RF → optical) → fiber riser (RoF) → Remote Optic Unit per floor → antennas.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Use 2: C-RAN with RoF Fronthaul</a:t>
            </a:r>
          </a:p>
        </p:txBody>
      </p:sp>
      <p:pic>
        <p:nvPicPr>
          <p:cNvPr id="3" name="Picture 2" descr="user_cran_r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16" y="1234440"/>
            <a:ext cx="8923086" cy="365760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Backhaul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(core → BBU pool) is digital; fronthaul (BBU → RRH) is the RoF link.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Trade-off: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analog RoF needs up to 40× less fiber bandwidth than CPRI, at lower signal quality (EVM ≈ 8 %).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2026-10-27T21:33:06.7340000Z</dcterms:created>
  <dcterms:modified xsi:type="dcterms:W3CDTF">2026-10-27T21:33:06.7340000Z</dcterms:modified>
</coreProperties>
</file>