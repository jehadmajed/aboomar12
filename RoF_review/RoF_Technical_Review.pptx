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peaker A · Problem, definition, signal path, architectures" id="{7edecbf1-e439-00f6-fbc8-275d63354a66}">
          <p14:sldIdLst>
            <p14:sldId id="256"/>
            <p14:sldId id="257"/>
            <p14:sldId id="258"/>
            <p14:sldId id="259"/>
            <p14:sldId id="260"/>
            <p14:sldId id="261"/>
          </p14:sldIdLst>
        </p14:section>
        <p14:section name="Speaker B · Comparisons, benefits, limits, case, conclusions" id="{867a216e-a82d-1007-d337-1977ee9e7758}">
          <p14:sldIdLst>
            <p14:sldId id="262"/>
            <p14:sldId id="263"/>
            <p14:sldId id="264"/>
            <p14:sldId id="265"/>
            <p14:sldId id="266"/>
            <p14:sldId id="267"/>
            <p14:sldId id="268"/>
          </p14:sldIdLst>
        </p14:section>
        <p14:section name="Appendix" id="{f9aee097-3355-1437-9540-2f22af4ae2ae}">
          <p14:sldIdLst>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3A5F"/>
                </a:solidFill>
                <a:latin typeface="Calibri"/>
              </a:defRPr>
            </a:pPr>
            <a:r>
              <a:rPr sz="1200" b="0" i="0" u="none" strike="noStrike">
                <a:solidFill>
                  <a:srgbClr val="1F3A5F"/>
                </a:solidFill>
                <a:latin typeface="Calibri"/>
              </a:rPr>
              <a:t>RF-to-RF loss vs length at 2.5 GHz (downlink, unamplified)</a:t>
            </a:r>
          </a:p>
        </c:rich>
      </c:tx>
      <c:layout/>
      <c:overlay val="0"/>
    </c:title>
    <c:autoTitleDeleted val="0"/>
    <c:plotArea>
      <c:layout/>
      <c:lineChart>
        <c:varyColors val="0"/>
        <c:ser>
          <c:idx val="0"/>
          <c:order val="0"/>
          <c:tx>
            <c:strRef>
              <c:f>Sheet1!$B$1</c:f>
              <c:strCache>
                <c:ptCount val="1"/>
                <c:pt idx="0">
                  <c:v>Coax, LMR-400 class</c:v>
                </c:pt>
              </c:strCache>
            </c:strRef>
          </c:tx>
          <c:spPr>
            <a:solidFill>
              <a:srgbClr val="1A1A1A"/>
            </a:solidFill>
            <a:ln w="25400" cap="flat">
              <a:solidFill>
                <a:srgbClr val="1A1A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A1A1A"/>
              </a:solidFill>
              <a:ln w="9525" cap="flat">
                <a:solidFill>
                  <a:srgbClr val="1A1A1A"/>
                </a:solidFill>
                <a:prstDash val="solid"/>
                <a:round/>
              </a:ln>
              <a:effectLst/>
            </c:spPr>
          </c:marker>
          <c:cat>
            <c:multiLvlStrRef>
              <c:f>Sheet1!$A$2:$A$10</c:f>
              <c:multiLvlStrCache>
                <c:ptCount val="9"/>
                <c:lvl>
                  <c:pt idx="0">
                    <c:v>0</c:v>
                  </c:pt>
                  <c:pt idx="1">
                    <c:v>50</c:v>
                  </c:pt>
                  <c:pt idx="2">
                    <c:v>100</c:v>
                  </c:pt>
                  <c:pt idx="3">
                    <c:v>150</c:v>
                  </c:pt>
                  <c:pt idx="4">
                    <c:v>200</c:v>
                  </c:pt>
                  <c:pt idx="5">
                    <c:v>250</c:v>
                  </c:pt>
                  <c:pt idx="6">
                    <c:v>300</c:v>
                  </c:pt>
                  <c:pt idx="7">
                    <c:v>350</c:v>
                  </c:pt>
                  <c:pt idx="8">
                    <c:v>400</c:v>
                  </c:pt>
                </c:lvl>
              </c:multiLvlStrCache>
            </c:multiLvlStrRef>
          </c:cat>
          <c:val>
            <c:numRef>
              <c:f>Sheet1!$B$2:$B$10</c:f>
              <c:numCache>
                <c:formatCode>General</c:formatCode>
                <c:ptCount val="9"/>
                <c:pt idx="0">
                  <c:v>0</c:v>
                </c:pt>
                <c:pt idx="1">
                  <c:v>11.1</c:v>
                </c:pt>
                <c:pt idx="2">
                  <c:v>22.2</c:v>
                </c:pt>
                <c:pt idx="3">
                  <c:v>33.3</c:v>
                </c:pt>
                <c:pt idx="4">
                  <c:v>44.4</c:v>
                </c:pt>
                <c:pt idx="5">
                  <c:v>55.5</c:v>
                </c:pt>
                <c:pt idx="6">
                  <c:v>66.6</c:v>
                </c:pt>
                <c:pt idx="7">
                  <c:v>77.7</c:v>
                </c:pt>
                <c:pt idx="8">
                  <c:v>88.8</c:v>
                </c:pt>
              </c:numCache>
            </c:numRef>
          </c:val>
          <c:smooth val="0"/>
        </c:ser>
        <c:ser>
          <c:idx val="1"/>
          <c:order val="1"/>
          <c:tx>
            <c:strRef>
              <c:f>Sheet1!$C$1</c:f>
              <c:strCache>
                <c:ptCount val="1"/>
                <c:pt idx="0">
                  <c:v>RFoF, Lc = 20 dB (assumed)</c:v>
                </c:pt>
              </c:strCache>
            </c:strRef>
          </c:tx>
          <c:spPr>
            <a:solidFill>
              <a:srgbClr val="1F3A5F"/>
            </a:solidFill>
            <a:ln w="25400" cap="flat">
              <a:solidFill>
                <a:srgbClr val="1F3A5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3A5F"/>
              </a:solidFill>
              <a:ln w="9525" cap="flat">
                <a:solidFill>
                  <a:srgbClr val="1F3A5F"/>
                </a:solidFill>
                <a:prstDash val="solid"/>
                <a:round/>
              </a:ln>
              <a:effectLst/>
            </c:spPr>
          </c:marker>
          <c:cat>
            <c:multiLvlStrRef>
              <c:f>Sheet1!$A$2:$A$10</c:f>
              <c:multiLvlStrCache>
                <c:ptCount val="9"/>
                <c:lvl>
                  <c:pt idx="0">
                    <c:v>0</c:v>
                  </c:pt>
                  <c:pt idx="1">
                    <c:v>50</c:v>
                  </c:pt>
                  <c:pt idx="2">
                    <c:v>100</c:v>
                  </c:pt>
                  <c:pt idx="3">
                    <c:v>150</c:v>
                  </c:pt>
                  <c:pt idx="4">
                    <c:v>200</c:v>
                  </c:pt>
                  <c:pt idx="5">
                    <c:v>250</c:v>
                  </c:pt>
                  <c:pt idx="6">
                    <c:v>300</c:v>
                  </c:pt>
                  <c:pt idx="7">
                    <c:v>350</c:v>
                  </c:pt>
                  <c:pt idx="8">
                    <c:v>400</c:v>
                  </c:pt>
                </c:lvl>
              </c:multiLvlStrCache>
            </c:multiLvlStrRef>
          </c:cat>
          <c:val>
            <c:numRef>
              <c:f>Sheet1!$C$2:$C$10</c:f>
              <c:numCache>
                <c:formatCode>General</c:formatCode>
                <c:ptCount val="9"/>
                <c:pt idx="0">
                  <c:v>20</c:v>
                </c:pt>
                <c:pt idx="1">
                  <c:v>20</c:v>
                </c:pt>
                <c:pt idx="2">
                  <c:v>20.1</c:v>
                </c:pt>
                <c:pt idx="3">
                  <c:v>20.1</c:v>
                </c:pt>
                <c:pt idx="4">
                  <c:v>20.1</c:v>
                </c:pt>
                <c:pt idx="5">
                  <c:v>20.1</c:v>
                </c:pt>
                <c:pt idx="6">
                  <c:v>20.2</c:v>
                </c:pt>
                <c:pt idx="7">
                  <c:v>20.2</c:v>
                </c:pt>
                <c:pt idx="8">
                  <c:v>20.2</c:v>
                </c:pt>
              </c:numCache>
            </c:numRef>
          </c:val>
          <c:smooth val="0"/>
        </c:ser>
        <c:ser>
          <c:idx val="2"/>
          <c:order val="2"/>
          <c:tx>
            <c:strRef>
              <c:f>Sheet1!$D$1</c:f>
              <c:strCache>
                <c:ptCount val="1"/>
                <c:pt idx="0">
                  <c:v>RFoF, Lc = 40 dB (assumed)</c:v>
                </c:pt>
              </c:strCache>
            </c:strRef>
          </c:tx>
          <c:spPr>
            <a:solidFill>
              <a:srgbClr val="7C93B5"/>
            </a:solidFill>
            <a:ln w="25400" cap="flat">
              <a:solidFill>
                <a:srgbClr val="7C93B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C93B5"/>
              </a:solidFill>
              <a:ln w="9525" cap="flat">
                <a:solidFill>
                  <a:srgbClr val="7C93B5"/>
                </a:solidFill>
                <a:prstDash val="solid"/>
                <a:round/>
              </a:ln>
              <a:effectLst/>
            </c:spPr>
          </c:marker>
          <c:cat>
            <c:multiLvlStrRef>
              <c:f>Sheet1!$A$2:$A$10</c:f>
              <c:multiLvlStrCache>
                <c:ptCount val="9"/>
                <c:lvl>
                  <c:pt idx="0">
                    <c:v>0</c:v>
                  </c:pt>
                  <c:pt idx="1">
                    <c:v>50</c:v>
                  </c:pt>
                  <c:pt idx="2">
                    <c:v>100</c:v>
                  </c:pt>
                  <c:pt idx="3">
                    <c:v>150</c:v>
                  </c:pt>
                  <c:pt idx="4">
                    <c:v>200</c:v>
                  </c:pt>
                  <c:pt idx="5">
                    <c:v>250</c:v>
                  </c:pt>
                  <c:pt idx="6">
                    <c:v>300</c:v>
                  </c:pt>
                  <c:pt idx="7">
                    <c:v>350</c:v>
                  </c:pt>
                  <c:pt idx="8">
                    <c:v>400</c:v>
                  </c:pt>
                </c:lvl>
              </c:multiLvlStrCache>
            </c:multiLvlStrRef>
          </c:cat>
          <c:val>
            <c:numRef>
              <c:f>Sheet1!$D$2:$D$10</c:f>
              <c:numCache>
                <c:formatCode>General</c:formatCode>
                <c:ptCount val="9"/>
                <c:pt idx="0">
                  <c:v>40</c:v>
                </c:pt>
                <c:pt idx="1">
                  <c:v>40</c:v>
                </c:pt>
                <c:pt idx="2">
                  <c:v>40.1</c:v>
                </c:pt>
                <c:pt idx="3">
                  <c:v>40.1</c:v>
                </c:pt>
                <c:pt idx="4">
                  <c:v>40.1</c:v>
                </c:pt>
                <c:pt idx="5">
                  <c:v>40.1</c:v>
                </c:pt>
                <c:pt idx="6">
                  <c:v>40.2</c:v>
                </c:pt>
                <c:pt idx="7">
                  <c:v>40.2</c:v>
                </c:pt>
                <c:pt idx="8">
                  <c:v>40.2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F6670"/>
                    </a:solidFill>
                    <a:latin typeface="Arial"/>
                  </a:defRPr>
                </a:pPr>
                <a:r>
                  <a:rPr sz="1100" b="0" i="0" u="none" strike="noStrike">
                    <a:solidFill>
                      <a:srgbClr val="5F6670"/>
                    </a:solidFill>
                    <a:latin typeface="Arial"/>
                  </a:rPr>
                  <a:t>Link length (m)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670"/>
                </a:solidFill>
                <a:latin typeface="Calibri"/>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6350" cap="flat">
              <a:solidFill>
                <a:srgbClr val="E3E7ED"/>
              </a:solidFill>
              <a:prstDash val="solid"/>
              <a:round/>
            </a:ln>
          </c:spPr>
        </c:majorGridlines>
        <c:title>
          <c:tx>
            <c:rich>
              <a:bodyPr/>
              <a:lstStyle/>
              <a:p>
                <a:pPr>
                  <a:defRPr sz="1100" b="0" i="0" u="none" strike="noStrike">
                    <a:solidFill>
                      <a:srgbClr val="5F6670"/>
                    </a:solidFill>
                    <a:latin typeface="Arial"/>
                  </a:defRPr>
                </a:pPr>
                <a:r>
                  <a:rPr sz="1100" b="0" i="0" u="none" strike="noStrike">
                    <a:solidFill>
                      <a:srgbClr val="5F6670"/>
                    </a:solidFill>
                    <a:latin typeface="Arial"/>
                  </a:rPr>
                  <a:t>RF loss (dB)</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670"/>
                </a:solidFill>
                <a:latin typeface="Calibri"/>
              </a:defRPr>
            </a:pPr>
            <a:endParaRPr lang="en-US"/>
          </a:p>
        </c:txPr>
        <c:crossAx val="2094734554"/>
        <c:crosses val="autoZero"/>
        <c:crossBetween val="between"/>
        <c:majorUnit val="10"/>
      </c:valAx>
      <c:spPr>
        <a:noFill/>
        <a:ln>
          <a:noFill/>
        </a:ln>
        <a:effectLst/>
      </c:spPr>
    </c:plotArea>
    <c:legend>
      <c:legendPos val="b"/>
      <c:overlay val="0"/>
      <c:txPr>
        <a:bodyPr/>
        <a:lstStyle/>
        <a:p>
          <a:pPr>
            <a:defRPr sz="1100">
              <a:solidFill>
                <a:srgbClr val="1A1A1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3A5F"/>
                </a:solidFill>
                <a:latin typeface="Calibri"/>
              </a:defRPr>
            </a:pPr>
            <a:r>
              <a:rPr sz="1200" b="0" i="0" u="none" strike="noStrike">
                <a:solidFill>
                  <a:srgbClr val="1F3A5F"/>
                </a:solidFill>
                <a:latin typeface="Calibri"/>
              </a:rPr>
              <a:t>Higher value = lower BER</a:t>
            </a:r>
          </a:p>
        </c:rich>
      </c:tx>
      <c:layout/>
      <c:overlay val="0"/>
    </c:title>
    <c:autoTitleDeleted val="0"/>
    <c:plotArea>
      <c:layout/>
      <c:lineChart>
        <c:varyColors val="0"/>
        <c:ser>
          <c:idx val="0"/>
          <c:order val="0"/>
          <c:tx>
            <c:strRef>
              <c:f>Sheet1!$B$1</c:f>
              <c:strCache>
                <c:ptCount val="1"/>
                <c:pt idx="0">
                  <c:v>−log10(BER)</c:v>
                </c:pt>
              </c:strCache>
            </c:strRef>
          </c:tx>
          <c:spPr>
            <a:solidFill>
              <a:srgbClr val="1F3A5F"/>
            </a:solidFill>
            <a:ln w="25400" cap="flat">
              <a:solidFill>
                <a:srgbClr val="1F3A5F"/>
              </a:solidFill>
              <a:prstDash val="solid"/>
              <a:round/>
            </a:ln>
            <a:effectLst/>
          </c:spPr>
          <c:invertIfNegative val="0"/>
          <c:dLbls>
            <c:numFmt formatCode="0.0" sourceLinked="0"/>
            <c:txPr>
              <a:bodyPr/>
              <a:lstStyle/>
              <a:p>
                <a:pPr>
                  <a:defRPr b="0" i="0" strike="noStrike" sz="1000" u="none">
                    <a:solidFill>
                      <a:srgbClr val="1A1A1A"/>
                    </a:solidFill>
                    <a:latin typeface="Calibri"/>
                  </a:defRPr>
                </a:pPr>
              </a:p>
            </c:txPr>
            <c:dLblPos val="t"/>
            <c:showLegendKey val="0"/>
            <c:showVal val="1"/>
            <c:showCatName val="0"/>
            <c:showSerName val="0"/>
            <c:showPercent val="0"/>
            <c:showBubbleSize val="0"/>
            <c:showLeaderLines val="0"/>
          </c:dLbls>
          <c:marker>
            <c:symbol val="circle"/>
            <c:size val="7"/>
            <c:spPr>
              <a:solidFill>
                <a:srgbClr val="1F3A5F"/>
              </a:solidFill>
              <a:ln w="9525" cap="flat">
                <a:solidFill>
                  <a:srgbClr val="1F3A5F"/>
                </a:solidFill>
                <a:prstDash val="solid"/>
                <a:round/>
              </a:ln>
              <a:effectLst/>
            </c:spPr>
          </c:marker>
          <c:cat>
            <c:multiLvlStrRef>
              <c:f>Sheet1!$A$2:$A$8</c:f>
              <c:multiLvlStrCache>
                <c:ptCount val="7"/>
                <c:lvl>
                  <c:pt idx="0">
                    <c:v>0</c:v>
                  </c:pt>
                  <c:pt idx="1">
                    <c:v>5</c:v>
                  </c:pt>
                  <c:pt idx="2">
                    <c:v>10</c:v>
                  </c:pt>
                  <c:pt idx="3">
                    <c:v>15</c:v>
                  </c:pt>
                  <c:pt idx="4">
                    <c:v>20</c:v>
                  </c:pt>
                  <c:pt idx="5">
                    <c:v>25</c:v>
                  </c:pt>
                  <c:pt idx="6">
                    <c:v>30</c:v>
                  </c:pt>
                </c:lvl>
              </c:multiLvlStrCache>
            </c:multiLvlStrRef>
          </c:cat>
          <c:val>
            <c:numRef>
              <c:f>Sheet1!$B$2:$B$8</c:f>
              <c:numCache>
                <c:formatCode>General</c:formatCode>
                <c:ptCount val="7"/>
                <c:pt idx="0">
                  <c:v>2</c:v>
                </c:pt>
                <c:pt idx="1">
                  <c:v>3</c:v>
                </c:pt>
                <c:pt idx="2">
                  <c:v>3.5</c:v>
                </c:pt>
                <c:pt idx="3">
                  <c:v>3.5</c:v>
                </c:pt>
                <c:pt idx="4">
                  <c:v>4.3</c:v>
                </c:pt>
                <c:pt idx="5">
                  <c:v>4.4</c:v>
                </c:pt>
                <c:pt idx="6">
                  <c:v>3.3</c:v>
                </c:pt>
              </c:numCache>
            </c:numRef>
          </c:val>
          <c:smooth val="0"/>
        </c:ser>
        <c:dLbls>
          <c:numFmt formatCode="0.0" sourceLinked="0"/>
          <c:txPr>
            <a:bodyPr/>
            <a:lstStyle/>
            <a:p>
              <a:pPr>
                <a:defRPr b="0" i="0" strike="noStrike" sz="1000" u="none">
                  <a:solidFill>
                    <a:srgbClr val="1A1A1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F6670"/>
                    </a:solidFill>
                    <a:latin typeface="Arial"/>
                  </a:defRPr>
                </a:pPr>
                <a:r>
                  <a:rPr sz="1100" b="0" i="0" u="none" strike="noStrike">
                    <a:solidFill>
                      <a:srgbClr val="5F6670"/>
                    </a:solidFill>
                    <a:latin typeface="Arial"/>
                  </a:rPr>
                  <a:t>CSR (dB)</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F6670"/>
                </a:solidFill>
                <a:latin typeface="Calibri"/>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E3E7ED"/>
              </a:solidFill>
              <a:prstDash val="solid"/>
              <a:round/>
            </a:ln>
          </c:spPr>
        </c:majorGridlines>
        <c:title>
          <c:tx>
            <c:rich>
              <a:bodyPr/>
              <a:lstStyle/>
              <a:p>
                <a:pPr>
                  <a:defRPr sz="1100" b="0" i="0" u="none" strike="noStrike">
                    <a:solidFill>
                      <a:srgbClr val="5F6670"/>
                    </a:solidFill>
                    <a:latin typeface="Arial"/>
                  </a:defRPr>
                </a:pPr>
                <a:r>
                  <a:rPr sz="1100" b="0" i="0" u="none" strike="noStrike">
                    <a:solidFill>
                      <a:srgbClr val="5F6670"/>
                    </a:solidFill>
                    <a:latin typeface="Arial"/>
                  </a:rPr>
                  <a:t>−log10(BER)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F6670"/>
                </a:solidFill>
                <a:latin typeface="Calibri"/>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0:20 (Speaker A).
Purpose: state the subject and the division of work between the two speakers.
The strip at the bottom is the scope of the talk in one line: the optical segment between the central radio equipment and the remote antenna unit. Everything that follows is about that segment, its alternatives, and the conditions under which it is the right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(Speaker A).
Logic: start from the engineering need, not from the technology. The need is to distribute one radio signal to many antenna points that are physically far from the radio equipment. Centralization is a design choice with its own reasons (shared power, cooling, maintenance, multi-operator hosting); it is what creates the transport problem.
Point out explicitly that backhaul is out of scope: RoF is not a backhaul technology, and confusing the two is a common error in the source material.
The three alternatives named here are the only ones compared later; microwave point-to-point links are excluded because they serve backhaul, not an antenna feeder.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(Speaker A).
Logic: fix the vocabulary before any claim is made. Every later comparison depends on these distinctions.
Emphasize the boundary: in this talk 'RoF' means an analog waveform on the fiber. Digitized I/Q transport (CPRI) is called digital fronthaul. ITU-T G.Suppl.55 also describes digitized variants, and some papers call CPRI-type links 'digital RoF'; we keep the terms separate to avoid attributing analog properties to digital links and vice versa.
The last line answers a frequent misconception: fiber capacity does not translate into wireless capacity. Users receive what the air interface delivers.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1:45 (Speaker A).
Walk the downlink left to right, then the uplink right to left. Stop at each conversion point.
Four optoelectronic conversions exist in a bidirectional link: two at each end. Each adds noise and distortion; this is why RoF link performance is not the same as fiber attenuation.
Square-law detection: the photodiode current is proportional to optical power, and RF power is proportional to current squared. Therefore 1 dB of optical loss costs 2 dB of RF power (Cox, 2004). This is the correct way to translate fiber loss into the RF budget.
WDM is drawn as optional on purpose: a point-to-point link with two fibers is a complete RoF link. WDM only reduces fiber count when several links share a cable.
Downlink and uplink have different requirements: downlink is limited mainly by distortion at high drive levels; uplink by the link noise figure, because received signals are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1:30 (Speaker A).
Logic: place the link in a real deployment so the audience can separate fronthaul from backhaul.
Backhaul is digital and packet-based; it is not affected by the choice of RoF. The RoF link is only the head-end-to-RAU segment.
The head-end combines RF from several operators and bands before E/O conversion. This is what makes the analog link format-transparent, within its bandwidth and dynamic range.
State the topology honestly: a star of point-to-point links. Fiber count can be reduced by WDM or by cascading remote units, but each option has its own cost and limits.
Do not describe the RAU as passive: it contains lasers, photodiodes, amplifiers and a power supply.
Same placement applies to centralized RAN (C-RAN): replace the head-end with a BBU pool and the RAU with an RRH; the link then carries digital fronthaul, not analog RoF.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1:30 (Speaker A). Handover to Speaker B after this slide (target elapsed time ≈ 7:15).
Logic: the functional split decides two opposite quantities: remote-unit complexity and fiber transport requirement.
RFoF: simplest remote downlink chain, but the optoelectronics must operate at the carrier frequency, which becomes difficult and costly at mmWave; dispersion effects also grow with RF frequency.
IFoF: optoelectronics run at a lower frequency; the price is a mixer and a stable LO at every RAU.
Digital fronthaul: robust to fiber impairments because it is digital, but the remote unit is a full radio (RRH) and the bit rate is high. This row is not RoF in the strict sense; it is shown because it is the main alternative.
Analog baseband-over-fiber also appears in research literature (e.g. Electronics 9(11), 1785, 2020); it is listed in the appendix, not used in the main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1:45 (Speaker B).
Logic: replace the original 'fiber loses 0.2 dB/km, coax loses 22 dB/100 m' argument, which compared a cable with a cable and ignored the conversion loss of the RoF link.
Model: coax loss = 0.222 dB/m × L. RoF RF loss = Lc + 2 × 0.25 dB/km × L. The factor 2 is square-law detection.
Lc (RF-to-RF conversion loss of an unamplified link) is device-specific. The 20–40 dB range is an assumption for illustration and must be replaced with the datasheet value of the equipment under evaluation. Cox (2004) treats link gain in detail; do not quote a single number without the device parameters.
Break-even L* = Lc / (0.222 − 0.0005) ≈ 90 m for 20 dB and ≈ 180 m for 40 dB.
Key message: loss alone does not decide. Commercial fiber DAS units include RF gain at both ends, so the decisive metrics are noise figure (uplink), dynamic range (multi-carrier downlink) and power consumption.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1:30 (Speaker B).
Logic: this is the comparison that matters for mobile networks, because digital fronthaul is the incumbent for C-RAN.
CPRI rate, worked: 20 MHz LTE uses 30.72 Msample/s. 30.72 × 2 (I and Q) × 15 bits × 16/15 (control words) × 10/8 (8B/10B line code) = 1228.8 Mb/s, which is CPRI line-rate option 2.
Scaling example (computed with the same formula, no compression, before line coding): 100 MHz NR at 122.88 Msample/s gives 3.93 Gb/s per antenna; 64 antennas give about 252 Gb/s. This scaling is the argument for analog transport or for eCPRI splits.
Fairness: digital fronthaul quality is set by quantization and is independent of fiber length until bit errors appear; analog quality degrades along the link. Analog links also lack bit-level monitoring.
Li et al. (2021) report a modeled case in which A-RoF needs much less fiber bandwidth but exceeds the 3GPP EVM limit for 256-QAM; see appendix A6. Those figures are scenario-specific.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 (Speaker B).
Logic: each benefit is stated with its condition and with what it does not imply. This directly corrects the original slides, which attributed fiber properties to the whole RoF system.
Row 1 connects to slide 7: low fiber attenuation helps only once the link is longer than the break-even length.
Row 3: centralization is real, but the RAU still has active optoelectronics and needs power. 'Simple RAU' is true only relative to an RRH, and only for RFoF.
Row 4: transparency is the main practical reason fiber DAS is used for multi-operator venues. All carriers share one link's dynamic range, so adding carriers reduces per-carrier headroom.
Row 5: cost is site-specific. No general cost claim is made; it requires a bill of materials for a given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1:15 (Speaker B).
Logic: the limitations are physical mechanisms, not general disadvantages.
Noise vs distortion is the central analog trade-off. The figure is the standard spurious-free dynamic range construction: the fundamental rises 1 dB per dB of input, third-order intermodulation rises 3 dB per dB. SFDR is the input range between the noise floor and the point where IMD3 reaches the noise floor. It is illustrative and has no values.
Dispersion: with double-sideband intensity modulation, the two optical sidebands experience different phase shifts in a dispersive fiber; after detection they interfere and the RF power fades at specific frequency-length combinations (Gliese et al., 1996). This is a design constraint at mmWave on 1550 nm, not a reason to avoid RoF at sub-6 GHz over short indoor runs.
Remote power is often underestimated in venue projects; hybrid fiber-copper cables are one documented solution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 (Speaker B).
Logic: one documented deployment, with a clear statement of what the sources do and do not show.
Facts as reported by the vendors: Axell Wireless (June 2014) supplied optical DAS for venues including Maracanã and Mineirão, combined capacity over 141,000, five operators, 2G/3G/4G. RFS (10 June 2014) reported its HYBRIFLEX hybrid fiber and DC power cable at Maracanã, feeding remote radio units, for 2G, 3G, 4G and iDEN.
The PBE Axell case study cited in the original deck names Optical Master Units converting RF to optical; that page could not be retrieved during this review, so treat equipment model names as requiring verification.
Do not claim performance from this case. The sources are vendor press releases; they contain no link budgets, noise figures or capacity measurements. They also do not state whether every subsystem used analog RF transport or digital fronthaul to the remote radios.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 (Speaker B). Then open questions.
Logic: each conclusion is traceable to a slide. If challenged, go back to that slide.
Avoid generalizing beyond the evidence: the break-even length depends on the assumed conversion loss; the deployment case is evidence of feasibility only.
The final row is a decision checklist, not a recommendation: whether RoF is appropriate depends on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appendix slides A1–A8 for detailed answers. Expected questions and bounded answers are in the review report, section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Corrects the original table, which compared cable loss only and omitted the RoF conversion loss Lc.
The coax values at 1 km and 10 km are linear extrapolations; such runs are not built with passive coax. Coax systems over such distances (e.g. HFC cable TV) use in-line amplifiers, so 'no amplifier could recover it' is not a valid statement; the valid statement is that a passive coax feeder is impractical at these lengths.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Redrawn from Electronics 9(11), 1785 (2020), Fig. 3, with downlink and uplink chains separated.
In this figure, BBoF denotes analog baseband over fiber: the RAU needs a modulator, mixer and LO. This differs from digital fronthaul, which carries sampled baseband.
RFoF has no frequency conversion at the RAU but still contains a photodiode, TIA, PA, LNA and a laser diode, plus power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are approximate readings from the published plot, carried over from the original deck. They were not re-checked against the paper during this review: verification required.
Interpretation: at low CSR the optical sidebands are strong relative to the carrier and distortion dominates; at high CSR most optical power is in the unmodulated carrier and the detected signal is weak relative to noise. The optimum is specific to the tested link (10 km SMF plus 3 m wireless).
Note that −log10(BER) ≈ 2 corresponds to BER ≈ 1e-2, above common hard-decision FEC thresholds (≈ 3.8e-3).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Laboratory demonstration, not a deployed system. '6G' is the authors' label for a candidate THz signal.
Mechanism of the 6G branch: the IF2 signal is carried on the optical sideband; a second laser at λ2 is combined, and a uni-travelling-carrier photodiode (UTC-PD) mixes the two optical tones so that the beat frequency falls in the THz range (photonic up-conversion).
Block names follow the published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CPRI calculation uses the specification's sample rates and overheads; check figures before quoting a different configuration.
Li et al. figures were carried over from the original deck; the arXiv full text could not be retrieved during this review. Verify the 40× and 8 % values against the paper before presenting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CPRI and eCPRI are industry specifications, not ITU-T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SolFinder Research video used in the original deck is a secondary source; it is not cited for any technical claim in this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2800" b="1" dirty="0">
                <a:solidFill>
                  <a:srgbClr val="1F3A5F"/>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Radio over Fiber (RoF) · Technical review</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PPENDIX">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algn="l" indent="0" marL="0">
              <a:buNone/>
              <a:defRPr lang="en-US" sz="2800" b="1" dirty="0">
                <a:solidFill>
                  <a:srgbClr val="1F3A5F"/>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Appendix · Reference material, not presented in the 15-minute talk</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10698480" cy="822960"/>
          </a:xfrm>
          <a:prstGeom prst="rect">
            <a:avLst/>
          </a:prstGeom>
          <a:noFill/>
          <a:ln/>
        </p:spPr>
        <p:txBody>
          <a:bodyPr wrap="square" lIns="0" tIns="0" rIns="0" bIns="0" rtlCol="0" anchor="t"/>
          <a:lstStyle/>
          <a:p>
            <a:pPr indent="0" marL="0">
              <a:buNone/>
            </a:pPr>
            <a:r>
              <a:rPr lang="en-US" sz="4000" b="1" dirty="0">
                <a:solidFill>
                  <a:srgbClr val="1F3A5F"/>
                </a:solidFill>
                <a:latin typeface="Calibri" pitchFamily="34" charset="0"/>
                <a:ea typeface="Calibri" pitchFamily="34" charset="-122"/>
                <a:cs typeface="Calibri" pitchFamily="34" charset="-120"/>
              </a:rPr>
              <a:t>Radio over Fiber (RoF)</a:t>
            </a:r>
            <a:endParaRPr lang="en-US" sz="4000" dirty="0"/>
          </a:p>
        </p:txBody>
      </p:sp>
      <p:sp>
        <p:nvSpPr>
          <p:cNvPr id="3" name="Text 1"/>
          <p:cNvSpPr txBox="1"/>
          <p:nvPr/>
        </p:nvSpPr>
        <p:spPr>
          <a:xfrm>
            <a:off x="731520" y="2423160"/>
            <a:ext cx="10698480" cy="822960"/>
          </a:xfrm>
          <a:prstGeom prst="rect">
            <a:avLst/>
          </a:prstGeom>
          <a:noFill/>
          <a:ln/>
        </p:spPr>
        <p:txBody>
          <a:bodyPr wrap="square" lIns="0" tIns="0" rIns="0" bIns="0" rtlCol="0" anchor="t"/>
          <a:lstStyle/>
          <a:p>
            <a:pPr indent="0" marL="0">
              <a:buNone/>
            </a:pPr>
            <a:r>
              <a:rPr lang="en-US" sz="2000" dirty="0">
                <a:solidFill>
                  <a:srgbClr val="1A1A1A"/>
                </a:solidFill>
                <a:latin typeface="Calibri" pitchFamily="34" charset="0"/>
                <a:ea typeface="Calibri" pitchFamily="34" charset="-122"/>
                <a:cs typeface="Calibri" pitchFamily="34" charset="-120"/>
              </a:rPr>
              <a:t>Transport of radio waveforms over optical fiber: signal path, architectures, alternatives and limits</a:t>
            </a:r>
            <a:endParaRPr lang="en-US" sz="2000" dirty="0"/>
          </a:p>
        </p:txBody>
      </p:sp>
      <p:sp>
        <p:nvSpPr>
          <p:cNvPr id="4" name="Text 2"/>
          <p:cNvSpPr txBox="1"/>
          <p:nvPr/>
        </p:nvSpPr>
        <p:spPr>
          <a:xfrm>
            <a:off x="731520" y="3429000"/>
            <a:ext cx="10698480" cy="914400"/>
          </a:xfrm>
          <a:prstGeom prst="rect">
            <a:avLst/>
          </a:prstGeom>
          <a:noFill/>
          <a:ln/>
        </p:spPr>
        <p:txBody>
          <a:bodyPr wrap="square" lIns="0" tIns="0" rIns="0" bIns="0" rtlCol="0" anchor="t"/>
          <a:lstStyle/>
          <a:p>
            <a:pPr indent="0" marL="0">
              <a:spcAft>
                <a:spcPts val="400"/>
              </a:spcAft>
              <a:buNone/>
            </a:pPr>
            <a:r>
              <a:rPr lang="en-US" sz="1400" dirty="0">
                <a:solidFill>
                  <a:srgbClr val="5F6670"/>
                </a:solidFill>
                <a:latin typeface="Calibri" pitchFamily="34" charset="0"/>
                <a:ea typeface="Calibri" pitchFamily="34" charset="-122"/>
                <a:cs typeface="Calibri" pitchFamily="34" charset="-120"/>
              </a:rPr>
              <a:t>Technical review · 15 minutes · two speakers</a:t>
            </a:r>
            <a:endParaRPr lang="en-US" sz="1400" dirty="0"/>
          </a:p>
          <a:p>
            <a:pPr indent="0" marL="0">
              <a:spcAft>
                <a:spcPts val="400"/>
              </a:spcAft>
              <a:buNone/>
            </a:pPr>
            <a:r>
              <a:rPr lang="en-US" sz="1400" dirty="0">
                <a:solidFill>
                  <a:srgbClr val="5F6670"/>
                </a:solidFill>
                <a:latin typeface="Calibri" pitchFamily="34" charset="0"/>
                <a:ea typeface="Calibri" pitchFamily="34" charset="-122"/>
                <a:cs typeface="Calibri" pitchFamily="34" charset="-120"/>
              </a:rPr>
              <a:t>Speaker A: problem, definition, signal path, architectures, RoF types</a:t>
            </a:r>
            <a:endParaRPr lang="en-US" sz="1400" dirty="0"/>
          </a:p>
          <a:p>
            <a:pPr indent="0" marL="0">
              <a:spcAft>
                <a:spcPts val="400"/>
              </a:spcAft>
              <a:buNone/>
            </a:pPr>
            <a:r>
              <a:rPr lang="en-US" sz="1400" dirty="0">
                <a:solidFill>
                  <a:srgbClr val="5F6670"/>
                </a:solidFill>
                <a:latin typeface="Calibri" pitchFamily="34" charset="0"/>
                <a:ea typeface="Calibri" pitchFamily="34" charset="-122"/>
                <a:cs typeface="Calibri" pitchFamily="34" charset="-120"/>
              </a:rPr>
              <a:t>Speaker B: comparisons, benefits and conditions, limitations, case, conclusions</a:t>
            </a:r>
            <a:endParaRPr lang="en-US" sz="1400" dirty="0"/>
          </a:p>
        </p:txBody>
      </p:sp>
      <p:sp>
        <p:nvSpPr>
          <p:cNvPr id="5" name="Shape 3"/>
          <p:cNvSpPr/>
          <p:nvPr/>
        </p:nvSpPr>
        <p:spPr>
          <a:xfrm>
            <a:off x="731520" y="4983480"/>
            <a:ext cx="2011680" cy="548640"/>
          </a:xfrm>
          <a:prstGeom prst="rect">
            <a:avLst/>
          </a:prstGeom>
          <a:solidFill>
            <a:srgbClr val="FFFFFF"/>
          </a:solidFill>
          <a:ln w="12700">
            <a:solidFill>
              <a:srgbClr val="AEB6C2"/>
            </a:solidFill>
            <a:prstDash val="solid"/>
          </a:ln>
        </p:spPr>
      </p:sp>
      <p:sp>
        <p:nvSpPr>
          <p:cNvPr id="6" name="Text 4"/>
          <p:cNvSpPr txBox="1"/>
          <p:nvPr/>
        </p:nvSpPr>
        <p:spPr>
          <a:xfrm>
            <a:off x="731520" y="4983480"/>
            <a:ext cx="2011680" cy="54864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Central radio equipment</a:t>
            </a:r>
            <a:endParaRPr lang="en-US" sz="1100" dirty="0"/>
          </a:p>
        </p:txBody>
      </p:sp>
      <p:sp>
        <p:nvSpPr>
          <p:cNvPr id="7" name="Shape 5"/>
          <p:cNvSpPr/>
          <p:nvPr/>
        </p:nvSpPr>
        <p:spPr>
          <a:xfrm>
            <a:off x="2743200" y="5257800"/>
            <a:ext cx="457200" cy="0"/>
          </a:xfrm>
          <a:prstGeom prst="line">
            <a:avLst/>
          </a:prstGeom>
          <a:noFill/>
          <a:ln w="15875">
            <a:solidFill>
              <a:srgbClr val="1A1A1A"/>
            </a:solidFill>
            <a:prstDash val="solid"/>
            <a:tailEnd type="triangle"/>
          </a:ln>
        </p:spPr>
      </p:sp>
      <p:sp>
        <p:nvSpPr>
          <p:cNvPr id="8" name="Shape 6"/>
          <p:cNvSpPr/>
          <p:nvPr/>
        </p:nvSpPr>
        <p:spPr>
          <a:xfrm>
            <a:off x="3200400" y="4983480"/>
            <a:ext cx="731520" cy="548640"/>
          </a:xfrm>
          <a:prstGeom prst="rect">
            <a:avLst/>
          </a:prstGeom>
          <a:solidFill>
            <a:srgbClr val="DCE6F2"/>
          </a:solidFill>
          <a:ln w="12700">
            <a:solidFill>
              <a:srgbClr val="AEB6C2"/>
            </a:solidFill>
            <a:prstDash val="solid"/>
          </a:ln>
        </p:spPr>
      </p:sp>
      <p:sp>
        <p:nvSpPr>
          <p:cNvPr id="9" name="Text 7"/>
          <p:cNvSpPr txBox="1"/>
          <p:nvPr/>
        </p:nvSpPr>
        <p:spPr>
          <a:xfrm>
            <a:off x="3200400" y="4983480"/>
            <a:ext cx="731520" cy="54864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E/O</a:t>
            </a:r>
            <a:endParaRPr lang="en-US" sz="1100" dirty="0"/>
          </a:p>
        </p:txBody>
      </p:sp>
      <p:sp>
        <p:nvSpPr>
          <p:cNvPr id="10" name="Shape 8"/>
          <p:cNvSpPr/>
          <p:nvPr/>
        </p:nvSpPr>
        <p:spPr>
          <a:xfrm>
            <a:off x="3931920" y="5257800"/>
            <a:ext cx="3291840" cy="0"/>
          </a:xfrm>
          <a:prstGeom prst="line">
            <a:avLst/>
          </a:prstGeom>
          <a:noFill/>
          <a:ln w="38100">
            <a:solidFill>
              <a:srgbClr val="1F3A5F"/>
            </a:solidFill>
            <a:prstDash val="solid"/>
            <a:tailEnd type="triangle"/>
          </a:ln>
        </p:spPr>
      </p:sp>
      <p:sp>
        <p:nvSpPr>
          <p:cNvPr id="11" name="Text 9"/>
          <p:cNvSpPr txBox="1"/>
          <p:nvPr/>
        </p:nvSpPr>
        <p:spPr>
          <a:xfrm>
            <a:off x="3931920" y="4965192"/>
            <a:ext cx="3291840" cy="246888"/>
          </a:xfrm>
          <a:prstGeom prst="rect">
            <a:avLst/>
          </a:prstGeom>
          <a:noFill/>
          <a:ln/>
        </p:spPr>
        <p:txBody>
          <a:bodyPr wrap="square" lIns="0" tIns="0" rIns="0" bIns="0" rtlCol="0" anchor="b"/>
          <a:lstStyle/>
          <a:p>
            <a:pPr algn="ctr" indent="0" marL="0">
              <a:buNone/>
            </a:pPr>
            <a:r>
              <a:rPr lang="en-US" sz="1000" i="1" dirty="0">
                <a:solidFill>
                  <a:srgbClr val="1F3A5F"/>
                </a:solidFill>
                <a:latin typeface="Calibri" pitchFamily="34" charset="0"/>
                <a:ea typeface="Calibri" pitchFamily="34" charset="-122"/>
                <a:cs typeface="Calibri" pitchFamily="34" charset="-120"/>
              </a:rPr>
              <a:t>Optical fiber: analog radio waveform</a:t>
            </a:r>
            <a:endParaRPr lang="en-US" sz="1000" dirty="0"/>
          </a:p>
        </p:txBody>
      </p:sp>
      <p:sp>
        <p:nvSpPr>
          <p:cNvPr id="12" name="Shape 10"/>
          <p:cNvSpPr/>
          <p:nvPr/>
        </p:nvSpPr>
        <p:spPr>
          <a:xfrm>
            <a:off x="7223760" y="4983480"/>
            <a:ext cx="731520" cy="548640"/>
          </a:xfrm>
          <a:prstGeom prst="rect">
            <a:avLst/>
          </a:prstGeom>
          <a:solidFill>
            <a:srgbClr val="DCE6F2"/>
          </a:solidFill>
          <a:ln w="12700">
            <a:solidFill>
              <a:srgbClr val="AEB6C2"/>
            </a:solidFill>
            <a:prstDash val="solid"/>
          </a:ln>
        </p:spPr>
      </p:sp>
      <p:sp>
        <p:nvSpPr>
          <p:cNvPr id="13" name="Text 11"/>
          <p:cNvSpPr txBox="1"/>
          <p:nvPr/>
        </p:nvSpPr>
        <p:spPr>
          <a:xfrm>
            <a:off x="7223760" y="4983480"/>
            <a:ext cx="731520" cy="54864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O/E</a:t>
            </a:r>
            <a:endParaRPr lang="en-US" sz="1100" dirty="0"/>
          </a:p>
        </p:txBody>
      </p:sp>
      <p:sp>
        <p:nvSpPr>
          <p:cNvPr id="14" name="Shape 12"/>
          <p:cNvSpPr/>
          <p:nvPr/>
        </p:nvSpPr>
        <p:spPr>
          <a:xfrm>
            <a:off x="7955280" y="5257800"/>
            <a:ext cx="457200" cy="0"/>
          </a:xfrm>
          <a:prstGeom prst="line">
            <a:avLst/>
          </a:prstGeom>
          <a:noFill/>
          <a:ln w="15875">
            <a:solidFill>
              <a:srgbClr val="1A1A1A"/>
            </a:solidFill>
            <a:prstDash val="solid"/>
            <a:tailEnd type="triangle"/>
          </a:ln>
        </p:spPr>
      </p:sp>
      <p:sp>
        <p:nvSpPr>
          <p:cNvPr id="15" name="Shape 13"/>
          <p:cNvSpPr/>
          <p:nvPr/>
        </p:nvSpPr>
        <p:spPr>
          <a:xfrm>
            <a:off x="8412480" y="4983480"/>
            <a:ext cx="1554480" cy="548640"/>
          </a:xfrm>
          <a:prstGeom prst="rect">
            <a:avLst/>
          </a:prstGeom>
          <a:solidFill>
            <a:srgbClr val="FFFFFF"/>
          </a:solidFill>
          <a:ln w="12700">
            <a:solidFill>
              <a:srgbClr val="AEB6C2"/>
            </a:solidFill>
            <a:prstDash val="solid"/>
          </a:ln>
        </p:spPr>
      </p:sp>
      <p:sp>
        <p:nvSpPr>
          <p:cNvPr id="16" name="Text 14"/>
          <p:cNvSpPr txBox="1"/>
          <p:nvPr/>
        </p:nvSpPr>
        <p:spPr>
          <a:xfrm>
            <a:off x="8412480" y="4983480"/>
            <a:ext cx="1554480" cy="54864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Remote antenna unit</a:t>
            </a:r>
            <a:endParaRPr lang="en-US" sz="1100" dirty="0"/>
          </a:p>
        </p:txBody>
      </p:sp>
      <p:sp>
        <p:nvSpPr>
          <p:cNvPr id="17" name="Shape 15"/>
          <p:cNvSpPr/>
          <p:nvPr/>
        </p:nvSpPr>
        <p:spPr>
          <a:xfrm>
            <a:off x="9966960" y="5257800"/>
            <a:ext cx="228600" cy="0"/>
          </a:xfrm>
          <a:prstGeom prst="line">
            <a:avLst/>
          </a:prstGeom>
          <a:noFill/>
          <a:ln w="15875">
            <a:solidFill>
              <a:srgbClr val="1A1A1A"/>
            </a:solidFill>
            <a:prstDash val="solid"/>
          </a:ln>
        </p:spPr>
      </p:sp>
      <p:sp>
        <p:nvSpPr>
          <p:cNvPr id="18" name="Shape 16"/>
          <p:cNvSpPr/>
          <p:nvPr/>
        </p:nvSpPr>
        <p:spPr>
          <a:xfrm>
            <a:off x="10195560" y="4965192"/>
            <a:ext cx="0" cy="292608"/>
          </a:xfrm>
          <a:prstGeom prst="line">
            <a:avLst/>
          </a:prstGeom>
          <a:noFill/>
          <a:ln w="15875">
            <a:solidFill>
              <a:srgbClr val="1A1A1A"/>
            </a:solidFill>
            <a:prstDash val="solid"/>
          </a:ln>
        </p:spPr>
      </p:sp>
      <p:sp>
        <p:nvSpPr>
          <p:cNvPr id="19" name="Shape 17"/>
          <p:cNvSpPr/>
          <p:nvPr/>
        </p:nvSpPr>
        <p:spPr>
          <a:xfrm flipV="1">
            <a:off x="10076688" y="4800600"/>
            <a:ext cx="237744" cy="182880"/>
          </a:xfrm>
          <a:prstGeom prst="triangle">
            <a:avLst/>
          </a:prstGeom>
          <a:solidFill>
            <a:srgbClr val="FFFFFF"/>
          </a:solidFill>
          <a:ln w="15875">
            <a:solidFill>
              <a:srgbClr val="1A1A1A"/>
            </a:solidFill>
            <a:prstDash val="solid"/>
          </a:ln>
        </p:spPr>
      </p:sp>
      <p:sp>
        <p:nvSpPr>
          <p:cNvPr id="20" name="Shape 18"/>
          <p:cNvSpPr/>
          <p:nvPr/>
        </p:nvSpPr>
        <p:spPr>
          <a:xfrm>
            <a:off x="10424160" y="4983480"/>
            <a:ext cx="548640" cy="0"/>
          </a:xfrm>
          <a:prstGeom prst="line">
            <a:avLst/>
          </a:prstGeom>
          <a:noFill/>
          <a:ln w="19050">
            <a:solidFill>
              <a:srgbClr val="6E7781"/>
            </a:solidFill>
            <a:prstDash val="dash"/>
            <a:tailEnd type="triangle"/>
          </a:ln>
        </p:spPr>
      </p:sp>
      <p:sp>
        <p:nvSpPr>
          <p:cNvPr id="21" name="Shape 19"/>
          <p:cNvSpPr/>
          <p:nvPr/>
        </p:nvSpPr>
        <p:spPr>
          <a:xfrm>
            <a:off x="10972800" y="4754880"/>
            <a:ext cx="640080" cy="457200"/>
          </a:xfrm>
          <a:prstGeom prst="rect">
            <a:avLst/>
          </a:prstGeom>
          <a:solidFill>
            <a:srgbClr val="FFFFFF"/>
          </a:solidFill>
          <a:ln w="12700">
            <a:solidFill>
              <a:srgbClr val="AEB6C2"/>
            </a:solidFill>
            <a:prstDash val="solid"/>
          </a:ln>
        </p:spPr>
      </p:sp>
      <p:sp>
        <p:nvSpPr>
          <p:cNvPr id="22" name="Text 20"/>
          <p:cNvSpPr txBox="1"/>
          <p:nvPr/>
        </p:nvSpPr>
        <p:spPr>
          <a:xfrm>
            <a:off x="10972800" y="4754880"/>
            <a:ext cx="640080" cy="45720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UE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Problem and scope</a:t>
            </a:r>
            <a:endParaRPr lang="en-US" sz="2800" dirty="0"/>
          </a:p>
        </p:txBody>
      </p:sp>
      <p:sp>
        <p:nvSpPr>
          <p:cNvPr id="4" name="Text 1"/>
          <p:cNvSpPr txBox="1"/>
          <p:nvPr/>
        </p:nvSpPr>
        <p:spPr>
          <a:xfrm>
            <a:off x="548640" y="1234440"/>
            <a:ext cx="5486400" cy="3200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Engineering problem</a:t>
            </a:r>
            <a:endParaRPr lang="en-US" sz="1800" dirty="0"/>
          </a:p>
        </p:txBody>
      </p:sp>
      <p:sp>
        <p:nvSpPr>
          <p:cNvPr id="5" name="Text 2"/>
          <p:cNvSpPr txBox="1"/>
          <p:nvPr/>
        </p:nvSpPr>
        <p:spPr>
          <a:xfrm>
            <a:off x="548640" y="1645920"/>
            <a:ext cx="548640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Tunnels, stadiums and large buildings cannot be covered from one antenna site; radio power must be distributed over many antenna points.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Radio equipment is often centralized (equipment room or base-station hotel) to share power, cooling, maintenance and multi-operator access.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Question: how to carry the radio signal between the central equipment and each antenna point, over tens of metres to several kilometres, within a loss, noise, distortion and latency budget.</a:t>
            </a:r>
            <a:endParaRPr lang="en-US" sz="1400" dirty="0"/>
          </a:p>
        </p:txBody>
      </p:sp>
      <p:sp>
        <p:nvSpPr>
          <p:cNvPr id="6" name="Text 3"/>
          <p:cNvSpPr txBox="1"/>
          <p:nvPr/>
        </p:nvSpPr>
        <p:spPr>
          <a:xfrm>
            <a:off x="6400800" y="1234440"/>
            <a:ext cx="5212080" cy="3200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Scope of this talk</a:t>
            </a:r>
            <a:endParaRPr lang="en-US" sz="1800" dirty="0"/>
          </a:p>
        </p:txBody>
      </p:sp>
      <p:sp>
        <p:nvSpPr>
          <p:cNvPr id="7" name="Text 4"/>
          <p:cNvSpPr txBox="1"/>
          <p:nvPr/>
        </p:nvSpPr>
        <p:spPr>
          <a:xfrm>
            <a:off x="6400800" y="1645920"/>
            <a:ext cx="5212080" cy="237744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rgbClr val="1A1A1A"/>
                </a:solidFill>
                <a:latin typeface="Calibri" pitchFamily="34" charset="0"/>
                <a:ea typeface="Calibri" pitchFamily="34" charset="-122"/>
                <a:cs typeface="Calibri" pitchFamily="34" charset="-120"/>
              </a:rPr>
              <a:t>In scope: </a:t>
            </a:r>
            <a:pPr indent="0" marL="0">
              <a:buNone/>
            </a:pPr>
            <a:r>
              <a:rPr lang="en-US" sz="1400" dirty="0">
                <a:solidFill>
                  <a:srgbClr val="1A1A1A"/>
                </a:solidFill>
                <a:latin typeface="Calibri" pitchFamily="34" charset="0"/>
                <a:ea typeface="Calibri" pitchFamily="34" charset="-122"/>
                <a:cs typeface="Calibri" pitchFamily="34" charset="-120"/>
              </a:rPr>
              <a:t>the transport segment between central equipment and remote antenna units (fronthaul or DAS feeder), downlink and uplink.</a:t>
            </a:r>
            <a:endParaRPr lang="en-US" sz="1400" dirty="0"/>
          </a:p>
          <a:p>
            <a:pPr marL="342900" indent="-342900">
              <a:spcAft>
                <a:spcPts val="600"/>
              </a:spcAft>
              <a:buSzPct val="100000"/>
              <a:buChar char="•"/>
            </a:pPr>
            <a:r>
              <a:rPr lang="en-US" sz="1400" b="1" dirty="0">
                <a:solidFill>
                  <a:srgbClr val="1A1A1A"/>
                </a:solidFill>
                <a:latin typeface="Calibri" pitchFamily="34" charset="0"/>
                <a:ea typeface="Calibri" pitchFamily="34" charset="-122"/>
                <a:cs typeface="Calibri" pitchFamily="34" charset="-120"/>
              </a:rPr>
              <a:t>Out of scope: </a:t>
            </a:r>
            <a:pPr indent="0" marL="0">
              <a:buNone/>
            </a:pPr>
            <a:r>
              <a:rPr lang="en-US" sz="1400" dirty="0">
                <a:solidFill>
                  <a:srgbClr val="1A1A1A"/>
                </a:solidFill>
                <a:latin typeface="Calibri" pitchFamily="34" charset="0"/>
                <a:ea typeface="Calibri" pitchFamily="34" charset="-122"/>
                <a:cs typeface="Calibri" pitchFamily="34" charset="-120"/>
              </a:rPr>
              <a:t>backhaul to the core network, air-interface design, spectrum and radio planning.</a:t>
            </a:r>
            <a:endParaRPr lang="en-US" sz="1400" dirty="0"/>
          </a:p>
          <a:p>
            <a:pPr marL="342900" indent="-342900">
              <a:spcAft>
                <a:spcPts val="600"/>
              </a:spcAft>
              <a:buSzPct val="100000"/>
              <a:buChar char="•"/>
            </a:pPr>
            <a:r>
              <a:rPr lang="en-US" sz="1400" b="1" dirty="0">
                <a:solidFill>
                  <a:srgbClr val="1A1A1A"/>
                </a:solidFill>
                <a:latin typeface="Calibri" pitchFamily="34" charset="0"/>
                <a:ea typeface="Calibri" pitchFamily="34" charset="-122"/>
                <a:cs typeface="Calibri" pitchFamily="34" charset="-120"/>
              </a:rPr>
              <a:t>Alternatives compared: </a:t>
            </a:r>
            <a:pPr indent="0" marL="0">
              <a:buNone/>
            </a:pPr>
            <a:r>
              <a:rPr lang="en-US" sz="1400" dirty="0">
                <a:solidFill>
                  <a:srgbClr val="1A1A1A"/>
                </a:solidFill>
                <a:latin typeface="Calibri" pitchFamily="34" charset="0"/>
                <a:ea typeface="Calibri" pitchFamily="34" charset="-122"/>
                <a:cs typeface="Calibri" pitchFamily="34" charset="-120"/>
              </a:rPr>
              <a:t>passive coaxial feeder; digital fronthaul (CPRI / eCPRI).</a:t>
            </a:r>
            <a:endParaRPr lang="en-US" sz="1400" dirty="0"/>
          </a:p>
        </p:txBody>
      </p:sp>
      <p:sp>
        <p:nvSpPr>
          <p:cNvPr id="8" name="Shape 5"/>
          <p:cNvSpPr/>
          <p:nvPr/>
        </p:nvSpPr>
        <p:spPr>
          <a:xfrm>
            <a:off x="4892040" y="4069080"/>
            <a:ext cx="2743200" cy="1508760"/>
          </a:xfrm>
          <a:prstGeom prst="rect">
            <a:avLst/>
          </a:prstGeom>
          <a:solidFill>
            <a:srgbClr val="EEF2F8"/>
          </a:solidFill>
          <a:ln w="12700">
            <a:solidFill>
              <a:srgbClr val="1F3A5F"/>
            </a:solidFill>
            <a:prstDash val="dash"/>
          </a:ln>
        </p:spPr>
      </p:sp>
      <p:sp>
        <p:nvSpPr>
          <p:cNvPr id="9" name="Text 6"/>
          <p:cNvSpPr txBox="1"/>
          <p:nvPr/>
        </p:nvSpPr>
        <p:spPr>
          <a:xfrm>
            <a:off x="4892040" y="4114800"/>
            <a:ext cx="2743200" cy="274320"/>
          </a:xfrm>
          <a:prstGeom prst="rect">
            <a:avLst/>
          </a:prstGeom>
          <a:noFill/>
          <a:ln/>
        </p:spPr>
        <p:txBody>
          <a:bodyPr wrap="square" lIns="0" tIns="0" rIns="0" bIns="0" rtlCol="0" anchor="t"/>
          <a:lstStyle/>
          <a:p>
            <a:pPr algn="ctr" indent="0" marL="0">
              <a:buNone/>
            </a:pPr>
            <a:r>
              <a:rPr lang="en-US" sz="1100" b="1" dirty="0">
                <a:solidFill>
                  <a:srgbClr val="1F3A5F"/>
                </a:solidFill>
                <a:latin typeface="Calibri" pitchFamily="34" charset="0"/>
                <a:ea typeface="Calibri" pitchFamily="34" charset="-122"/>
                <a:cs typeface="Calibri" pitchFamily="34" charset="-120"/>
              </a:rPr>
              <a:t>Transport segment: subject of this talk</a:t>
            </a:r>
            <a:endParaRPr lang="en-US" sz="1100" dirty="0"/>
          </a:p>
        </p:txBody>
      </p:sp>
      <p:sp>
        <p:nvSpPr>
          <p:cNvPr id="10" name="Shape 7"/>
          <p:cNvSpPr/>
          <p:nvPr/>
        </p:nvSpPr>
        <p:spPr>
          <a:xfrm>
            <a:off x="548640" y="4526280"/>
            <a:ext cx="1554480" cy="731520"/>
          </a:xfrm>
          <a:prstGeom prst="rect">
            <a:avLst/>
          </a:prstGeom>
          <a:solidFill>
            <a:srgbClr val="FFFFFF"/>
          </a:solidFill>
          <a:ln w="12700">
            <a:solidFill>
              <a:srgbClr val="AEB6C2"/>
            </a:solidFill>
            <a:prstDash val="solid"/>
          </a:ln>
        </p:spPr>
      </p:sp>
      <p:sp>
        <p:nvSpPr>
          <p:cNvPr id="11" name="Text 8"/>
          <p:cNvSpPr txBox="1"/>
          <p:nvPr/>
        </p:nvSpPr>
        <p:spPr>
          <a:xfrm>
            <a:off x="548640" y="4526280"/>
            <a:ext cx="1554480" cy="73152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Core network</a:t>
            </a:r>
            <a:endParaRPr lang="en-US" sz="1200" dirty="0"/>
          </a:p>
        </p:txBody>
      </p:sp>
      <p:sp>
        <p:nvSpPr>
          <p:cNvPr id="12" name="Shape 9"/>
          <p:cNvSpPr/>
          <p:nvPr/>
        </p:nvSpPr>
        <p:spPr>
          <a:xfrm>
            <a:off x="2103120" y="4892040"/>
            <a:ext cx="1005840" cy="0"/>
          </a:xfrm>
          <a:prstGeom prst="line">
            <a:avLst/>
          </a:prstGeom>
          <a:noFill/>
          <a:ln w="15875">
            <a:solidFill>
              <a:srgbClr val="1A1A1A"/>
            </a:solidFill>
            <a:prstDash val="solid"/>
            <a:tailEnd type="triangle"/>
          </a:ln>
        </p:spPr>
      </p:sp>
      <p:sp>
        <p:nvSpPr>
          <p:cNvPr id="13" name="Text 10"/>
          <p:cNvSpPr txBox="1"/>
          <p:nvPr/>
        </p:nvSpPr>
        <p:spPr>
          <a:xfrm>
            <a:off x="2103120" y="4599432"/>
            <a:ext cx="1005840" cy="246888"/>
          </a:xfrm>
          <a:prstGeom prst="rect">
            <a:avLst/>
          </a:prstGeom>
          <a:noFill/>
          <a:ln/>
        </p:spPr>
        <p:txBody>
          <a:bodyPr wrap="square" lIns="0" tIns="0" rIns="0" bIns="0" rtlCol="0" anchor="b"/>
          <a:lstStyle/>
          <a:p>
            <a:pPr algn="ctr" indent="0" marL="0">
              <a:buNone/>
            </a:pPr>
            <a:r>
              <a:rPr lang="en-US" sz="1000" i="1" dirty="0">
                <a:solidFill>
                  <a:srgbClr val="1A1A1A"/>
                </a:solidFill>
                <a:latin typeface="Calibri" pitchFamily="34" charset="0"/>
                <a:ea typeface="Calibri" pitchFamily="34" charset="-122"/>
                <a:cs typeface="Calibri" pitchFamily="34" charset="-120"/>
              </a:rPr>
              <a:t>Backhaul</a:t>
            </a:r>
            <a:endParaRPr lang="en-US" sz="1000" dirty="0"/>
          </a:p>
        </p:txBody>
      </p:sp>
      <p:sp>
        <p:nvSpPr>
          <p:cNvPr id="14" name="Text 11"/>
          <p:cNvSpPr txBox="1"/>
          <p:nvPr/>
        </p:nvSpPr>
        <p:spPr>
          <a:xfrm>
            <a:off x="2103120" y="4937760"/>
            <a:ext cx="1005840" cy="246888"/>
          </a:xfrm>
          <a:prstGeom prst="rect">
            <a:avLst/>
          </a:prstGeom>
          <a:noFill/>
          <a:ln/>
        </p:spPr>
        <p:txBody>
          <a:bodyPr wrap="square" lIns="0" tIns="0" rIns="0" bIns="0" rtlCol="0" anchor="t"/>
          <a:lstStyle/>
          <a:p>
            <a:pPr algn="ctr" indent="0" marL="0">
              <a:buNone/>
            </a:pPr>
            <a:r>
              <a:rPr lang="en-US" sz="1000" i="1" dirty="0">
                <a:solidFill>
                  <a:srgbClr val="1A1A1A"/>
                </a:solidFill>
                <a:latin typeface="Calibri" pitchFamily="34" charset="0"/>
                <a:ea typeface="Calibri" pitchFamily="34" charset="-122"/>
                <a:cs typeface="Calibri" pitchFamily="34" charset="-120"/>
              </a:rPr>
              <a:t>digital, packet</a:t>
            </a:r>
            <a:endParaRPr lang="en-US" sz="1000" dirty="0"/>
          </a:p>
        </p:txBody>
      </p:sp>
      <p:sp>
        <p:nvSpPr>
          <p:cNvPr id="15" name="Shape 12"/>
          <p:cNvSpPr/>
          <p:nvPr/>
        </p:nvSpPr>
        <p:spPr>
          <a:xfrm>
            <a:off x="3108960" y="4526280"/>
            <a:ext cx="1783080" cy="731520"/>
          </a:xfrm>
          <a:prstGeom prst="rect">
            <a:avLst/>
          </a:prstGeom>
          <a:solidFill>
            <a:srgbClr val="FFFFFF"/>
          </a:solidFill>
          <a:ln w="12700">
            <a:solidFill>
              <a:srgbClr val="AEB6C2"/>
            </a:solidFill>
            <a:prstDash val="solid"/>
          </a:ln>
        </p:spPr>
      </p:sp>
      <p:sp>
        <p:nvSpPr>
          <p:cNvPr id="16" name="Text 13"/>
          <p:cNvSpPr txBox="1"/>
          <p:nvPr/>
        </p:nvSpPr>
        <p:spPr>
          <a:xfrm>
            <a:off x="3108960" y="4526280"/>
            <a:ext cx="1783080"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Central radio equipment (base station / BBU)</a:t>
            </a:r>
            <a:endParaRPr lang="en-US" sz="1100" dirty="0"/>
          </a:p>
        </p:txBody>
      </p:sp>
      <p:sp>
        <p:nvSpPr>
          <p:cNvPr id="17" name="Shape 14"/>
          <p:cNvSpPr/>
          <p:nvPr/>
        </p:nvSpPr>
        <p:spPr>
          <a:xfrm>
            <a:off x="4892040" y="4892040"/>
            <a:ext cx="2743200" cy="0"/>
          </a:xfrm>
          <a:prstGeom prst="line">
            <a:avLst/>
          </a:prstGeom>
          <a:noFill/>
          <a:ln w="15875">
            <a:solidFill>
              <a:srgbClr val="1A1A1A"/>
            </a:solidFill>
            <a:prstDash val="solid"/>
            <a:tailEnd type="triangle"/>
          </a:ln>
        </p:spPr>
      </p:sp>
      <p:sp>
        <p:nvSpPr>
          <p:cNvPr id="18" name="Text 15"/>
          <p:cNvSpPr txBox="1"/>
          <p:nvPr/>
        </p:nvSpPr>
        <p:spPr>
          <a:xfrm>
            <a:off x="4892040" y="4599432"/>
            <a:ext cx="2743200" cy="246888"/>
          </a:xfrm>
          <a:prstGeom prst="rect">
            <a:avLst/>
          </a:prstGeom>
          <a:noFill/>
          <a:ln/>
        </p:spPr>
        <p:txBody>
          <a:bodyPr wrap="square" lIns="0" tIns="0" rIns="0" bIns="0" rtlCol="0" anchor="b"/>
          <a:lstStyle/>
          <a:p>
            <a:pPr algn="ctr" indent="0" marL="0">
              <a:buNone/>
            </a:pPr>
            <a:r>
              <a:rPr lang="en-US" sz="1000" i="1" dirty="0">
                <a:solidFill>
                  <a:srgbClr val="1A1A1A"/>
                </a:solidFill>
                <a:latin typeface="Calibri" pitchFamily="34" charset="0"/>
                <a:ea typeface="Calibri" pitchFamily="34" charset="-122"/>
                <a:cs typeface="Calibri" pitchFamily="34" charset="-120"/>
              </a:rPr>
              <a:t>RF, IF or digital samples</a:t>
            </a:r>
            <a:endParaRPr lang="en-US" sz="1000" dirty="0"/>
          </a:p>
        </p:txBody>
      </p:sp>
      <p:sp>
        <p:nvSpPr>
          <p:cNvPr id="19" name="Text 16"/>
          <p:cNvSpPr txBox="1"/>
          <p:nvPr/>
        </p:nvSpPr>
        <p:spPr>
          <a:xfrm>
            <a:off x="4892040" y="4937760"/>
            <a:ext cx="2743200" cy="246888"/>
          </a:xfrm>
          <a:prstGeom prst="rect">
            <a:avLst/>
          </a:prstGeom>
          <a:noFill/>
          <a:ln/>
        </p:spPr>
        <p:txBody>
          <a:bodyPr wrap="square" lIns="0" tIns="0" rIns="0" bIns="0" rtlCol="0" anchor="t"/>
          <a:lstStyle/>
          <a:p>
            <a:pPr algn="ctr" indent="0" marL="0">
              <a:buNone/>
            </a:pPr>
            <a:r>
              <a:rPr lang="en-US" sz="1000" i="1" dirty="0">
                <a:solidFill>
                  <a:srgbClr val="1A1A1A"/>
                </a:solidFill>
                <a:latin typeface="Calibri" pitchFamily="34" charset="0"/>
                <a:ea typeface="Calibri" pitchFamily="34" charset="-122"/>
                <a:cs typeface="Calibri" pitchFamily="34" charset="-120"/>
              </a:rPr>
              <a:t>depends on transport option</a:t>
            </a:r>
            <a:endParaRPr lang="en-US" sz="1000" dirty="0"/>
          </a:p>
        </p:txBody>
      </p:sp>
      <p:sp>
        <p:nvSpPr>
          <p:cNvPr id="20" name="Shape 17"/>
          <p:cNvSpPr/>
          <p:nvPr/>
        </p:nvSpPr>
        <p:spPr>
          <a:xfrm>
            <a:off x="7635240" y="4526280"/>
            <a:ext cx="1828800" cy="731520"/>
          </a:xfrm>
          <a:prstGeom prst="rect">
            <a:avLst/>
          </a:prstGeom>
          <a:solidFill>
            <a:srgbClr val="FFFFFF"/>
          </a:solidFill>
          <a:ln w="12700">
            <a:solidFill>
              <a:srgbClr val="AEB6C2"/>
            </a:solidFill>
            <a:prstDash val="solid"/>
          </a:ln>
        </p:spPr>
      </p:sp>
      <p:sp>
        <p:nvSpPr>
          <p:cNvPr id="21" name="Text 18"/>
          <p:cNvSpPr txBox="1"/>
          <p:nvPr/>
        </p:nvSpPr>
        <p:spPr>
          <a:xfrm>
            <a:off x="7635240" y="4526280"/>
            <a:ext cx="1828800"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Remote antenna points (× N)</a:t>
            </a:r>
            <a:endParaRPr lang="en-US" sz="1100" dirty="0"/>
          </a:p>
        </p:txBody>
      </p:sp>
      <p:sp>
        <p:nvSpPr>
          <p:cNvPr id="22" name="Shape 19"/>
          <p:cNvSpPr/>
          <p:nvPr/>
        </p:nvSpPr>
        <p:spPr>
          <a:xfrm>
            <a:off x="9692640" y="4553712"/>
            <a:ext cx="0" cy="292608"/>
          </a:xfrm>
          <a:prstGeom prst="line">
            <a:avLst/>
          </a:prstGeom>
          <a:noFill/>
          <a:ln w="15875">
            <a:solidFill>
              <a:srgbClr val="1A1A1A"/>
            </a:solidFill>
            <a:prstDash val="solid"/>
          </a:ln>
        </p:spPr>
      </p:sp>
      <p:sp>
        <p:nvSpPr>
          <p:cNvPr id="23" name="Shape 20"/>
          <p:cNvSpPr/>
          <p:nvPr/>
        </p:nvSpPr>
        <p:spPr>
          <a:xfrm flipV="1">
            <a:off x="9573768" y="4389120"/>
            <a:ext cx="237744" cy="182880"/>
          </a:xfrm>
          <a:prstGeom prst="triangle">
            <a:avLst/>
          </a:prstGeom>
          <a:solidFill>
            <a:srgbClr val="FFFFFF"/>
          </a:solidFill>
          <a:ln w="15875">
            <a:solidFill>
              <a:srgbClr val="1A1A1A"/>
            </a:solidFill>
            <a:prstDash val="solid"/>
          </a:ln>
        </p:spPr>
      </p:sp>
      <p:sp>
        <p:nvSpPr>
          <p:cNvPr id="24" name="Shape 21"/>
          <p:cNvSpPr/>
          <p:nvPr/>
        </p:nvSpPr>
        <p:spPr>
          <a:xfrm>
            <a:off x="9464040" y="4846320"/>
            <a:ext cx="228600" cy="0"/>
          </a:xfrm>
          <a:prstGeom prst="line">
            <a:avLst/>
          </a:prstGeom>
          <a:noFill/>
          <a:ln w="15875">
            <a:solidFill>
              <a:srgbClr val="1A1A1A"/>
            </a:solidFill>
            <a:prstDash val="solid"/>
          </a:ln>
        </p:spPr>
      </p:sp>
      <p:sp>
        <p:nvSpPr>
          <p:cNvPr id="25" name="Shape 22"/>
          <p:cNvSpPr/>
          <p:nvPr/>
        </p:nvSpPr>
        <p:spPr>
          <a:xfrm>
            <a:off x="9921240" y="4572000"/>
            <a:ext cx="822960" cy="0"/>
          </a:xfrm>
          <a:prstGeom prst="line">
            <a:avLst/>
          </a:prstGeom>
          <a:noFill/>
          <a:ln w="19050">
            <a:solidFill>
              <a:srgbClr val="6E7781"/>
            </a:solidFill>
            <a:prstDash val="dash"/>
            <a:tailEnd type="triangle"/>
          </a:ln>
        </p:spPr>
      </p:sp>
      <p:sp>
        <p:nvSpPr>
          <p:cNvPr id="26" name="Text 23"/>
          <p:cNvSpPr txBox="1"/>
          <p:nvPr/>
        </p:nvSpPr>
        <p:spPr>
          <a:xfrm>
            <a:off x="9921240" y="4617720"/>
            <a:ext cx="822960" cy="246888"/>
          </a:xfrm>
          <a:prstGeom prst="rect">
            <a:avLst/>
          </a:prstGeom>
          <a:noFill/>
          <a:ln/>
        </p:spPr>
        <p:txBody>
          <a:bodyPr wrap="square" lIns="0" tIns="0" rIns="0" bIns="0" rtlCol="0" anchor="t"/>
          <a:lstStyle/>
          <a:p>
            <a:pPr algn="ctr" indent="0" marL="0">
              <a:buNone/>
            </a:pPr>
            <a:r>
              <a:rPr lang="en-US" sz="1000" i="1" dirty="0">
                <a:solidFill>
                  <a:srgbClr val="6E7781"/>
                </a:solidFill>
                <a:latin typeface="Calibri" pitchFamily="34" charset="0"/>
                <a:ea typeface="Calibri" pitchFamily="34" charset="-122"/>
                <a:cs typeface="Calibri" pitchFamily="34" charset="-120"/>
              </a:rPr>
              <a:t>Air interface</a:t>
            </a:r>
            <a:endParaRPr lang="en-US" sz="1000" dirty="0"/>
          </a:p>
        </p:txBody>
      </p:sp>
      <p:sp>
        <p:nvSpPr>
          <p:cNvPr id="27" name="Shape 24"/>
          <p:cNvSpPr/>
          <p:nvPr/>
        </p:nvSpPr>
        <p:spPr>
          <a:xfrm>
            <a:off x="10744200" y="4343400"/>
            <a:ext cx="868680" cy="502920"/>
          </a:xfrm>
          <a:prstGeom prst="rect">
            <a:avLst/>
          </a:prstGeom>
          <a:solidFill>
            <a:srgbClr val="FFFFFF"/>
          </a:solidFill>
          <a:ln w="12700">
            <a:solidFill>
              <a:srgbClr val="AEB6C2"/>
            </a:solidFill>
            <a:prstDash val="solid"/>
          </a:ln>
        </p:spPr>
      </p:sp>
      <p:sp>
        <p:nvSpPr>
          <p:cNvPr id="28" name="Text 25"/>
          <p:cNvSpPr txBox="1"/>
          <p:nvPr/>
        </p:nvSpPr>
        <p:spPr>
          <a:xfrm>
            <a:off x="10744200" y="4343400"/>
            <a:ext cx="868680" cy="5029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UE</a:t>
            </a:r>
            <a:endParaRPr lang="en-US" sz="1100" dirty="0"/>
          </a:p>
        </p:txBody>
      </p:sp>
      <p:sp>
        <p:nvSpPr>
          <p:cNvPr id="29" name="Shape 26"/>
          <p:cNvSpPr/>
          <p:nvPr/>
        </p:nvSpPr>
        <p:spPr>
          <a:xfrm>
            <a:off x="548640" y="6016752"/>
            <a:ext cx="457200" cy="0"/>
          </a:xfrm>
          <a:prstGeom prst="line">
            <a:avLst/>
          </a:prstGeom>
          <a:noFill/>
          <a:ln w="15875">
            <a:solidFill>
              <a:srgbClr val="1A1A1A"/>
            </a:solidFill>
            <a:prstDash val="solid"/>
          </a:ln>
        </p:spPr>
      </p:sp>
      <p:sp>
        <p:nvSpPr>
          <p:cNvPr id="30" name="Text 27"/>
          <p:cNvSpPr txBox="1"/>
          <p:nvPr/>
        </p:nvSpPr>
        <p:spPr>
          <a:xfrm>
            <a:off x="1097280" y="589788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Electrical (RF / IF / digital)</a:t>
            </a:r>
            <a:endParaRPr lang="en-US" sz="1000" dirty="0"/>
          </a:p>
        </p:txBody>
      </p:sp>
      <p:sp>
        <p:nvSpPr>
          <p:cNvPr id="31" name="Shape 28"/>
          <p:cNvSpPr/>
          <p:nvPr/>
        </p:nvSpPr>
        <p:spPr>
          <a:xfrm>
            <a:off x="3383280" y="6016752"/>
            <a:ext cx="457200" cy="0"/>
          </a:xfrm>
          <a:prstGeom prst="line">
            <a:avLst/>
          </a:prstGeom>
          <a:noFill/>
          <a:ln w="19050">
            <a:solidFill>
              <a:srgbClr val="6E7781"/>
            </a:solidFill>
            <a:prstDash val="dash"/>
          </a:ln>
        </p:spPr>
      </p:sp>
      <p:sp>
        <p:nvSpPr>
          <p:cNvPr id="32" name="Text 29"/>
          <p:cNvSpPr txBox="1"/>
          <p:nvPr/>
        </p:nvSpPr>
        <p:spPr>
          <a:xfrm>
            <a:off x="3931920" y="589788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Wireless (over the air)</a:t>
            </a:r>
            <a:endParaRPr lang="en-US" sz="1000" dirty="0"/>
          </a:p>
        </p:txBody>
      </p:sp>
      <p:sp>
        <p:nvSpPr>
          <p:cNvPr id="33" name="Text 30"/>
          <p:cNvSpPr txBox="1"/>
          <p:nvPr/>
        </p:nvSpPr>
        <p:spPr>
          <a:xfrm>
            <a:off x="6400800" y="5897880"/>
            <a:ext cx="5212080" cy="237744"/>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Downlink direction shown; uplink is the reverse path.</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Definition: what RoF transports, and what it does not</a:t>
            </a:r>
            <a:endParaRPr lang="en-US" sz="2800" dirty="0"/>
          </a:p>
        </p:txBody>
      </p:sp>
      <p:sp>
        <p:nvSpPr>
          <p:cNvPr id="4" name="Shape 1"/>
          <p:cNvSpPr/>
          <p:nvPr/>
        </p:nvSpPr>
        <p:spPr>
          <a:xfrm>
            <a:off x="548640" y="1188720"/>
            <a:ext cx="11064240" cy="868680"/>
          </a:xfrm>
          <a:prstGeom prst="rect">
            <a:avLst/>
          </a:prstGeom>
          <a:solidFill>
            <a:srgbClr val="F3F5F8"/>
          </a:solidFill>
          <a:ln w="12700">
            <a:solidFill>
              <a:srgbClr val="F3F5F8"/>
            </a:solidFill>
            <a:prstDash val="solid"/>
          </a:ln>
        </p:spPr>
      </p:sp>
      <p:sp>
        <p:nvSpPr>
          <p:cNvPr id="5" name="Text 2"/>
          <p:cNvSpPr txBox="1"/>
          <p:nvPr/>
        </p:nvSpPr>
        <p:spPr>
          <a:xfrm>
            <a:off x="548640" y="1188720"/>
            <a:ext cx="11064240" cy="868680"/>
          </a:xfrm>
          <a:prstGeom prst="rect">
            <a:avLst/>
          </a:prstGeom>
          <a:noFill/>
          <a:ln/>
        </p:spPr>
        <p:txBody>
          <a:bodyPr wrap="square" lIns="127000" tIns="127000" rIns="127000" bIns="127000" rtlCol="0" anchor="ctr"/>
          <a:lstStyle/>
          <a:p>
            <a:pPr algn="l" indent="0" marL="0">
              <a:buNone/>
            </a:pPr>
            <a:r>
              <a:rPr lang="en-US" sz="1500" dirty="0">
                <a:solidFill>
                  <a:srgbClr val="1A1A1A"/>
                </a:solidFill>
                <a:latin typeface="Calibri" pitchFamily="34" charset="0"/>
                <a:ea typeface="Calibri" pitchFamily="34" charset="-122"/>
                <a:cs typeface="Calibri" pitchFamily="34" charset="-120"/>
              </a:rPr>
              <a:t>Radio over Fiber (RoF): an optical link that carries an analog radio waveform, at RF or IF, using electrical-to-optical (E/O) conversion at one end and optical-to-electrical (O/E) conversion at the other. The radio signal is generated and demodulated outside the link.</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2651760"/>
                <a:gridCol w="8412480"/>
              </a:tblGrid>
              <a:tr h="384048">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Meaning used in this talk</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r>
              <a:tr h="38404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RF</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Waveform at the air-interface carrier frequency; radiated after amplification and filtering.</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38404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IF</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Same modulation on a lower carrier; the remote unit needs a mixer and local oscillator (LO) to reach RF.</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38404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Baseband (I/Q)</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Complex envelope centred at 0 Hz; reaching RF needs a DAC and up-conversion. Digital fronthaul carries it as samples.</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38404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Fronthaul / backhaul</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Fronthaul: central baseband or radio site ↔ remote radio or antenna unit. Backhaul: base station ↔ core network.</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38404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Transport vs wireless capacity</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Transport: what the link carries (bit rate, or analog bandwidth and dynamic range). Wireless: user throughput, set by spectrum, SINR, MIMO layers and cell density.</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384048">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Analog RoF vs digital fronthaul</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Analog waveform on fiber, versus serialized digital samples (CPRI) or packets (eCPRI). Some literature calls the latter "digital RoF".</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bl>
          </a:graphicData>
        </a:graphic>
      </p:graphicFrame>
      <p:sp>
        <p:nvSpPr>
          <p:cNvPr id="7" name="Text 3"/>
          <p:cNvSpPr txBox="1"/>
          <p:nvPr/>
        </p:nvSpPr>
        <p:spPr>
          <a:xfrm>
            <a:off x="548640" y="5440680"/>
            <a:ext cx="11064240" cy="320040"/>
          </a:xfrm>
          <a:prstGeom prst="rect">
            <a:avLst/>
          </a:prstGeom>
          <a:noFill/>
          <a:ln/>
        </p:spPr>
        <p:txBody>
          <a:bodyPr wrap="square" lIns="0" tIns="0" rIns="0" bIns="0" rtlCol="0" anchor="t"/>
          <a:lstStyle/>
          <a:p>
            <a:pPr indent="0" marL="0">
              <a:buNone/>
            </a:pPr>
            <a:r>
              <a:rPr lang="en-US" sz="1400" b="1" dirty="0">
                <a:solidFill>
                  <a:srgbClr val="1F3A5F"/>
                </a:solidFill>
                <a:latin typeface="Calibri" pitchFamily="34" charset="0"/>
                <a:ea typeface="Calibri" pitchFamily="34" charset="-122"/>
                <a:cs typeface="Calibri" pitchFamily="34" charset="-120"/>
              </a:rPr>
              <a:t>RoF moves the point where the radio signal is radiated. It does not add spectrum or air-interface capacity.</a:t>
            </a:r>
            <a:endParaRPr lang="en-US" sz="1400" dirty="0"/>
          </a:p>
        </p:txBody>
      </p:sp>
      <p:sp>
        <p:nvSpPr>
          <p:cNvPr id="8" name="Text 4"/>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Sources: ITU-T G.Suppl.55 (10/2025), Radio-over-fibre technologies and their applications; ITU-T G.9803 (2018), Radio over fibre systems; CPRI Specification V7.0 (2015); eCPRI Specification V2.0 (2019).</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End-to-end signal path: downlink and uplink</a:t>
            </a:r>
            <a:endParaRPr lang="en-US" sz="2800" dirty="0"/>
          </a:p>
        </p:txBody>
      </p:sp>
      <p:sp>
        <p:nvSpPr>
          <p:cNvPr id="4" name="Shape 1"/>
          <p:cNvSpPr/>
          <p:nvPr/>
        </p:nvSpPr>
        <p:spPr>
          <a:xfrm>
            <a:off x="548640" y="1234440"/>
            <a:ext cx="3429000" cy="2926080"/>
          </a:xfrm>
          <a:prstGeom prst="rect">
            <a:avLst/>
          </a:prstGeom>
          <a:solidFill>
            <a:srgbClr val="FFFFFF"/>
          </a:solidFill>
          <a:ln w="12700">
            <a:solidFill>
              <a:srgbClr val="5F6670"/>
            </a:solidFill>
            <a:prstDash val="dash"/>
          </a:ln>
        </p:spPr>
      </p:sp>
      <p:sp>
        <p:nvSpPr>
          <p:cNvPr id="5" name="Text 2"/>
          <p:cNvSpPr txBox="1"/>
          <p:nvPr/>
        </p:nvSpPr>
        <p:spPr>
          <a:xfrm>
            <a:off x="640080" y="1280160"/>
            <a:ext cx="3200400" cy="274320"/>
          </a:xfrm>
          <a:prstGeom prst="rect">
            <a:avLst/>
          </a:prstGeom>
          <a:noFill/>
          <a:ln/>
        </p:spPr>
        <p:txBody>
          <a:bodyPr wrap="square" lIns="0" tIns="0" rIns="0" bIns="0" rtlCol="0" anchor="t"/>
          <a:lstStyle/>
          <a:p>
            <a:pPr indent="0" marL="0">
              <a:buNone/>
            </a:pPr>
            <a:r>
              <a:rPr lang="en-US" sz="1200" b="1" dirty="0">
                <a:solidFill>
                  <a:srgbClr val="5F6670"/>
                </a:solidFill>
                <a:latin typeface="Calibri" pitchFamily="34" charset="0"/>
                <a:ea typeface="Calibri" pitchFamily="34" charset="-122"/>
                <a:cs typeface="Calibri" pitchFamily="34" charset="-120"/>
              </a:rPr>
              <a:t>Central site</a:t>
            </a:r>
            <a:endParaRPr lang="en-US" sz="1200" dirty="0"/>
          </a:p>
        </p:txBody>
      </p:sp>
      <p:sp>
        <p:nvSpPr>
          <p:cNvPr id="6" name="Shape 3"/>
          <p:cNvSpPr/>
          <p:nvPr/>
        </p:nvSpPr>
        <p:spPr>
          <a:xfrm>
            <a:off x="6263640" y="1234440"/>
            <a:ext cx="4343400" cy="2926080"/>
          </a:xfrm>
          <a:prstGeom prst="rect">
            <a:avLst/>
          </a:prstGeom>
          <a:solidFill>
            <a:srgbClr val="FFFFFF"/>
          </a:solidFill>
          <a:ln w="12700">
            <a:solidFill>
              <a:srgbClr val="5F6670"/>
            </a:solidFill>
            <a:prstDash val="dash"/>
          </a:ln>
        </p:spPr>
      </p:sp>
      <p:sp>
        <p:nvSpPr>
          <p:cNvPr id="7" name="Text 4"/>
          <p:cNvSpPr txBox="1"/>
          <p:nvPr/>
        </p:nvSpPr>
        <p:spPr>
          <a:xfrm>
            <a:off x="6355080" y="1280160"/>
            <a:ext cx="4114800" cy="274320"/>
          </a:xfrm>
          <a:prstGeom prst="rect">
            <a:avLst/>
          </a:prstGeom>
          <a:noFill/>
          <a:ln/>
        </p:spPr>
        <p:txBody>
          <a:bodyPr wrap="square" lIns="0" tIns="0" rIns="0" bIns="0" rtlCol="0" anchor="t"/>
          <a:lstStyle/>
          <a:p>
            <a:pPr indent="0" marL="0">
              <a:buNone/>
            </a:pPr>
            <a:r>
              <a:rPr lang="en-US" sz="1200" b="1" dirty="0">
                <a:solidFill>
                  <a:srgbClr val="5F6670"/>
                </a:solidFill>
                <a:latin typeface="Calibri" pitchFamily="34" charset="0"/>
                <a:ea typeface="Calibri" pitchFamily="34" charset="-122"/>
                <a:cs typeface="Calibri" pitchFamily="34" charset="-120"/>
              </a:rPr>
              <a:t>Remote antenna unit (RAU)</a:t>
            </a:r>
            <a:endParaRPr lang="en-US" sz="1200" dirty="0"/>
          </a:p>
        </p:txBody>
      </p:sp>
      <p:sp>
        <p:nvSpPr>
          <p:cNvPr id="8" name="Text 5"/>
          <p:cNvSpPr txBox="1"/>
          <p:nvPr/>
        </p:nvSpPr>
        <p:spPr>
          <a:xfrm>
            <a:off x="3977640" y="1280160"/>
            <a:ext cx="2286000" cy="274320"/>
          </a:xfrm>
          <a:prstGeom prst="rect">
            <a:avLst/>
          </a:prstGeom>
          <a:noFill/>
          <a:ln/>
        </p:spPr>
        <p:txBody>
          <a:bodyPr wrap="square" lIns="0" tIns="0" rIns="0" bIns="0" rtlCol="0" anchor="t"/>
          <a:lstStyle/>
          <a:p>
            <a:pPr algn="ctr" indent="0" marL="0">
              <a:buNone/>
            </a:pPr>
            <a:r>
              <a:rPr lang="en-US" sz="1200" b="1" dirty="0">
                <a:solidFill>
                  <a:srgbClr val="1F3A5F"/>
                </a:solidFill>
                <a:latin typeface="Calibri" pitchFamily="34" charset="0"/>
                <a:ea typeface="Calibri" pitchFamily="34" charset="-122"/>
                <a:cs typeface="Calibri" pitchFamily="34" charset="-120"/>
              </a:rPr>
              <a:t>Single-mode fiber, length L</a:t>
            </a:r>
            <a:endParaRPr lang="en-US" sz="1200" dirty="0"/>
          </a:p>
        </p:txBody>
      </p:sp>
      <p:sp>
        <p:nvSpPr>
          <p:cNvPr id="9" name="Text 6"/>
          <p:cNvSpPr txBox="1"/>
          <p:nvPr/>
        </p:nvSpPr>
        <p:spPr>
          <a:xfrm>
            <a:off x="3977640" y="1463040"/>
            <a:ext cx="2286000" cy="228600"/>
          </a:xfrm>
          <a:prstGeom prst="rect">
            <a:avLst/>
          </a:prstGeom>
          <a:noFill/>
          <a:ln/>
        </p:spPr>
        <p:txBody>
          <a:bodyPr wrap="square" lIns="0" tIns="0" rIns="0" bIns="0" rtlCol="0" anchor="t"/>
          <a:lstStyle/>
          <a:p>
            <a:pPr algn="ctr" indent="0" marL="0">
              <a:buNone/>
            </a:pPr>
            <a:r>
              <a:rPr lang="en-US" sz="1100" dirty="0">
                <a:solidFill>
                  <a:srgbClr val="5F6670"/>
                </a:solidFill>
                <a:latin typeface="Calibri" pitchFamily="34" charset="0"/>
                <a:ea typeface="Calibri" pitchFamily="34" charset="-122"/>
                <a:cs typeface="Calibri" pitchFamily="34" charset="-120"/>
              </a:rPr>
              <a:t>Downlink</a:t>
            </a:r>
            <a:endParaRPr lang="en-US" sz="1100" dirty="0"/>
          </a:p>
        </p:txBody>
      </p:sp>
      <p:sp>
        <p:nvSpPr>
          <p:cNvPr id="10" name="Text 7"/>
          <p:cNvSpPr txBox="1"/>
          <p:nvPr/>
        </p:nvSpPr>
        <p:spPr>
          <a:xfrm>
            <a:off x="3977640" y="3904488"/>
            <a:ext cx="2286000" cy="228600"/>
          </a:xfrm>
          <a:prstGeom prst="rect">
            <a:avLst/>
          </a:prstGeom>
          <a:noFill/>
          <a:ln/>
        </p:spPr>
        <p:txBody>
          <a:bodyPr wrap="square" lIns="0" tIns="0" rIns="0" bIns="0" rtlCol="0" anchor="t"/>
          <a:lstStyle/>
          <a:p>
            <a:pPr algn="ctr" indent="0" marL="0">
              <a:buNone/>
            </a:pPr>
            <a:r>
              <a:rPr lang="en-US" sz="1100" dirty="0">
                <a:solidFill>
                  <a:srgbClr val="5F6670"/>
                </a:solidFill>
                <a:latin typeface="Calibri" pitchFamily="34" charset="0"/>
                <a:ea typeface="Calibri" pitchFamily="34" charset="-122"/>
                <a:cs typeface="Calibri" pitchFamily="34" charset="-120"/>
              </a:rPr>
              <a:t>Uplink</a:t>
            </a:r>
            <a:endParaRPr lang="en-US" sz="1100" dirty="0"/>
          </a:p>
        </p:txBody>
      </p:sp>
      <p:sp>
        <p:nvSpPr>
          <p:cNvPr id="11" name="Shape 8"/>
          <p:cNvSpPr/>
          <p:nvPr/>
        </p:nvSpPr>
        <p:spPr>
          <a:xfrm>
            <a:off x="731520" y="1828800"/>
            <a:ext cx="1234440" cy="640080"/>
          </a:xfrm>
          <a:prstGeom prst="rect">
            <a:avLst/>
          </a:prstGeom>
          <a:solidFill>
            <a:srgbClr val="FFFFFF"/>
          </a:solidFill>
          <a:ln w="12700">
            <a:solidFill>
              <a:srgbClr val="AEB6C2"/>
            </a:solidFill>
            <a:prstDash val="solid"/>
          </a:ln>
        </p:spPr>
      </p:sp>
      <p:sp>
        <p:nvSpPr>
          <p:cNvPr id="12" name="Text 9"/>
          <p:cNvSpPr txBox="1"/>
          <p:nvPr/>
        </p:nvSpPr>
        <p:spPr>
          <a:xfrm>
            <a:off x="731520" y="1828800"/>
            <a:ext cx="1234440" cy="6400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Base-station RF port (DL out)</a:t>
            </a:r>
            <a:endParaRPr lang="en-US" sz="1100" dirty="0"/>
          </a:p>
        </p:txBody>
      </p:sp>
      <p:sp>
        <p:nvSpPr>
          <p:cNvPr id="13" name="Shape 10"/>
          <p:cNvSpPr/>
          <p:nvPr/>
        </p:nvSpPr>
        <p:spPr>
          <a:xfrm>
            <a:off x="1965960" y="2148840"/>
            <a:ext cx="457200" cy="0"/>
          </a:xfrm>
          <a:prstGeom prst="line">
            <a:avLst/>
          </a:prstGeom>
          <a:noFill/>
          <a:ln w="15875">
            <a:solidFill>
              <a:srgbClr val="1A1A1A"/>
            </a:solidFill>
            <a:prstDash val="solid"/>
            <a:tailEnd type="triangle"/>
          </a:ln>
        </p:spPr>
      </p:sp>
      <p:sp>
        <p:nvSpPr>
          <p:cNvPr id="14" name="Shape 11"/>
          <p:cNvSpPr/>
          <p:nvPr/>
        </p:nvSpPr>
        <p:spPr>
          <a:xfrm>
            <a:off x="2423160" y="1828800"/>
            <a:ext cx="1371600" cy="640080"/>
          </a:xfrm>
          <a:prstGeom prst="rect">
            <a:avLst/>
          </a:prstGeom>
          <a:solidFill>
            <a:srgbClr val="DCE6F2"/>
          </a:solidFill>
          <a:ln w="12700">
            <a:solidFill>
              <a:srgbClr val="AEB6C2"/>
            </a:solidFill>
            <a:prstDash val="solid"/>
          </a:ln>
        </p:spPr>
      </p:sp>
      <p:sp>
        <p:nvSpPr>
          <p:cNvPr id="15" name="Text 12"/>
          <p:cNvSpPr txBox="1"/>
          <p:nvPr/>
        </p:nvSpPr>
        <p:spPr>
          <a:xfrm>
            <a:off x="2423160" y="1828800"/>
            <a:ext cx="1371600" cy="64008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E/O: laser (direct) or laser + MZM</a:t>
            </a:r>
            <a:endParaRPr lang="en-US" sz="1100" dirty="0"/>
          </a:p>
        </p:txBody>
      </p:sp>
      <p:sp>
        <p:nvSpPr>
          <p:cNvPr id="16" name="Shape 13"/>
          <p:cNvSpPr/>
          <p:nvPr/>
        </p:nvSpPr>
        <p:spPr>
          <a:xfrm>
            <a:off x="3794760" y="2148840"/>
            <a:ext cx="2651760" cy="0"/>
          </a:xfrm>
          <a:prstGeom prst="line">
            <a:avLst/>
          </a:prstGeom>
          <a:noFill/>
          <a:ln w="38100">
            <a:solidFill>
              <a:srgbClr val="1F3A5F"/>
            </a:solidFill>
            <a:prstDash val="solid"/>
            <a:tailEnd type="triangle"/>
          </a:ln>
        </p:spPr>
      </p:sp>
      <p:sp>
        <p:nvSpPr>
          <p:cNvPr id="17" name="Text 14"/>
          <p:cNvSpPr txBox="1"/>
          <p:nvPr/>
        </p:nvSpPr>
        <p:spPr>
          <a:xfrm>
            <a:off x="3794760" y="1856232"/>
            <a:ext cx="2651760" cy="246888"/>
          </a:xfrm>
          <a:prstGeom prst="rect">
            <a:avLst/>
          </a:prstGeom>
          <a:noFill/>
          <a:ln/>
        </p:spPr>
        <p:txBody>
          <a:bodyPr wrap="square" lIns="0" tIns="0" rIns="0" bIns="0" rtlCol="0" anchor="b"/>
          <a:lstStyle/>
          <a:p>
            <a:pPr algn="ctr" indent="0" marL="0">
              <a:buNone/>
            </a:pPr>
            <a:r>
              <a:rPr lang="en-US" sz="1000" i="1" dirty="0">
                <a:solidFill>
                  <a:srgbClr val="1F3A5F"/>
                </a:solidFill>
                <a:latin typeface="Calibri" pitchFamily="34" charset="0"/>
                <a:ea typeface="Calibri" pitchFamily="34" charset="-122"/>
                <a:cs typeface="Calibri" pitchFamily="34" charset="-120"/>
              </a:rPr>
              <a:t>intensity-modulated, λ1</a:t>
            </a:r>
            <a:endParaRPr lang="en-US" sz="1000" dirty="0"/>
          </a:p>
        </p:txBody>
      </p:sp>
      <p:sp>
        <p:nvSpPr>
          <p:cNvPr id="18" name="Shape 15"/>
          <p:cNvSpPr/>
          <p:nvPr/>
        </p:nvSpPr>
        <p:spPr>
          <a:xfrm>
            <a:off x="6446520" y="1828800"/>
            <a:ext cx="960120" cy="640080"/>
          </a:xfrm>
          <a:prstGeom prst="rect">
            <a:avLst/>
          </a:prstGeom>
          <a:solidFill>
            <a:srgbClr val="DCE6F2"/>
          </a:solidFill>
          <a:ln w="12700">
            <a:solidFill>
              <a:srgbClr val="AEB6C2"/>
            </a:solidFill>
            <a:prstDash val="solid"/>
          </a:ln>
        </p:spPr>
      </p:sp>
      <p:sp>
        <p:nvSpPr>
          <p:cNvPr id="19" name="Text 16"/>
          <p:cNvSpPr txBox="1"/>
          <p:nvPr/>
        </p:nvSpPr>
        <p:spPr>
          <a:xfrm>
            <a:off x="6446520" y="1828800"/>
            <a:ext cx="960120" cy="64008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O/E: photodiode</a:t>
            </a:r>
            <a:endParaRPr lang="en-US" sz="1100" dirty="0"/>
          </a:p>
        </p:txBody>
      </p:sp>
      <p:sp>
        <p:nvSpPr>
          <p:cNvPr id="20" name="Shape 17"/>
          <p:cNvSpPr/>
          <p:nvPr/>
        </p:nvSpPr>
        <p:spPr>
          <a:xfrm>
            <a:off x="7406640" y="2148840"/>
            <a:ext cx="274320" cy="0"/>
          </a:xfrm>
          <a:prstGeom prst="line">
            <a:avLst/>
          </a:prstGeom>
          <a:noFill/>
          <a:ln w="15875">
            <a:solidFill>
              <a:srgbClr val="1A1A1A"/>
            </a:solidFill>
            <a:prstDash val="solid"/>
            <a:tailEnd type="triangle"/>
          </a:ln>
        </p:spPr>
      </p:sp>
      <p:sp>
        <p:nvSpPr>
          <p:cNvPr id="21" name="Shape 18"/>
          <p:cNvSpPr/>
          <p:nvPr/>
        </p:nvSpPr>
        <p:spPr>
          <a:xfrm>
            <a:off x="7680960" y="1828800"/>
            <a:ext cx="868680" cy="640080"/>
          </a:xfrm>
          <a:prstGeom prst="rect">
            <a:avLst/>
          </a:prstGeom>
          <a:solidFill>
            <a:srgbClr val="FFFFFF"/>
          </a:solidFill>
          <a:ln w="12700">
            <a:solidFill>
              <a:srgbClr val="AEB6C2"/>
            </a:solidFill>
            <a:prstDash val="solid"/>
          </a:ln>
        </p:spPr>
      </p:sp>
      <p:sp>
        <p:nvSpPr>
          <p:cNvPr id="22" name="Text 19"/>
          <p:cNvSpPr txBox="1"/>
          <p:nvPr/>
        </p:nvSpPr>
        <p:spPr>
          <a:xfrm>
            <a:off x="7680960" y="1828800"/>
            <a:ext cx="868680" cy="6400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Amp + BPF</a:t>
            </a:r>
            <a:endParaRPr lang="en-US" sz="1100" dirty="0"/>
          </a:p>
        </p:txBody>
      </p:sp>
      <p:sp>
        <p:nvSpPr>
          <p:cNvPr id="23" name="Shape 20"/>
          <p:cNvSpPr/>
          <p:nvPr/>
        </p:nvSpPr>
        <p:spPr>
          <a:xfrm>
            <a:off x="8549640" y="2148840"/>
            <a:ext cx="228600" cy="0"/>
          </a:xfrm>
          <a:prstGeom prst="line">
            <a:avLst/>
          </a:prstGeom>
          <a:noFill/>
          <a:ln w="15875">
            <a:solidFill>
              <a:srgbClr val="1A1A1A"/>
            </a:solidFill>
            <a:prstDash val="solid"/>
            <a:tailEnd type="triangle"/>
          </a:ln>
        </p:spPr>
      </p:sp>
      <p:sp>
        <p:nvSpPr>
          <p:cNvPr id="24" name="Shape 21"/>
          <p:cNvSpPr/>
          <p:nvPr/>
        </p:nvSpPr>
        <p:spPr>
          <a:xfrm>
            <a:off x="8778240" y="1828800"/>
            <a:ext cx="594360" cy="640080"/>
          </a:xfrm>
          <a:prstGeom prst="rect">
            <a:avLst/>
          </a:prstGeom>
          <a:solidFill>
            <a:srgbClr val="FFFFFF"/>
          </a:solidFill>
          <a:ln w="12700">
            <a:solidFill>
              <a:srgbClr val="AEB6C2"/>
            </a:solidFill>
            <a:prstDash val="solid"/>
          </a:ln>
        </p:spPr>
      </p:sp>
      <p:sp>
        <p:nvSpPr>
          <p:cNvPr id="25" name="Text 22"/>
          <p:cNvSpPr txBox="1"/>
          <p:nvPr/>
        </p:nvSpPr>
        <p:spPr>
          <a:xfrm>
            <a:off x="8778240" y="1828800"/>
            <a:ext cx="594360" cy="6400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PA</a:t>
            </a:r>
            <a:endParaRPr lang="en-US" sz="1100" dirty="0"/>
          </a:p>
        </p:txBody>
      </p:sp>
      <p:sp>
        <p:nvSpPr>
          <p:cNvPr id="26" name="Shape 23"/>
          <p:cNvSpPr/>
          <p:nvPr/>
        </p:nvSpPr>
        <p:spPr>
          <a:xfrm>
            <a:off x="9372600" y="2148840"/>
            <a:ext cx="320040" cy="0"/>
          </a:xfrm>
          <a:prstGeom prst="line">
            <a:avLst/>
          </a:prstGeom>
          <a:noFill/>
          <a:ln w="15875">
            <a:solidFill>
              <a:srgbClr val="1A1A1A"/>
            </a:solidFill>
            <a:prstDash val="solid"/>
            <a:tailEnd type="triangle"/>
          </a:ln>
        </p:spPr>
      </p:sp>
      <p:sp>
        <p:nvSpPr>
          <p:cNvPr id="27" name="Shape 24"/>
          <p:cNvSpPr/>
          <p:nvPr/>
        </p:nvSpPr>
        <p:spPr>
          <a:xfrm>
            <a:off x="9692640" y="1828800"/>
            <a:ext cx="731520" cy="2011680"/>
          </a:xfrm>
          <a:prstGeom prst="rect">
            <a:avLst/>
          </a:prstGeom>
          <a:solidFill>
            <a:srgbClr val="FFFFFF"/>
          </a:solidFill>
          <a:ln w="12700">
            <a:solidFill>
              <a:srgbClr val="AEB6C2"/>
            </a:solidFill>
            <a:prstDash val="solid"/>
          </a:ln>
        </p:spPr>
      </p:sp>
      <p:sp>
        <p:nvSpPr>
          <p:cNvPr id="28" name="Text 25"/>
          <p:cNvSpPr txBox="1"/>
          <p:nvPr/>
        </p:nvSpPr>
        <p:spPr>
          <a:xfrm>
            <a:off x="9692640" y="1828800"/>
            <a:ext cx="731520" cy="20116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Duplexer</a:t>
            </a:r>
            <a:endParaRPr lang="en-US" sz="1100" dirty="0"/>
          </a:p>
        </p:txBody>
      </p:sp>
      <p:sp>
        <p:nvSpPr>
          <p:cNvPr id="29" name="Shape 26"/>
          <p:cNvSpPr/>
          <p:nvPr/>
        </p:nvSpPr>
        <p:spPr>
          <a:xfrm>
            <a:off x="10424160" y="2834640"/>
            <a:ext cx="411480" cy="0"/>
          </a:xfrm>
          <a:prstGeom prst="line">
            <a:avLst/>
          </a:prstGeom>
          <a:noFill/>
          <a:ln w="15875">
            <a:solidFill>
              <a:srgbClr val="1A1A1A"/>
            </a:solidFill>
            <a:prstDash val="solid"/>
          </a:ln>
        </p:spPr>
      </p:sp>
      <p:sp>
        <p:nvSpPr>
          <p:cNvPr id="30" name="Shape 27"/>
          <p:cNvSpPr/>
          <p:nvPr/>
        </p:nvSpPr>
        <p:spPr>
          <a:xfrm>
            <a:off x="10835640" y="2542032"/>
            <a:ext cx="0" cy="292608"/>
          </a:xfrm>
          <a:prstGeom prst="line">
            <a:avLst/>
          </a:prstGeom>
          <a:noFill/>
          <a:ln w="15875">
            <a:solidFill>
              <a:srgbClr val="1A1A1A"/>
            </a:solidFill>
            <a:prstDash val="solid"/>
          </a:ln>
        </p:spPr>
      </p:sp>
      <p:sp>
        <p:nvSpPr>
          <p:cNvPr id="31" name="Shape 28"/>
          <p:cNvSpPr/>
          <p:nvPr/>
        </p:nvSpPr>
        <p:spPr>
          <a:xfrm flipV="1">
            <a:off x="10716768" y="2377440"/>
            <a:ext cx="237744" cy="182880"/>
          </a:xfrm>
          <a:prstGeom prst="triangle">
            <a:avLst/>
          </a:prstGeom>
          <a:solidFill>
            <a:srgbClr val="FFFFFF"/>
          </a:solidFill>
          <a:ln w="15875">
            <a:solidFill>
              <a:srgbClr val="1A1A1A"/>
            </a:solidFill>
            <a:prstDash val="solid"/>
          </a:ln>
        </p:spPr>
      </p:sp>
      <p:sp>
        <p:nvSpPr>
          <p:cNvPr id="32" name="Shape 29"/>
          <p:cNvSpPr/>
          <p:nvPr/>
        </p:nvSpPr>
        <p:spPr>
          <a:xfrm>
            <a:off x="11018520" y="2103120"/>
            <a:ext cx="548640" cy="0"/>
          </a:xfrm>
          <a:prstGeom prst="line">
            <a:avLst/>
          </a:prstGeom>
          <a:noFill/>
          <a:ln w="19050">
            <a:solidFill>
              <a:srgbClr val="6E7781"/>
            </a:solidFill>
            <a:prstDash val="dash"/>
            <a:headEnd type="triangle"/>
            <a:tailEnd type="triangle"/>
          </a:ln>
        </p:spPr>
      </p:sp>
      <p:sp>
        <p:nvSpPr>
          <p:cNvPr id="33" name="Text 30"/>
          <p:cNvSpPr txBox="1"/>
          <p:nvPr/>
        </p:nvSpPr>
        <p:spPr>
          <a:xfrm>
            <a:off x="10744200" y="1600200"/>
            <a:ext cx="914400" cy="457200"/>
          </a:xfrm>
          <a:prstGeom prst="rect">
            <a:avLst/>
          </a:prstGeom>
          <a:noFill/>
          <a:ln/>
        </p:spPr>
        <p:txBody>
          <a:bodyPr wrap="square" lIns="0" tIns="0" rIns="0" bIns="0" rtlCol="0" anchor="t"/>
          <a:lstStyle/>
          <a:p>
            <a:pPr algn="ctr" indent="0" marL="0">
              <a:buNone/>
            </a:pPr>
            <a:r>
              <a:rPr lang="en-US" sz="900" i="1" dirty="0">
                <a:solidFill>
                  <a:srgbClr val="6E7781"/>
                </a:solidFill>
                <a:latin typeface="Calibri" pitchFamily="34" charset="0"/>
                <a:ea typeface="Calibri" pitchFamily="34" charset="-122"/>
                <a:cs typeface="Calibri" pitchFamily="34" charset="-120"/>
              </a:rPr>
              <a:t>RF over the air to / from UE</a:t>
            </a:r>
            <a:endParaRPr lang="en-US" sz="900" dirty="0"/>
          </a:p>
        </p:txBody>
      </p:sp>
      <p:sp>
        <p:nvSpPr>
          <p:cNvPr id="34" name="Shape 31"/>
          <p:cNvSpPr/>
          <p:nvPr/>
        </p:nvSpPr>
        <p:spPr>
          <a:xfrm flipH="1">
            <a:off x="9372600" y="3520440"/>
            <a:ext cx="320040" cy="0"/>
          </a:xfrm>
          <a:prstGeom prst="line">
            <a:avLst/>
          </a:prstGeom>
          <a:noFill/>
          <a:ln w="15875">
            <a:solidFill>
              <a:srgbClr val="1A1A1A"/>
            </a:solidFill>
            <a:prstDash val="solid"/>
            <a:tailEnd type="triangle"/>
          </a:ln>
        </p:spPr>
      </p:sp>
      <p:sp>
        <p:nvSpPr>
          <p:cNvPr id="35" name="Shape 32"/>
          <p:cNvSpPr/>
          <p:nvPr/>
        </p:nvSpPr>
        <p:spPr>
          <a:xfrm>
            <a:off x="8778240" y="3200400"/>
            <a:ext cx="594360" cy="640080"/>
          </a:xfrm>
          <a:prstGeom prst="rect">
            <a:avLst/>
          </a:prstGeom>
          <a:solidFill>
            <a:srgbClr val="FFFFFF"/>
          </a:solidFill>
          <a:ln w="12700">
            <a:solidFill>
              <a:srgbClr val="AEB6C2"/>
            </a:solidFill>
            <a:prstDash val="solid"/>
          </a:ln>
        </p:spPr>
      </p:sp>
      <p:sp>
        <p:nvSpPr>
          <p:cNvPr id="36" name="Text 33"/>
          <p:cNvSpPr txBox="1"/>
          <p:nvPr/>
        </p:nvSpPr>
        <p:spPr>
          <a:xfrm>
            <a:off x="8778240" y="3200400"/>
            <a:ext cx="594360" cy="6400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LNA</a:t>
            </a:r>
            <a:endParaRPr lang="en-US" sz="1100" dirty="0"/>
          </a:p>
        </p:txBody>
      </p:sp>
      <p:sp>
        <p:nvSpPr>
          <p:cNvPr id="37" name="Shape 34"/>
          <p:cNvSpPr/>
          <p:nvPr/>
        </p:nvSpPr>
        <p:spPr>
          <a:xfrm flipH="1">
            <a:off x="7406640" y="3520440"/>
            <a:ext cx="1371600" cy="0"/>
          </a:xfrm>
          <a:prstGeom prst="line">
            <a:avLst/>
          </a:prstGeom>
          <a:noFill/>
          <a:ln w="15875">
            <a:solidFill>
              <a:srgbClr val="1A1A1A"/>
            </a:solidFill>
            <a:prstDash val="solid"/>
            <a:tailEnd type="triangle"/>
          </a:ln>
        </p:spPr>
      </p:sp>
      <p:sp>
        <p:nvSpPr>
          <p:cNvPr id="38" name="Shape 35"/>
          <p:cNvSpPr/>
          <p:nvPr/>
        </p:nvSpPr>
        <p:spPr>
          <a:xfrm>
            <a:off x="6446520" y="3200400"/>
            <a:ext cx="960120" cy="640080"/>
          </a:xfrm>
          <a:prstGeom prst="rect">
            <a:avLst/>
          </a:prstGeom>
          <a:solidFill>
            <a:srgbClr val="DCE6F2"/>
          </a:solidFill>
          <a:ln w="12700">
            <a:solidFill>
              <a:srgbClr val="AEB6C2"/>
            </a:solidFill>
            <a:prstDash val="solid"/>
          </a:ln>
        </p:spPr>
      </p:sp>
      <p:sp>
        <p:nvSpPr>
          <p:cNvPr id="39" name="Text 36"/>
          <p:cNvSpPr txBox="1"/>
          <p:nvPr/>
        </p:nvSpPr>
        <p:spPr>
          <a:xfrm>
            <a:off x="6446520" y="3200400"/>
            <a:ext cx="960120" cy="64008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E/O: laser diode</a:t>
            </a:r>
            <a:endParaRPr lang="en-US" sz="1100" dirty="0"/>
          </a:p>
        </p:txBody>
      </p:sp>
      <p:sp>
        <p:nvSpPr>
          <p:cNvPr id="40" name="Shape 37"/>
          <p:cNvSpPr/>
          <p:nvPr/>
        </p:nvSpPr>
        <p:spPr>
          <a:xfrm flipH="1">
            <a:off x="3794760" y="3520440"/>
            <a:ext cx="2651760" cy="0"/>
          </a:xfrm>
          <a:prstGeom prst="line">
            <a:avLst/>
          </a:prstGeom>
          <a:noFill/>
          <a:ln w="38100">
            <a:solidFill>
              <a:srgbClr val="1F3A5F"/>
            </a:solidFill>
            <a:prstDash val="solid"/>
            <a:tailEnd type="triangle"/>
          </a:ln>
        </p:spPr>
      </p:sp>
      <p:sp>
        <p:nvSpPr>
          <p:cNvPr id="41" name="Text 38"/>
          <p:cNvSpPr txBox="1"/>
          <p:nvPr/>
        </p:nvSpPr>
        <p:spPr>
          <a:xfrm>
            <a:off x="3794760" y="3227832"/>
            <a:ext cx="2651760" cy="246888"/>
          </a:xfrm>
          <a:prstGeom prst="rect">
            <a:avLst/>
          </a:prstGeom>
          <a:noFill/>
          <a:ln/>
        </p:spPr>
        <p:txBody>
          <a:bodyPr wrap="square" lIns="0" tIns="0" rIns="0" bIns="0" rtlCol="0" anchor="b"/>
          <a:lstStyle/>
          <a:p>
            <a:pPr algn="ctr" indent="0" marL="0">
              <a:buNone/>
            </a:pPr>
            <a:r>
              <a:rPr lang="en-US" sz="1000" i="1" dirty="0">
                <a:solidFill>
                  <a:srgbClr val="1F3A5F"/>
                </a:solidFill>
                <a:latin typeface="Calibri" pitchFamily="34" charset="0"/>
                <a:ea typeface="Calibri" pitchFamily="34" charset="-122"/>
                <a:cs typeface="Calibri" pitchFamily="34" charset="-120"/>
              </a:rPr>
              <a:t>λ2 or second fiber</a:t>
            </a:r>
            <a:endParaRPr lang="en-US" sz="1000" dirty="0"/>
          </a:p>
        </p:txBody>
      </p:sp>
      <p:sp>
        <p:nvSpPr>
          <p:cNvPr id="42" name="Shape 39"/>
          <p:cNvSpPr/>
          <p:nvPr/>
        </p:nvSpPr>
        <p:spPr>
          <a:xfrm>
            <a:off x="2423160" y="3200400"/>
            <a:ext cx="1371600" cy="640080"/>
          </a:xfrm>
          <a:prstGeom prst="rect">
            <a:avLst/>
          </a:prstGeom>
          <a:solidFill>
            <a:srgbClr val="DCE6F2"/>
          </a:solidFill>
          <a:ln w="12700">
            <a:solidFill>
              <a:srgbClr val="AEB6C2"/>
            </a:solidFill>
            <a:prstDash val="solid"/>
          </a:ln>
        </p:spPr>
      </p:sp>
      <p:sp>
        <p:nvSpPr>
          <p:cNvPr id="43" name="Text 40"/>
          <p:cNvSpPr txBox="1"/>
          <p:nvPr/>
        </p:nvSpPr>
        <p:spPr>
          <a:xfrm>
            <a:off x="2423160" y="3200400"/>
            <a:ext cx="1371600" cy="64008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O/E: photodiode + RF amp</a:t>
            </a:r>
            <a:endParaRPr lang="en-US" sz="1100" dirty="0"/>
          </a:p>
        </p:txBody>
      </p:sp>
      <p:sp>
        <p:nvSpPr>
          <p:cNvPr id="44" name="Shape 41"/>
          <p:cNvSpPr/>
          <p:nvPr/>
        </p:nvSpPr>
        <p:spPr>
          <a:xfrm flipH="1">
            <a:off x="1965960" y="3520440"/>
            <a:ext cx="457200" cy="0"/>
          </a:xfrm>
          <a:prstGeom prst="line">
            <a:avLst/>
          </a:prstGeom>
          <a:noFill/>
          <a:ln w="15875">
            <a:solidFill>
              <a:srgbClr val="1A1A1A"/>
            </a:solidFill>
            <a:prstDash val="solid"/>
            <a:tailEnd type="triangle"/>
          </a:ln>
        </p:spPr>
      </p:sp>
      <p:sp>
        <p:nvSpPr>
          <p:cNvPr id="45" name="Shape 42"/>
          <p:cNvSpPr/>
          <p:nvPr/>
        </p:nvSpPr>
        <p:spPr>
          <a:xfrm>
            <a:off x="731520" y="3200400"/>
            <a:ext cx="1234440" cy="640080"/>
          </a:xfrm>
          <a:prstGeom prst="rect">
            <a:avLst/>
          </a:prstGeom>
          <a:solidFill>
            <a:srgbClr val="FFFFFF"/>
          </a:solidFill>
          <a:ln w="12700">
            <a:solidFill>
              <a:srgbClr val="AEB6C2"/>
            </a:solidFill>
            <a:prstDash val="solid"/>
          </a:ln>
        </p:spPr>
      </p:sp>
      <p:sp>
        <p:nvSpPr>
          <p:cNvPr id="46" name="Text 43"/>
          <p:cNvSpPr txBox="1"/>
          <p:nvPr/>
        </p:nvSpPr>
        <p:spPr>
          <a:xfrm>
            <a:off x="731520" y="3200400"/>
            <a:ext cx="1234440" cy="6400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Base-station RF port (UL in)</a:t>
            </a:r>
            <a:endParaRPr lang="en-US" sz="1100" dirty="0"/>
          </a:p>
        </p:txBody>
      </p:sp>
      <p:sp>
        <p:nvSpPr>
          <p:cNvPr id="47" name="Shape 44"/>
          <p:cNvSpPr/>
          <p:nvPr/>
        </p:nvSpPr>
        <p:spPr>
          <a:xfrm>
            <a:off x="548640" y="4389120"/>
            <a:ext cx="3520440" cy="1143000"/>
          </a:xfrm>
          <a:prstGeom prst="rect">
            <a:avLst/>
          </a:prstGeom>
          <a:solidFill>
            <a:srgbClr val="F3F5F8"/>
          </a:solidFill>
          <a:ln w="12700">
            <a:solidFill>
              <a:srgbClr val="F3F5F8"/>
            </a:solidFill>
            <a:prstDash val="solid"/>
          </a:ln>
        </p:spPr>
      </p:sp>
      <p:sp>
        <p:nvSpPr>
          <p:cNvPr id="48" name="Text 45"/>
          <p:cNvSpPr txBox="1"/>
          <p:nvPr/>
        </p:nvSpPr>
        <p:spPr>
          <a:xfrm>
            <a:off x="658368" y="4480560"/>
            <a:ext cx="3300984" cy="1005840"/>
          </a:xfrm>
          <a:prstGeom prst="rect">
            <a:avLst/>
          </a:prstGeom>
          <a:noFill/>
          <a:ln/>
        </p:spPr>
        <p:txBody>
          <a:bodyPr wrap="square" lIns="0" tIns="0" rIns="0" bIns="0" rtlCol="0" anchor="t"/>
          <a:lstStyle/>
          <a:p>
            <a:pPr indent="0" marL="0">
              <a:buNone/>
            </a:pPr>
            <a:r>
              <a:rPr lang="en-US" sz="1200" b="1" dirty="0">
                <a:solidFill>
                  <a:srgbClr val="1F3A5F"/>
                </a:solidFill>
                <a:latin typeface="Calibri" pitchFamily="34" charset="0"/>
                <a:ea typeface="Calibri" pitchFamily="34" charset="-122"/>
                <a:cs typeface="Calibri" pitchFamily="34" charset="-120"/>
              </a:rPr>
              <a:t>Conversion points</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DL: E/O at central site, O/E at RAU. UL: E/O at RAU, O/E at central site. Each conversion adds noise and distortion.</a:t>
            </a:r>
            <a:endParaRPr lang="en-US" sz="1200" dirty="0"/>
          </a:p>
        </p:txBody>
      </p:sp>
      <p:sp>
        <p:nvSpPr>
          <p:cNvPr id="49" name="Shape 46"/>
          <p:cNvSpPr/>
          <p:nvPr/>
        </p:nvSpPr>
        <p:spPr>
          <a:xfrm>
            <a:off x="4320540" y="4389120"/>
            <a:ext cx="3520440" cy="1143000"/>
          </a:xfrm>
          <a:prstGeom prst="rect">
            <a:avLst/>
          </a:prstGeom>
          <a:solidFill>
            <a:srgbClr val="F3F5F8"/>
          </a:solidFill>
          <a:ln w="12700">
            <a:solidFill>
              <a:srgbClr val="F3F5F8"/>
            </a:solidFill>
            <a:prstDash val="solid"/>
          </a:ln>
        </p:spPr>
      </p:sp>
      <p:sp>
        <p:nvSpPr>
          <p:cNvPr id="50" name="Text 47"/>
          <p:cNvSpPr txBox="1"/>
          <p:nvPr/>
        </p:nvSpPr>
        <p:spPr>
          <a:xfrm>
            <a:off x="4430268" y="4480560"/>
            <a:ext cx="3300984" cy="1005840"/>
          </a:xfrm>
          <a:prstGeom prst="rect">
            <a:avLst/>
          </a:prstGeom>
          <a:noFill/>
          <a:ln/>
        </p:spPr>
        <p:txBody>
          <a:bodyPr wrap="square" lIns="0" tIns="0" rIns="0" bIns="0" rtlCol="0" anchor="t"/>
          <a:lstStyle/>
          <a:p>
            <a:pPr indent="0" marL="0">
              <a:buNone/>
            </a:pPr>
            <a:r>
              <a:rPr lang="en-US" sz="1200" b="1" dirty="0">
                <a:solidFill>
                  <a:srgbClr val="1F3A5F"/>
                </a:solidFill>
                <a:latin typeface="Calibri" pitchFamily="34" charset="0"/>
                <a:ea typeface="Calibri" pitchFamily="34" charset="-122"/>
                <a:cs typeface="Calibri" pitchFamily="34" charset="-120"/>
              </a:rPr>
              <a:t>Optical loss vs RF loss</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Intensity modulation with direct detection: RF power ∝ (optical power)². 1 dB optical loss → 2 dB RF loss.</a:t>
            </a:r>
            <a:endParaRPr lang="en-US" sz="1200" dirty="0"/>
          </a:p>
        </p:txBody>
      </p:sp>
      <p:sp>
        <p:nvSpPr>
          <p:cNvPr id="51" name="Shape 48"/>
          <p:cNvSpPr/>
          <p:nvPr/>
        </p:nvSpPr>
        <p:spPr>
          <a:xfrm>
            <a:off x="8092440" y="4389120"/>
            <a:ext cx="3520440" cy="1143000"/>
          </a:xfrm>
          <a:prstGeom prst="rect">
            <a:avLst/>
          </a:prstGeom>
          <a:solidFill>
            <a:srgbClr val="F3F5F8"/>
          </a:solidFill>
          <a:ln w="12700">
            <a:solidFill>
              <a:srgbClr val="F3F5F8"/>
            </a:solidFill>
            <a:prstDash val="solid"/>
          </a:ln>
        </p:spPr>
      </p:sp>
      <p:sp>
        <p:nvSpPr>
          <p:cNvPr id="52" name="Text 49"/>
          <p:cNvSpPr txBox="1"/>
          <p:nvPr/>
        </p:nvSpPr>
        <p:spPr>
          <a:xfrm>
            <a:off x="8202168" y="4480560"/>
            <a:ext cx="3300984" cy="1005840"/>
          </a:xfrm>
          <a:prstGeom prst="rect">
            <a:avLst/>
          </a:prstGeom>
          <a:noFill/>
          <a:ln/>
        </p:spPr>
        <p:txBody>
          <a:bodyPr wrap="square" lIns="0" tIns="0" rIns="0" bIns="0" rtlCol="0" anchor="t"/>
          <a:lstStyle/>
          <a:p>
            <a:pPr indent="0" marL="0">
              <a:buNone/>
            </a:pPr>
            <a:r>
              <a:rPr lang="en-US" sz="1200" b="1" dirty="0">
                <a:solidFill>
                  <a:srgbClr val="1F3A5F"/>
                </a:solidFill>
                <a:latin typeface="Calibri" pitchFamily="34" charset="0"/>
                <a:ea typeface="Calibri" pitchFamily="34" charset="-122"/>
                <a:cs typeface="Calibri" pitchFamily="34" charset="-120"/>
              </a:rPr>
              <a:t>Multiplexing</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DL and UL use separate fibers or wavelengths. WDM is optional; needed only when several links share one fiber.</a:t>
            </a:r>
            <a:endParaRPr lang="en-US" sz="1200" dirty="0"/>
          </a:p>
        </p:txBody>
      </p:sp>
      <p:sp>
        <p:nvSpPr>
          <p:cNvPr id="53" name="Shape 50"/>
          <p:cNvSpPr/>
          <p:nvPr/>
        </p:nvSpPr>
        <p:spPr>
          <a:xfrm>
            <a:off x="548640" y="5788152"/>
            <a:ext cx="457200" cy="0"/>
          </a:xfrm>
          <a:prstGeom prst="line">
            <a:avLst/>
          </a:prstGeom>
          <a:noFill/>
          <a:ln w="15875">
            <a:solidFill>
              <a:srgbClr val="1A1A1A"/>
            </a:solidFill>
            <a:prstDash val="solid"/>
          </a:ln>
        </p:spPr>
      </p:sp>
      <p:sp>
        <p:nvSpPr>
          <p:cNvPr id="54" name="Text 51"/>
          <p:cNvSpPr txBox="1"/>
          <p:nvPr/>
        </p:nvSpPr>
        <p:spPr>
          <a:xfrm>
            <a:off x="1097280" y="566928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Electrical (RF / IF / digital)</a:t>
            </a:r>
            <a:endParaRPr lang="en-US" sz="1000" dirty="0"/>
          </a:p>
        </p:txBody>
      </p:sp>
      <p:sp>
        <p:nvSpPr>
          <p:cNvPr id="55" name="Shape 52"/>
          <p:cNvSpPr/>
          <p:nvPr/>
        </p:nvSpPr>
        <p:spPr>
          <a:xfrm>
            <a:off x="3383280" y="5788152"/>
            <a:ext cx="457200" cy="0"/>
          </a:xfrm>
          <a:prstGeom prst="line">
            <a:avLst/>
          </a:prstGeom>
          <a:noFill/>
          <a:ln w="38100">
            <a:solidFill>
              <a:srgbClr val="1F3A5F"/>
            </a:solidFill>
            <a:prstDash val="solid"/>
          </a:ln>
        </p:spPr>
      </p:sp>
      <p:sp>
        <p:nvSpPr>
          <p:cNvPr id="56" name="Text 53"/>
          <p:cNvSpPr txBox="1"/>
          <p:nvPr/>
        </p:nvSpPr>
        <p:spPr>
          <a:xfrm>
            <a:off x="3931920" y="566928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Optical (fiber)</a:t>
            </a:r>
            <a:endParaRPr lang="en-US" sz="1000" dirty="0"/>
          </a:p>
        </p:txBody>
      </p:sp>
      <p:sp>
        <p:nvSpPr>
          <p:cNvPr id="57" name="Shape 54"/>
          <p:cNvSpPr/>
          <p:nvPr/>
        </p:nvSpPr>
        <p:spPr>
          <a:xfrm>
            <a:off x="6217920" y="5788152"/>
            <a:ext cx="457200" cy="0"/>
          </a:xfrm>
          <a:prstGeom prst="line">
            <a:avLst/>
          </a:prstGeom>
          <a:noFill/>
          <a:ln w="19050">
            <a:solidFill>
              <a:srgbClr val="6E7781"/>
            </a:solidFill>
            <a:prstDash val="dash"/>
          </a:ln>
        </p:spPr>
      </p:sp>
      <p:sp>
        <p:nvSpPr>
          <p:cNvPr id="58" name="Text 55"/>
          <p:cNvSpPr txBox="1"/>
          <p:nvPr/>
        </p:nvSpPr>
        <p:spPr>
          <a:xfrm>
            <a:off x="6766560" y="566928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Wireless (over the air)</a:t>
            </a:r>
            <a:endParaRPr lang="en-US" sz="1000" dirty="0"/>
          </a:p>
        </p:txBody>
      </p:sp>
      <p:sp>
        <p:nvSpPr>
          <p:cNvPr id="59" name="Text 56"/>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Sources: C. H. Cox III, Analog Optical Links: Theory and Practice, Cambridge Univ. Press, 2004; ITU-T G.Suppl.55 (10/2025). MZM: Mach-Zehnder modulator; BPF: band-pass filter; PA: power amplifier; LNA: low-noise amplifier.</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Architecture: where the RoF link sits in the network</a:t>
            </a:r>
            <a:endParaRPr lang="en-US" sz="2800" dirty="0"/>
          </a:p>
        </p:txBody>
      </p:sp>
      <p:sp>
        <p:nvSpPr>
          <p:cNvPr id="4" name="Shape 1"/>
          <p:cNvSpPr/>
          <p:nvPr/>
        </p:nvSpPr>
        <p:spPr>
          <a:xfrm>
            <a:off x="548640" y="3017520"/>
            <a:ext cx="1234440" cy="731520"/>
          </a:xfrm>
          <a:prstGeom prst="rect">
            <a:avLst/>
          </a:prstGeom>
          <a:solidFill>
            <a:srgbClr val="FFFFFF"/>
          </a:solidFill>
          <a:ln w="12700">
            <a:solidFill>
              <a:srgbClr val="AEB6C2"/>
            </a:solidFill>
            <a:prstDash val="solid"/>
          </a:ln>
        </p:spPr>
      </p:sp>
      <p:sp>
        <p:nvSpPr>
          <p:cNvPr id="5" name="Text 2"/>
          <p:cNvSpPr txBox="1"/>
          <p:nvPr/>
        </p:nvSpPr>
        <p:spPr>
          <a:xfrm>
            <a:off x="548640" y="3017520"/>
            <a:ext cx="1234440" cy="73152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libri" pitchFamily="34" charset="0"/>
                <a:ea typeface="Calibri" pitchFamily="34" charset="-122"/>
                <a:cs typeface="Calibri" pitchFamily="34" charset="-120"/>
              </a:rPr>
              <a:t>Core network</a:t>
            </a:r>
            <a:endParaRPr lang="en-US" sz="1200" dirty="0"/>
          </a:p>
        </p:txBody>
      </p:sp>
      <p:sp>
        <p:nvSpPr>
          <p:cNvPr id="6" name="Shape 3"/>
          <p:cNvSpPr/>
          <p:nvPr/>
        </p:nvSpPr>
        <p:spPr>
          <a:xfrm>
            <a:off x="1783080" y="3383280"/>
            <a:ext cx="548640" cy="0"/>
          </a:xfrm>
          <a:prstGeom prst="line">
            <a:avLst/>
          </a:prstGeom>
          <a:noFill/>
          <a:ln w="15875">
            <a:solidFill>
              <a:srgbClr val="1A1A1A"/>
            </a:solidFill>
            <a:prstDash val="solid"/>
            <a:tailEnd type="triangle"/>
          </a:ln>
        </p:spPr>
      </p:sp>
      <p:sp>
        <p:nvSpPr>
          <p:cNvPr id="7" name="Text 4"/>
          <p:cNvSpPr txBox="1"/>
          <p:nvPr/>
        </p:nvSpPr>
        <p:spPr>
          <a:xfrm>
            <a:off x="1783080" y="3090672"/>
            <a:ext cx="548640" cy="246888"/>
          </a:xfrm>
          <a:prstGeom prst="rect">
            <a:avLst/>
          </a:prstGeom>
          <a:noFill/>
          <a:ln/>
        </p:spPr>
        <p:txBody>
          <a:bodyPr wrap="square" lIns="0" tIns="0" rIns="0" bIns="0" rtlCol="0" anchor="b"/>
          <a:lstStyle/>
          <a:p>
            <a:pPr algn="ctr" indent="0" marL="0">
              <a:buNone/>
            </a:pPr>
            <a:r>
              <a:rPr lang="en-US" sz="1000" i="1" dirty="0">
                <a:solidFill>
                  <a:srgbClr val="1A1A1A"/>
                </a:solidFill>
                <a:latin typeface="Calibri" pitchFamily="34" charset="0"/>
                <a:ea typeface="Calibri" pitchFamily="34" charset="-122"/>
                <a:cs typeface="Calibri" pitchFamily="34" charset="-120"/>
              </a:rPr>
              <a:t>Backhaul</a:t>
            </a:r>
            <a:endParaRPr lang="en-US" sz="1000" dirty="0"/>
          </a:p>
        </p:txBody>
      </p:sp>
      <p:sp>
        <p:nvSpPr>
          <p:cNvPr id="8" name="Shape 5"/>
          <p:cNvSpPr/>
          <p:nvPr/>
        </p:nvSpPr>
        <p:spPr>
          <a:xfrm>
            <a:off x="2331720" y="2057400"/>
            <a:ext cx="1828800" cy="2651760"/>
          </a:xfrm>
          <a:prstGeom prst="rect">
            <a:avLst/>
          </a:prstGeom>
          <a:solidFill>
            <a:srgbClr val="FFFFFF"/>
          </a:solidFill>
          <a:ln w="12700">
            <a:solidFill>
              <a:srgbClr val="5F6670"/>
            </a:solidFill>
            <a:prstDash val="dash"/>
          </a:ln>
        </p:spPr>
      </p:sp>
      <p:sp>
        <p:nvSpPr>
          <p:cNvPr id="9" name="Text 6"/>
          <p:cNvSpPr txBox="1"/>
          <p:nvPr/>
        </p:nvSpPr>
        <p:spPr>
          <a:xfrm>
            <a:off x="2377440" y="2103120"/>
            <a:ext cx="1737360" cy="274320"/>
          </a:xfrm>
          <a:prstGeom prst="rect">
            <a:avLst/>
          </a:prstGeom>
          <a:noFill/>
          <a:ln/>
        </p:spPr>
        <p:txBody>
          <a:bodyPr wrap="square" lIns="0" tIns="0" rIns="0" bIns="0" rtlCol="0" anchor="t"/>
          <a:lstStyle/>
          <a:p>
            <a:pPr algn="ctr" indent="0" marL="0">
              <a:buNone/>
            </a:pPr>
            <a:r>
              <a:rPr lang="en-US" sz="1100" b="1" dirty="0">
                <a:solidFill>
                  <a:srgbClr val="5F6670"/>
                </a:solidFill>
                <a:latin typeface="Calibri" pitchFamily="34" charset="0"/>
                <a:ea typeface="Calibri" pitchFamily="34" charset="-122"/>
                <a:cs typeface="Calibri" pitchFamily="34" charset="-120"/>
              </a:rPr>
              <a:t>Base-station hotel</a:t>
            </a:r>
            <a:endParaRPr lang="en-US" sz="1100" dirty="0"/>
          </a:p>
        </p:txBody>
      </p:sp>
      <p:sp>
        <p:nvSpPr>
          <p:cNvPr id="10" name="Shape 7"/>
          <p:cNvSpPr/>
          <p:nvPr/>
        </p:nvSpPr>
        <p:spPr>
          <a:xfrm>
            <a:off x="2514600" y="2468880"/>
            <a:ext cx="1463040" cy="502920"/>
          </a:xfrm>
          <a:prstGeom prst="rect">
            <a:avLst/>
          </a:prstGeom>
          <a:solidFill>
            <a:srgbClr val="FFFFFF"/>
          </a:solidFill>
          <a:ln w="12700">
            <a:solidFill>
              <a:srgbClr val="AEB6C2"/>
            </a:solidFill>
            <a:prstDash val="solid"/>
          </a:ln>
        </p:spPr>
      </p:sp>
      <p:sp>
        <p:nvSpPr>
          <p:cNvPr id="11" name="Text 8"/>
          <p:cNvSpPr txBox="1"/>
          <p:nvPr/>
        </p:nvSpPr>
        <p:spPr>
          <a:xfrm>
            <a:off x="2514600" y="2468880"/>
            <a:ext cx="1463040" cy="5029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Operator A radio</a:t>
            </a:r>
            <a:endParaRPr lang="en-US" sz="1100" dirty="0"/>
          </a:p>
        </p:txBody>
      </p:sp>
      <p:sp>
        <p:nvSpPr>
          <p:cNvPr id="12" name="Shape 9"/>
          <p:cNvSpPr/>
          <p:nvPr/>
        </p:nvSpPr>
        <p:spPr>
          <a:xfrm>
            <a:off x="2514600" y="3154680"/>
            <a:ext cx="1463040" cy="502920"/>
          </a:xfrm>
          <a:prstGeom prst="rect">
            <a:avLst/>
          </a:prstGeom>
          <a:solidFill>
            <a:srgbClr val="FFFFFF"/>
          </a:solidFill>
          <a:ln w="12700">
            <a:solidFill>
              <a:srgbClr val="AEB6C2"/>
            </a:solidFill>
            <a:prstDash val="solid"/>
          </a:ln>
        </p:spPr>
      </p:sp>
      <p:sp>
        <p:nvSpPr>
          <p:cNvPr id="13" name="Text 10"/>
          <p:cNvSpPr txBox="1"/>
          <p:nvPr/>
        </p:nvSpPr>
        <p:spPr>
          <a:xfrm>
            <a:off x="2514600" y="3154680"/>
            <a:ext cx="1463040" cy="5029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Operator B radio</a:t>
            </a:r>
            <a:endParaRPr lang="en-US" sz="1100" dirty="0"/>
          </a:p>
        </p:txBody>
      </p:sp>
      <p:sp>
        <p:nvSpPr>
          <p:cNvPr id="14" name="Shape 11"/>
          <p:cNvSpPr/>
          <p:nvPr/>
        </p:nvSpPr>
        <p:spPr>
          <a:xfrm>
            <a:off x="2514600" y="3840480"/>
            <a:ext cx="1463040" cy="502920"/>
          </a:xfrm>
          <a:prstGeom prst="rect">
            <a:avLst/>
          </a:prstGeom>
          <a:solidFill>
            <a:srgbClr val="FFFFFF"/>
          </a:solidFill>
          <a:ln w="12700">
            <a:solidFill>
              <a:srgbClr val="AEB6C2"/>
            </a:solidFill>
            <a:prstDash val="solid"/>
          </a:ln>
        </p:spPr>
      </p:sp>
      <p:sp>
        <p:nvSpPr>
          <p:cNvPr id="15" name="Text 12"/>
          <p:cNvSpPr txBox="1"/>
          <p:nvPr/>
        </p:nvSpPr>
        <p:spPr>
          <a:xfrm>
            <a:off x="2514600" y="3840480"/>
            <a:ext cx="1463040" cy="5029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Operator C radio</a:t>
            </a:r>
            <a:endParaRPr lang="en-US" sz="1100" dirty="0"/>
          </a:p>
        </p:txBody>
      </p:sp>
      <p:sp>
        <p:nvSpPr>
          <p:cNvPr id="16" name="Shape 13"/>
          <p:cNvSpPr/>
          <p:nvPr/>
        </p:nvSpPr>
        <p:spPr>
          <a:xfrm>
            <a:off x="3977640" y="2720340"/>
            <a:ext cx="640080" cy="0"/>
          </a:xfrm>
          <a:prstGeom prst="line">
            <a:avLst/>
          </a:prstGeom>
          <a:noFill/>
          <a:ln w="15875">
            <a:solidFill>
              <a:srgbClr val="1A1A1A"/>
            </a:solidFill>
            <a:prstDash val="solid"/>
            <a:tailEnd type="triangle"/>
          </a:ln>
        </p:spPr>
      </p:sp>
      <p:sp>
        <p:nvSpPr>
          <p:cNvPr id="17" name="Shape 14"/>
          <p:cNvSpPr/>
          <p:nvPr/>
        </p:nvSpPr>
        <p:spPr>
          <a:xfrm>
            <a:off x="3977640" y="3406140"/>
            <a:ext cx="640080" cy="0"/>
          </a:xfrm>
          <a:prstGeom prst="line">
            <a:avLst/>
          </a:prstGeom>
          <a:noFill/>
          <a:ln w="15875">
            <a:solidFill>
              <a:srgbClr val="1A1A1A"/>
            </a:solidFill>
            <a:prstDash val="solid"/>
            <a:tailEnd type="triangle"/>
          </a:ln>
        </p:spPr>
      </p:sp>
      <p:sp>
        <p:nvSpPr>
          <p:cNvPr id="18" name="Shape 15"/>
          <p:cNvSpPr/>
          <p:nvPr/>
        </p:nvSpPr>
        <p:spPr>
          <a:xfrm>
            <a:off x="3977640" y="4091940"/>
            <a:ext cx="640080" cy="0"/>
          </a:xfrm>
          <a:prstGeom prst="line">
            <a:avLst/>
          </a:prstGeom>
          <a:noFill/>
          <a:ln w="15875">
            <a:solidFill>
              <a:srgbClr val="1A1A1A"/>
            </a:solidFill>
            <a:prstDash val="solid"/>
            <a:tailEnd type="triangle"/>
          </a:ln>
        </p:spPr>
      </p:sp>
      <p:sp>
        <p:nvSpPr>
          <p:cNvPr id="19" name="Text 16"/>
          <p:cNvSpPr txBox="1"/>
          <p:nvPr/>
        </p:nvSpPr>
        <p:spPr>
          <a:xfrm>
            <a:off x="3977640" y="4434840"/>
            <a:ext cx="685800" cy="228600"/>
          </a:xfrm>
          <a:prstGeom prst="rect">
            <a:avLst/>
          </a:prstGeom>
          <a:noFill/>
          <a:ln/>
        </p:spPr>
        <p:txBody>
          <a:bodyPr wrap="square" lIns="0" tIns="0" rIns="0" bIns="0" rtlCol="0" anchor="t"/>
          <a:lstStyle/>
          <a:p>
            <a:pPr algn="ctr" indent="0" marL="0">
              <a:buNone/>
            </a:pPr>
            <a:r>
              <a:rPr lang="en-US" sz="1000" i="1" dirty="0">
                <a:solidFill>
                  <a:srgbClr val="1A1A1A"/>
                </a:solidFill>
                <a:latin typeface="Calibri" pitchFamily="34" charset="0"/>
                <a:ea typeface="Calibri" pitchFamily="34" charset="-122"/>
                <a:cs typeface="Calibri" pitchFamily="34" charset="-120"/>
              </a:rPr>
              <a:t>RF (coax)</a:t>
            </a:r>
            <a:endParaRPr lang="en-US" sz="1000" dirty="0"/>
          </a:p>
        </p:txBody>
      </p:sp>
      <p:sp>
        <p:nvSpPr>
          <p:cNvPr id="20" name="Shape 17"/>
          <p:cNvSpPr/>
          <p:nvPr/>
        </p:nvSpPr>
        <p:spPr>
          <a:xfrm>
            <a:off x="4617720" y="2240280"/>
            <a:ext cx="1463040" cy="2286000"/>
          </a:xfrm>
          <a:prstGeom prst="rect">
            <a:avLst/>
          </a:prstGeom>
          <a:solidFill>
            <a:srgbClr val="DCE6F2"/>
          </a:solidFill>
          <a:ln w="12700">
            <a:solidFill>
              <a:srgbClr val="AEB6C2"/>
            </a:solidFill>
            <a:prstDash val="solid"/>
          </a:ln>
        </p:spPr>
      </p:sp>
      <p:sp>
        <p:nvSpPr>
          <p:cNvPr id="21" name="Text 18"/>
          <p:cNvSpPr txBox="1"/>
          <p:nvPr/>
        </p:nvSpPr>
        <p:spPr>
          <a:xfrm>
            <a:off x="4617720" y="2240280"/>
            <a:ext cx="1463040" cy="228600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Head-end: RF combining, E/O (DL), O/E (UL)</a:t>
            </a:r>
            <a:endParaRPr lang="en-US" sz="1100" dirty="0"/>
          </a:p>
        </p:txBody>
      </p:sp>
      <p:sp>
        <p:nvSpPr>
          <p:cNvPr id="22" name="Shape 19"/>
          <p:cNvSpPr/>
          <p:nvPr/>
        </p:nvSpPr>
        <p:spPr>
          <a:xfrm flipV="1">
            <a:off x="6080760" y="1920240"/>
            <a:ext cx="1097280" cy="1463040"/>
          </a:xfrm>
          <a:prstGeom prst="line">
            <a:avLst/>
          </a:prstGeom>
          <a:noFill/>
          <a:ln w="38100">
            <a:solidFill>
              <a:srgbClr val="1F3A5F"/>
            </a:solidFill>
            <a:prstDash val="solid"/>
            <a:headEnd type="triangle"/>
            <a:tailEnd type="triangle"/>
          </a:ln>
        </p:spPr>
      </p:sp>
      <p:sp>
        <p:nvSpPr>
          <p:cNvPr id="23" name="Shape 20"/>
          <p:cNvSpPr/>
          <p:nvPr/>
        </p:nvSpPr>
        <p:spPr>
          <a:xfrm>
            <a:off x="7178040" y="1600200"/>
            <a:ext cx="1234440" cy="640080"/>
          </a:xfrm>
          <a:prstGeom prst="rect">
            <a:avLst/>
          </a:prstGeom>
          <a:solidFill>
            <a:srgbClr val="FFFFFF"/>
          </a:solidFill>
          <a:ln w="12700">
            <a:solidFill>
              <a:srgbClr val="AEB6C2"/>
            </a:solidFill>
            <a:prstDash val="solid"/>
          </a:ln>
        </p:spPr>
      </p:sp>
      <p:sp>
        <p:nvSpPr>
          <p:cNvPr id="24" name="Text 21"/>
          <p:cNvSpPr txBox="1"/>
          <p:nvPr/>
        </p:nvSpPr>
        <p:spPr>
          <a:xfrm>
            <a:off x="7178040" y="1600200"/>
            <a:ext cx="1234440" cy="6400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RAU 1</a:t>
            </a:r>
            <a:endParaRPr lang="en-US" sz="1100" dirty="0"/>
          </a:p>
        </p:txBody>
      </p:sp>
      <p:sp>
        <p:nvSpPr>
          <p:cNvPr id="25" name="Shape 22"/>
          <p:cNvSpPr/>
          <p:nvPr/>
        </p:nvSpPr>
        <p:spPr>
          <a:xfrm>
            <a:off x="8412480" y="1920240"/>
            <a:ext cx="320040" cy="0"/>
          </a:xfrm>
          <a:prstGeom prst="line">
            <a:avLst/>
          </a:prstGeom>
          <a:noFill/>
          <a:ln w="15875">
            <a:solidFill>
              <a:srgbClr val="1A1A1A"/>
            </a:solidFill>
            <a:prstDash val="solid"/>
          </a:ln>
        </p:spPr>
      </p:sp>
      <p:sp>
        <p:nvSpPr>
          <p:cNvPr id="26" name="Shape 23"/>
          <p:cNvSpPr/>
          <p:nvPr/>
        </p:nvSpPr>
        <p:spPr>
          <a:xfrm>
            <a:off x="8732520" y="1627632"/>
            <a:ext cx="0" cy="292608"/>
          </a:xfrm>
          <a:prstGeom prst="line">
            <a:avLst/>
          </a:prstGeom>
          <a:noFill/>
          <a:ln w="15875">
            <a:solidFill>
              <a:srgbClr val="1A1A1A"/>
            </a:solidFill>
            <a:prstDash val="solid"/>
          </a:ln>
        </p:spPr>
      </p:sp>
      <p:sp>
        <p:nvSpPr>
          <p:cNvPr id="27" name="Shape 24"/>
          <p:cNvSpPr/>
          <p:nvPr/>
        </p:nvSpPr>
        <p:spPr>
          <a:xfrm flipV="1">
            <a:off x="8613648" y="1463040"/>
            <a:ext cx="237744" cy="182880"/>
          </a:xfrm>
          <a:prstGeom prst="triangle">
            <a:avLst/>
          </a:prstGeom>
          <a:solidFill>
            <a:srgbClr val="FFFFFF"/>
          </a:solidFill>
          <a:ln w="15875">
            <a:solidFill>
              <a:srgbClr val="1A1A1A"/>
            </a:solidFill>
            <a:prstDash val="solid"/>
          </a:ln>
        </p:spPr>
      </p:sp>
      <p:sp>
        <p:nvSpPr>
          <p:cNvPr id="28" name="Shape 25"/>
          <p:cNvSpPr/>
          <p:nvPr/>
        </p:nvSpPr>
        <p:spPr>
          <a:xfrm>
            <a:off x="8915400" y="1691640"/>
            <a:ext cx="457200" cy="0"/>
          </a:xfrm>
          <a:prstGeom prst="line">
            <a:avLst/>
          </a:prstGeom>
          <a:noFill/>
          <a:ln w="19050">
            <a:solidFill>
              <a:srgbClr val="6E7781"/>
            </a:solidFill>
            <a:prstDash val="dash"/>
            <a:headEnd type="triangle"/>
            <a:tailEnd type="triangle"/>
          </a:ln>
        </p:spPr>
      </p:sp>
      <p:sp>
        <p:nvSpPr>
          <p:cNvPr id="29" name="Shape 26"/>
          <p:cNvSpPr/>
          <p:nvPr/>
        </p:nvSpPr>
        <p:spPr>
          <a:xfrm flipV="1">
            <a:off x="6080760" y="3337560"/>
            <a:ext cx="1097280" cy="45720"/>
          </a:xfrm>
          <a:prstGeom prst="line">
            <a:avLst/>
          </a:prstGeom>
          <a:noFill/>
          <a:ln w="38100">
            <a:solidFill>
              <a:srgbClr val="1F3A5F"/>
            </a:solidFill>
            <a:prstDash val="solid"/>
            <a:headEnd type="triangle"/>
            <a:tailEnd type="triangle"/>
          </a:ln>
        </p:spPr>
      </p:sp>
      <p:sp>
        <p:nvSpPr>
          <p:cNvPr id="30" name="Shape 27"/>
          <p:cNvSpPr/>
          <p:nvPr/>
        </p:nvSpPr>
        <p:spPr>
          <a:xfrm>
            <a:off x="7178040" y="3017520"/>
            <a:ext cx="1234440" cy="640080"/>
          </a:xfrm>
          <a:prstGeom prst="rect">
            <a:avLst/>
          </a:prstGeom>
          <a:solidFill>
            <a:srgbClr val="FFFFFF"/>
          </a:solidFill>
          <a:ln w="12700">
            <a:solidFill>
              <a:srgbClr val="AEB6C2"/>
            </a:solidFill>
            <a:prstDash val="solid"/>
          </a:ln>
        </p:spPr>
      </p:sp>
      <p:sp>
        <p:nvSpPr>
          <p:cNvPr id="31" name="Text 28"/>
          <p:cNvSpPr txBox="1"/>
          <p:nvPr/>
        </p:nvSpPr>
        <p:spPr>
          <a:xfrm>
            <a:off x="7178040" y="3017520"/>
            <a:ext cx="1234440" cy="6400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RAU 2</a:t>
            </a:r>
            <a:endParaRPr lang="en-US" sz="1100" dirty="0"/>
          </a:p>
        </p:txBody>
      </p:sp>
      <p:sp>
        <p:nvSpPr>
          <p:cNvPr id="32" name="Shape 29"/>
          <p:cNvSpPr/>
          <p:nvPr/>
        </p:nvSpPr>
        <p:spPr>
          <a:xfrm>
            <a:off x="8412480" y="3337560"/>
            <a:ext cx="320040" cy="0"/>
          </a:xfrm>
          <a:prstGeom prst="line">
            <a:avLst/>
          </a:prstGeom>
          <a:noFill/>
          <a:ln w="15875">
            <a:solidFill>
              <a:srgbClr val="1A1A1A"/>
            </a:solidFill>
            <a:prstDash val="solid"/>
          </a:ln>
        </p:spPr>
      </p:sp>
      <p:sp>
        <p:nvSpPr>
          <p:cNvPr id="33" name="Shape 30"/>
          <p:cNvSpPr/>
          <p:nvPr/>
        </p:nvSpPr>
        <p:spPr>
          <a:xfrm>
            <a:off x="8732520" y="3044952"/>
            <a:ext cx="0" cy="292608"/>
          </a:xfrm>
          <a:prstGeom prst="line">
            <a:avLst/>
          </a:prstGeom>
          <a:noFill/>
          <a:ln w="15875">
            <a:solidFill>
              <a:srgbClr val="1A1A1A"/>
            </a:solidFill>
            <a:prstDash val="solid"/>
          </a:ln>
        </p:spPr>
      </p:sp>
      <p:sp>
        <p:nvSpPr>
          <p:cNvPr id="34" name="Shape 31"/>
          <p:cNvSpPr/>
          <p:nvPr/>
        </p:nvSpPr>
        <p:spPr>
          <a:xfrm flipV="1">
            <a:off x="8613648" y="2880360"/>
            <a:ext cx="237744" cy="182880"/>
          </a:xfrm>
          <a:prstGeom prst="triangle">
            <a:avLst/>
          </a:prstGeom>
          <a:solidFill>
            <a:srgbClr val="FFFFFF"/>
          </a:solidFill>
          <a:ln w="15875">
            <a:solidFill>
              <a:srgbClr val="1A1A1A"/>
            </a:solidFill>
            <a:prstDash val="solid"/>
          </a:ln>
        </p:spPr>
      </p:sp>
      <p:sp>
        <p:nvSpPr>
          <p:cNvPr id="35" name="Shape 32"/>
          <p:cNvSpPr/>
          <p:nvPr/>
        </p:nvSpPr>
        <p:spPr>
          <a:xfrm>
            <a:off x="8915400" y="3108960"/>
            <a:ext cx="457200" cy="0"/>
          </a:xfrm>
          <a:prstGeom prst="line">
            <a:avLst/>
          </a:prstGeom>
          <a:noFill/>
          <a:ln w="19050">
            <a:solidFill>
              <a:srgbClr val="6E7781"/>
            </a:solidFill>
            <a:prstDash val="dash"/>
            <a:headEnd type="triangle"/>
            <a:tailEnd type="triangle"/>
          </a:ln>
        </p:spPr>
      </p:sp>
      <p:sp>
        <p:nvSpPr>
          <p:cNvPr id="36" name="Shape 33"/>
          <p:cNvSpPr/>
          <p:nvPr/>
        </p:nvSpPr>
        <p:spPr>
          <a:xfrm>
            <a:off x="6080760" y="3383280"/>
            <a:ext cx="1097280" cy="1371600"/>
          </a:xfrm>
          <a:prstGeom prst="line">
            <a:avLst/>
          </a:prstGeom>
          <a:noFill/>
          <a:ln w="38100">
            <a:solidFill>
              <a:srgbClr val="1F3A5F"/>
            </a:solidFill>
            <a:prstDash val="solid"/>
            <a:headEnd type="triangle"/>
            <a:tailEnd type="triangle"/>
          </a:ln>
        </p:spPr>
      </p:sp>
      <p:sp>
        <p:nvSpPr>
          <p:cNvPr id="37" name="Shape 34"/>
          <p:cNvSpPr/>
          <p:nvPr/>
        </p:nvSpPr>
        <p:spPr>
          <a:xfrm>
            <a:off x="7178040" y="4434840"/>
            <a:ext cx="1234440" cy="640080"/>
          </a:xfrm>
          <a:prstGeom prst="rect">
            <a:avLst/>
          </a:prstGeom>
          <a:solidFill>
            <a:srgbClr val="FFFFFF"/>
          </a:solidFill>
          <a:ln w="12700">
            <a:solidFill>
              <a:srgbClr val="AEB6C2"/>
            </a:solidFill>
            <a:prstDash val="dash"/>
          </a:ln>
        </p:spPr>
      </p:sp>
      <p:sp>
        <p:nvSpPr>
          <p:cNvPr id="38" name="Text 35"/>
          <p:cNvSpPr txBox="1"/>
          <p:nvPr/>
        </p:nvSpPr>
        <p:spPr>
          <a:xfrm>
            <a:off x="7178040" y="4434840"/>
            <a:ext cx="1234440" cy="6400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RAU n</a:t>
            </a:r>
            <a:endParaRPr lang="en-US" sz="1100" dirty="0"/>
          </a:p>
        </p:txBody>
      </p:sp>
      <p:sp>
        <p:nvSpPr>
          <p:cNvPr id="39" name="Shape 36"/>
          <p:cNvSpPr/>
          <p:nvPr/>
        </p:nvSpPr>
        <p:spPr>
          <a:xfrm>
            <a:off x="8412480" y="4754880"/>
            <a:ext cx="320040" cy="0"/>
          </a:xfrm>
          <a:prstGeom prst="line">
            <a:avLst/>
          </a:prstGeom>
          <a:noFill/>
          <a:ln w="15875">
            <a:solidFill>
              <a:srgbClr val="1A1A1A"/>
            </a:solidFill>
            <a:prstDash val="solid"/>
          </a:ln>
        </p:spPr>
      </p:sp>
      <p:sp>
        <p:nvSpPr>
          <p:cNvPr id="40" name="Shape 37"/>
          <p:cNvSpPr/>
          <p:nvPr/>
        </p:nvSpPr>
        <p:spPr>
          <a:xfrm>
            <a:off x="8732520" y="4462272"/>
            <a:ext cx="0" cy="292608"/>
          </a:xfrm>
          <a:prstGeom prst="line">
            <a:avLst/>
          </a:prstGeom>
          <a:noFill/>
          <a:ln w="15875">
            <a:solidFill>
              <a:srgbClr val="1A1A1A"/>
            </a:solidFill>
            <a:prstDash val="solid"/>
          </a:ln>
        </p:spPr>
      </p:sp>
      <p:sp>
        <p:nvSpPr>
          <p:cNvPr id="41" name="Shape 38"/>
          <p:cNvSpPr/>
          <p:nvPr/>
        </p:nvSpPr>
        <p:spPr>
          <a:xfrm flipV="1">
            <a:off x="8613648" y="4297680"/>
            <a:ext cx="237744" cy="182880"/>
          </a:xfrm>
          <a:prstGeom prst="triangle">
            <a:avLst/>
          </a:prstGeom>
          <a:solidFill>
            <a:srgbClr val="FFFFFF"/>
          </a:solidFill>
          <a:ln w="15875">
            <a:solidFill>
              <a:srgbClr val="1A1A1A"/>
            </a:solidFill>
            <a:prstDash val="solid"/>
          </a:ln>
        </p:spPr>
      </p:sp>
      <p:sp>
        <p:nvSpPr>
          <p:cNvPr id="42" name="Shape 39"/>
          <p:cNvSpPr/>
          <p:nvPr/>
        </p:nvSpPr>
        <p:spPr>
          <a:xfrm>
            <a:off x="8915400" y="4526280"/>
            <a:ext cx="457200" cy="0"/>
          </a:xfrm>
          <a:prstGeom prst="line">
            <a:avLst/>
          </a:prstGeom>
          <a:noFill/>
          <a:ln w="19050">
            <a:solidFill>
              <a:srgbClr val="6E7781"/>
            </a:solidFill>
            <a:prstDash val="dash"/>
            <a:headEnd type="triangle"/>
            <a:tailEnd type="triangle"/>
          </a:ln>
        </p:spPr>
      </p:sp>
      <p:sp>
        <p:nvSpPr>
          <p:cNvPr id="43" name="Text 40"/>
          <p:cNvSpPr txBox="1"/>
          <p:nvPr/>
        </p:nvSpPr>
        <p:spPr>
          <a:xfrm>
            <a:off x="4617720" y="5212080"/>
            <a:ext cx="3840480" cy="274320"/>
          </a:xfrm>
          <a:prstGeom prst="rect">
            <a:avLst/>
          </a:prstGeom>
          <a:noFill/>
          <a:ln/>
        </p:spPr>
        <p:txBody>
          <a:bodyPr wrap="square" lIns="0" tIns="0" rIns="0" bIns="0" rtlCol="0" anchor="t"/>
          <a:lstStyle/>
          <a:p>
            <a:pPr indent="0" marL="0">
              <a:buNone/>
            </a:pPr>
            <a:r>
              <a:rPr lang="en-US" sz="1000" i="1" dirty="0">
                <a:solidFill>
                  <a:srgbClr val="1F3A5F"/>
                </a:solidFill>
                <a:latin typeface="Calibri" pitchFamily="34" charset="0"/>
                <a:ea typeface="Calibri" pitchFamily="34" charset="-122"/>
                <a:cs typeface="Calibri" pitchFamily="34" charset="-120"/>
              </a:rPr>
              <a:t>Fiber links: analog RF, downlink and uplink</a:t>
            </a:r>
            <a:endParaRPr lang="en-US" sz="1000" dirty="0"/>
          </a:p>
        </p:txBody>
      </p:sp>
      <p:sp>
        <p:nvSpPr>
          <p:cNvPr id="44" name="Text 41"/>
          <p:cNvSpPr txBox="1"/>
          <p:nvPr/>
        </p:nvSpPr>
        <p:spPr>
          <a:xfrm>
            <a:off x="9555480" y="1325880"/>
            <a:ext cx="2103120" cy="4480560"/>
          </a:xfrm>
          <a:prstGeom prst="rect">
            <a:avLst/>
          </a:prstGeom>
          <a:noFill/>
          <a:ln/>
        </p:spPr>
        <p:txBody>
          <a:bodyPr wrap="square" lIns="0" tIns="0" rIns="0" bIns="0" rtlCol="0" anchor="t"/>
          <a:lstStyle/>
          <a:p>
            <a:pPr marL="342900" indent="-342900">
              <a:spcAft>
                <a:spcPts val="800"/>
              </a:spcAft>
              <a:buSzPct val="100000"/>
              <a:buChar char="•"/>
            </a:pPr>
            <a:r>
              <a:rPr lang="en-US" sz="1200" b="1" dirty="0">
                <a:solidFill>
                  <a:srgbClr val="1A1A1A"/>
                </a:solidFill>
                <a:latin typeface="Calibri" pitchFamily="34" charset="0"/>
                <a:ea typeface="Calibri" pitchFamily="34" charset="-122"/>
                <a:cs typeface="Calibri" pitchFamily="34" charset="-120"/>
              </a:rPr>
              <a:t>Fronthaul: </a:t>
            </a:r>
            <a:pPr indent="0" marL="0">
              <a:buNone/>
            </a:pPr>
            <a:r>
              <a:rPr lang="en-US" sz="1200" dirty="0">
                <a:solidFill>
                  <a:srgbClr val="1A1A1A"/>
                </a:solidFill>
                <a:latin typeface="Calibri" pitchFamily="34" charset="0"/>
                <a:ea typeface="Calibri" pitchFamily="34" charset="-122"/>
                <a:cs typeface="Calibri" pitchFamily="34" charset="-120"/>
              </a:rPr>
              <a:t>head-end ↔ RAU. This is the RoF link.</a:t>
            </a:r>
            <a:endParaRPr lang="en-US" sz="1200" dirty="0"/>
          </a:p>
          <a:p>
            <a:pPr marL="342900" indent="-342900">
              <a:spcAft>
                <a:spcPts val="800"/>
              </a:spcAft>
              <a:buSzPct val="100000"/>
              <a:buChar char="•"/>
            </a:pPr>
            <a:r>
              <a:rPr lang="en-US" sz="1200" b="1" dirty="0">
                <a:solidFill>
                  <a:srgbClr val="1A1A1A"/>
                </a:solidFill>
                <a:latin typeface="Calibri" pitchFamily="34" charset="0"/>
                <a:ea typeface="Calibri" pitchFamily="34" charset="-122"/>
                <a:cs typeface="Calibri" pitchFamily="34" charset="-120"/>
              </a:rPr>
              <a:t>Backhaul: </a:t>
            </a:r>
            <a:pPr indent="0" marL="0">
              <a:buNone/>
            </a:pPr>
            <a:r>
              <a:rPr lang="en-US" sz="1200" dirty="0">
                <a:solidFill>
                  <a:srgbClr val="1A1A1A"/>
                </a:solidFill>
                <a:latin typeface="Calibri" pitchFamily="34" charset="0"/>
                <a:ea typeface="Calibri" pitchFamily="34" charset="-122"/>
                <a:cs typeface="Calibri" pitchFamily="34" charset="-120"/>
              </a:rPr>
              <a:t>base station ↔ core; digital, packet. Not RoF.</a:t>
            </a:r>
            <a:endParaRPr lang="en-US" sz="1200" dirty="0"/>
          </a:p>
          <a:p>
            <a:pPr marL="342900" indent="-342900">
              <a:spcAft>
                <a:spcPts val="800"/>
              </a:spcAft>
              <a:buSzPct val="100000"/>
              <a:buChar char="•"/>
            </a:pPr>
            <a:r>
              <a:rPr lang="en-US" sz="1200" b="1" dirty="0">
                <a:solidFill>
                  <a:srgbClr val="1A1A1A"/>
                </a:solidFill>
                <a:latin typeface="Calibri" pitchFamily="34" charset="0"/>
                <a:ea typeface="Calibri" pitchFamily="34" charset="-122"/>
                <a:cs typeface="Calibri" pitchFamily="34" charset="-120"/>
              </a:rPr>
              <a:t>Topology: </a:t>
            </a:r>
            <a:pPr indent="0" marL="0">
              <a:buNone/>
            </a:pPr>
            <a:r>
              <a:rPr lang="en-US" sz="1200" dirty="0">
                <a:solidFill>
                  <a:srgbClr val="1A1A1A"/>
                </a:solidFill>
                <a:latin typeface="Calibri" pitchFamily="34" charset="0"/>
                <a:ea typeface="Calibri" pitchFamily="34" charset="-122"/>
                <a:cs typeface="Calibri" pitchFamily="34" charset="-120"/>
              </a:rPr>
              <a:t>star; one fiber pair or wavelength pair per RAU. WDM or cascaded RAUs reduce fiber count.</a:t>
            </a:r>
            <a:endParaRPr lang="en-US" sz="1200" dirty="0"/>
          </a:p>
          <a:p>
            <a:pPr marL="342900" indent="-342900">
              <a:spcAft>
                <a:spcPts val="800"/>
              </a:spcAft>
              <a:buSzPct val="100000"/>
              <a:buChar char="•"/>
            </a:pPr>
            <a:r>
              <a:rPr lang="en-US" sz="1200" b="1" dirty="0">
                <a:solidFill>
                  <a:srgbClr val="1A1A1A"/>
                </a:solidFill>
                <a:latin typeface="Calibri" pitchFamily="34" charset="0"/>
                <a:ea typeface="Calibri" pitchFamily="34" charset="-122"/>
                <a:cs typeface="Calibri" pitchFamily="34" charset="-120"/>
              </a:rPr>
              <a:t>RAU contents: </a:t>
            </a:r>
            <a:pPr indent="0" marL="0">
              <a:buNone/>
            </a:pPr>
            <a:r>
              <a:rPr lang="en-US" sz="1200" dirty="0">
                <a:solidFill>
                  <a:srgbClr val="1A1A1A"/>
                </a:solidFill>
                <a:latin typeface="Calibri" pitchFamily="34" charset="0"/>
                <a:ea typeface="Calibri" pitchFamily="34" charset="-122"/>
                <a:cs typeface="Calibri" pitchFamily="34" charset="-120"/>
              </a:rPr>
              <a:t>O/E, E/O, RF amplifiers, filters, duplexer, power supply, alarms.</a:t>
            </a:r>
            <a:endParaRPr lang="en-US" sz="1200" dirty="0"/>
          </a:p>
          <a:p>
            <a:pPr marL="342900" indent="-342900">
              <a:spcAft>
                <a:spcPts val="800"/>
              </a:spcAft>
              <a:buSzPct val="100000"/>
              <a:buChar char="•"/>
            </a:pPr>
            <a:r>
              <a:rPr lang="en-US" sz="1200" b="1" dirty="0">
                <a:solidFill>
                  <a:srgbClr val="1A1A1A"/>
                </a:solidFill>
                <a:latin typeface="Calibri" pitchFamily="34" charset="0"/>
                <a:ea typeface="Calibri" pitchFamily="34" charset="-122"/>
                <a:cs typeface="Calibri" pitchFamily="34" charset="-120"/>
              </a:rPr>
              <a:t>C-RAN variant: </a:t>
            </a:r>
            <a:pPr indent="0" marL="0">
              <a:buNone/>
            </a:pPr>
            <a:r>
              <a:rPr lang="en-US" sz="1200" dirty="0">
                <a:solidFill>
                  <a:srgbClr val="1A1A1A"/>
                </a:solidFill>
                <a:latin typeface="Calibri" pitchFamily="34" charset="0"/>
                <a:ea typeface="Calibri" pitchFamily="34" charset="-122"/>
                <a:cs typeface="Calibri" pitchFamily="34" charset="-120"/>
              </a:rPr>
              <a:t>BBU pool and RRHs; the link carries digital fronthaul instead.</a:t>
            </a:r>
            <a:endParaRPr lang="en-US" sz="1200" dirty="0"/>
          </a:p>
        </p:txBody>
      </p:sp>
      <p:sp>
        <p:nvSpPr>
          <p:cNvPr id="45" name="Shape 42"/>
          <p:cNvSpPr/>
          <p:nvPr/>
        </p:nvSpPr>
        <p:spPr>
          <a:xfrm>
            <a:off x="548640" y="5788152"/>
            <a:ext cx="457200" cy="0"/>
          </a:xfrm>
          <a:prstGeom prst="line">
            <a:avLst/>
          </a:prstGeom>
          <a:noFill/>
          <a:ln w="15875">
            <a:solidFill>
              <a:srgbClr val="1A1A1A"/>
            </a:solidFill>
            <a:prstDash val="solid"/>
          </a:ln>
        </p:spPr>
      </p:sp>
      <p:sp>
        <p:nvSpPr>
          <p:cNvPr id="46" name="Text 43"/>
          <p:cNvSpPr txBox="1"/>
          <p:nvPr/>
        </p:nvSpPr>
        <p:spPr>
          <a:xfrm>
            <a:off x="1097280" y="566928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Electrical (RF / IF / digital)</a:t>
            </a:r>
            <a:endParaRPr lang="en-US" sz="1000" dirty="0"/>
          </a:p>
        </p:txBody>
      </p:sp>
      <p:sp>
        <p:nvSpPr>
          <p:cNvPr id="47" name="Shape 44"/>
          <p:cNvSpPr/>
          <p:nvPr/>
        </p:nvSpPr>
        <p:spPr>
          <a:xfrm>
            <a:off x="3383280" y="5788152"/>
            <a:ext cx="457200" cy="0"/>
          </a:xfrm>
          <a:prstGeom prst="line">
            <a:avLst/>
          </a:prstGeom>
          <a:noFill/>
          <a:ln w="38100">
            <a:solidFill>
              <a:srgbClr val="1F3A5F"/>
            </a:solidFill>
            <a:prstDash val="solid"/>
          </a:ln>
        </p:spPr>
      </p:sp>
      <p:sp>
        <p:nvSpPr>
          <p:cNvPr id="48" name="Text 45"/>
          <p:cNvSpPr txBox="1"/>
          <p:nvPr/>
        </p:nvSpPr>
        <p:spPr>
          <a:xfrm>
            <a:off x="3931920" y="566928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Optical (fiber)</a:t>
            </a:r>
            <a:endParaRPr lang="en-US" sz="1000" dirty="0"/>
          </a:p>
        </p:txBody>
      </p:sp>
      <p:sp>
        <p:nvSpPr>
          <p:cNvPr id="49" name="Shape 46"/>
          <p:cNvSpPr/>
          <p:nvPr/>
        </p:nvSpPr>
        <p:spPr>
          <a:xfrm>
            <a:off x="6217920" y="5788152"/>
            <a:ext cx="457200" cy="0"/>
          </a:xfrm>
          <a:prstGeom prst="line">
            <a:avLst/>
          </a:prstGeom>
          <a:noFill/>
          <a:ln w="19050">
            <a:solidFill>
              <a:srgbClr val="6E7781"/>
            </a:solidFill>
            <a:prstDash val="dash"/>
          </a:ln>
        </p:spPr>
      </p:sp>
      <p:sp>
        <p:nvSpPr>
          <p:cNvPr id="50" name="Text 47"/>
          <p:cNvSpPr txBox="1"/>
          <p:nvPr/>
        </p:nvSpPr>
        <p:spPr>
          <a:xfrm>
            <a:off x="6766560" y="566928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Wireless (over the air)</a:t>
            </a:r>
            <a:endParaRPr lang="en-US" sz="1000" dirty="0"/>
          </a:p>
        </p:txBody>
      </p:sp>
      <p:sp>
        <p:nvSpPr>
          <p:cNvPr id="51" name="Text 48"/>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Generic multi-operator fiber DAS / centralized radio architecture. Sources: ITU-T G.Suppl.55 (10/2025); ITU-T G.9803 (2018).</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RoF types: what is on the fiber sets what the remote unit contains</a:t>
            </a:r>
            <a:endParaRPr lang="en-US" sz="2800" dirty="0"/>
          </a:p>
        </p:txBody>
      </p:sp>
      <p:sp>
        <p:nvSpPr>
          <p:cNvPr id="4" name="Shape 1"/>
          <p:cNvSpPr/>
          <p:nvPr/>
        </p:nvSpPr>
        <p:spPr>
          <a:xfrm>
            <a:off x="548640" y="1234440"/>
            <a:ext cx="1508760" cy="365760"/>
          </a:xfrm>
          <a:prstGeom prst="rect">
            <a:avLst/>
          </a:prstGeom>
          <a:solidFill>
            <a:srgbClr val="E6EBF2"/>
          </a:solidFill>
          <a:ln w="12700">
            <a:solidFill>
              <a:srgbClr val="E6EBF2"/>
            </a:solidFill>
            <a:prstDash val="solid"/>
          </a:ln>
        </p:spPr>
      </p:sp>
      <p:sp>
        <p:nvSpPr>
          <p:cNvPr id="5" name="Text 2"/>
          <p:cNvSpPr txBox="1"/>
          <p:nvPr/>
        </p:nvSpPr>
        <p:spPr>
          <a:xfrm>
            <a:off x="548640" y="1234440"/>
            <a:ext cx="1508760" cy="365760"/>
          </a:xfrm>
          <a:prstGeom prst="rect">
            <a:avLst/>
          </a:prstGeom>
          <a:noFill/>
          <a:ln/>
        </p:spPr>
        <p:txBody>
          <a:bodyPr wrap="square" lIns="38100" tIns="38100" rIns="38100" bIns="3810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Option</a:t>
            </a:r>
            <a:endParaRPr lang="en-US" sz="1200" dirty="0"/>
          </a:p>
        </p:txBody>
      </p:sp>
      <p:sp>
        <p:nvSpPr>
          <p:cNvPr id="6" name="Shape 3"/>
          <p:cNvSpPr/>
          <p:nvPr/>
        </p:nvSpPr>
        <p:spPr>
          <a:xfrm>
            <a:off x="2148840" y="1234440"/>
            <a:ext cx="2880360" cy="365760"/>
          </a:xfrm>
          <a:prstGeom prst="rect">
            <a:avLst/>
          </a:prstGeom>
          <a:solidFill>
            <a:srgbClr val="E6EBF2"/>
          </a:solidFill>
          <a:ln w="12700">
            <a:solidFill>
              <a:srgbClr val="E6EBF2"/>
            </a:solidFill>
            <a:prstDash val="solid"/>
          </a:ln>
        </p:spPr>
      </p:sp>
      <p:sp>
        <p:nvSpPr>
          <p:cNvPr id="7" name="Text 4"/>
          <p:cNvSpPr txBox="1"/>
          <p:nvPr/>
        </p:nvSpPr>
        <p:spPr>
          <a:xfrm>
            <a:off x="2148840" y="1234440"/>
            <a:ext cx="2880360" cy="365760"/>
          </a:xfrm>
          <a:prstGeom prst="rect">
            <a:avLst/>
          </a:prstGeom>
          <a:noFill/>
          <a:ln/>
        </p:spPr>
        <p:txBody>
          <a:bodyPr wrap="square" lIns="38100" tIns="38100" rIns="38100" bIns="3810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Central site</a:t>
            </a:r>
            <a:endParaRPr lang="en-US" sz="1200" dirty="0"/>
          </a:p>
        </p:txBody>
      </p:sp>
      <p:sp>
        <p:nvSpPr>
          <p:cNvPr id="8" name="Shape 5"/>
          <p:cNvSpPr/>
          <p:nvPr/>
        </p:nvSpPr>
        <p:spPr>
          <a:xfrm>
            <a:off x="5120640" y="1234440"/>
            <a:ext cx="1783080" cy="365760"/>
          </a:xfrm>
          <a:prstGeom prst="rect">
            <a:avLst/>
          </a:prstGeom>
          <a:solidFill>
            <a:srgbClr val="E6EBF2"/>
          </a:solidFill>
          <a:ln w="12700">
            <a:solidFill>
              <a:srgbClr val="E6EBF2"/>
            </a:solidFill>
            <a:prstDash val="solid"/>
          </a:ln>
        </p:spPr>
      </p:sp>
      <p:sp>
        <p:nvSpPr>
          <p:cNvPr id="9" name="Text 6"/>
          <p:cNvSpPr txBox="1"/>
          <p:nvPr/>
        </p:nvSpPr>
        <p:spPr>
          <a:xfrm>
            <a:off x="5120640" y="1234440"/>
            <a:ext cx="1783080" cy="365760"/>
          </a:xfrm>
          <a:prstGeom prst="rect">
            <a:avLst/>
          </a:prstGeom>
          <a:noFill/>
          <a:ln/>
        </p:spPr>
        <p:txBody>
          <a:bodyPr wrap="square" lIns="38100" tIns="38100" rIns="38100" bIns="3810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Signal on fiber</a:t>
            </a:r>
            <a:endParaRPr lang="en-US" sz="1200" dirty="0"/>
          </a:p>
        </p:txBody>
      </p:sp>
      <p:sp>
        <p:nvSpPr>
          <p:cNvPr id="10" name="Shape 7"/>
          <p:cNvSpPr/>
          <p:nvPr/>
        </p:nvSpPr>
        <p:spPr>
          <a:xfrm>
            <a:off x="6995160" y="1234440"/>
            <a:ext cx="4617720" cy="365760"/>
          </a:xfrm>
          <a:prstGeom prst="rect">
            <a:avLst/>
          </a:prstGeom>
          <a:solidFill>
            <a:srgbClr val="E6EBF2"/>
          </a:solidFill>
          <a:ln w="12700">
            <a:solidFill>
              <a:srgbClr val="E6EBF2"/>
            </a:solidFill>
            <a:prstDash val="solid"/>
          </a:ln>
        </p:spPr>
      </p:sp>
      <p:sp>
        <p:nvSpPr>
          <p:cNvPr id="11" name="Text 8"/>
          <p:cNvSpPr txBox="1"/>
          <p:nvPr/>
        </p:nvSpPr>
        <p:spPr>
          <a:xfrm>
            <a:off x="6995160" y="1234440"/>
            <a:ext cx="4617720" cy="365760"/>
          </a:xfrm>
          <a:prstGeom prst="rect">
            <a:avLst/>
          </a:prstGeom>
          <a:noFill/>
          <a:ln/>
        </p:spPr>
        <p:txBody>
          <a:bodyPr wrap="square" lIns="38100" tIns="38100" rIns="38100" bIns="38100" rtlCol="0" anchor="ctr"/>
          <a:lstStyle/>
          <a:p>
            <a:pPr algn="ctr" indent="0" marL="0">
              <a:buNone/>
            </a:pPr>
            <a:r>
              <a:rPr lang="en-US" sz="1200" b="1" dirty="0">
                <a:solidFill>
                  <a:srgbClr val="1F3A5F"/>
                </a:solidFill>
                <a:latin typeface="Calibri" pitchFamily="34" charset="0"/>
                <a:ea typeface="Calibri" pitchFamily="34" charset="-122"/>
                <a:cs typeface="Calibri" pitchFamily="34" charset="-120"/>
              </a:rPr>
              <a:t>Remote unit: downlink functions</a:t>
            </a:r>
            <a:endParaRPr lang="en-US" sz="1200" dirty="0"/>
          </a:p>
        </p:txBody>
      </p:sp>
      <p:sp>
        <p:nvSpPr>
          <p:cNvPr id="12" name="Text 9"/>
          <p:cNvSpPr txBox="1"/>
          <p:nvPr/>
        </p:nvSpPr>
        <p:spPr>
          <a:xfrm>
            <a:off x="548640" y="1783080"/>
            <a:ext cx="1508760" cy="7315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RFoF</a:t>
            </a:r>
            <a:endParaRPr lang="en-US" sz="1300" dirty="0"/>
          </a:p>
          <a:p>
            <a:pPr indent="0" marL="0">
              <a:buNone/>
            </a:pPr>
            <a:r>
              <a:rPr lang="en-US" sz="1000" dirty="0">
                <a:solidFill>
                  <a:srgbClr val="5F6670"/>
                </a:solidFill>
                <a:latin typeface="Calibri" pitchFamily="34" charset="0"/>
                <a:ea typeface="Calibri" pitchFamily="34" charset="-122"/>
                <a:cs typeface="Calibri" pitchFamily="34" charset="-120"/>
              </a:rPr>
              <a:t>analog RF</a:t>
            </a:r>
            <a:endParaRPr lang="en-US" sz="1300" dirty="0"/>
          </a:p>
        </p:txBody>
      </p:sp>
      <p:sp>
        <p:nvSpPr>
          <p:cNvPr id="13" name="Shape 10"/>
          <p:cNvSpPr/>
          <p:nvPr/>
        </p:nvSpPr>
        <p:spPr>
          <a:xfrm>
            <a:off x="2148840" y="1783080"/>
            <a:ext cx="1691640" cy="731520"/>
          </a:xfrm>
          <a:prstGeom prst="rect">
            <a:avLst/>
          </a:prstGeom>
          <a:solidFill>
            <a:srgbClr val="FFFFFF"/>
          </a:solidFill>
          <a:ln w="12700">
            <a:solidFill>
              <a:srgbClr val="AEB6C2"/>
            </a:solidFill>
            <a:prstDash val="solid"/>
          </a:ln>
        </p:spPr>
      </p:sp>
      <p:sp>
        <p:nvSpPr>
          <p:cNvPr id="14" name="Text 11"/>
          <p:cNvSpPr txBox="1"/>
          <p:nvPr/>
        </p:nvSpPr>
        <p:spPr>
          <a:xfrm>
            <a:off x="2148840" y="1783080"/>
            <a:ext cx="1691640"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Radio: DAC + up-conversion to RF</a:t>
            </a:r>
            <a:endParaRPr lang="en-US" sz="1100" dirty="0"/>
          </a:p>
        </p:txBody>
      </p:sp>
      <p:sp>
        <p:nvSpPr>
          <p:cNvPr id="15" name="Shape 12"/>
          <p:cNvSpPr/>
          <p:nvPr/>
        </p:nvSpPr>
        <p:spPr>
          <a:xfrm>
            <a:off x="3840480" y="2148840"/>
            <a:ext cx="182880" cy="0"/>
          </a:xfrm>
          <a:prstGeom prst="line">
            <a:avLst/>
          </a:prstGeom>
          <a:noFill/>
          <a:ln w="15875">
            <a:solidFill>
              <a:srgbClr val="1A1A1A"/>
            </a:solidFill>
            <a:prstDash val="solid"/>
            <a:tailEnd type="triangle"/>
          </a:ln>
        </p:spPr>
      </p:sp>
      <p:sp>
        <p:nvSpPr>
          <p:cNvPr id="16" name="Shape 13"/>
          <p:cNvSpPr/>
          <p:nvPr/>
        </p:nvSpPr>
        <p:spPr>
          <a:xfrm>
            <a:off x="4023360" y="1783080"/>
            <a:ext cx="1005840" cy="731520"/>
          </a:xfrm>
          <a:prstGeom prst="rect">
            <a:avLst/>
          </a:prstGeom>
          <a:solidFill>
            <a:srgbClr val="DCE6F2"/>
          </a:solidFill>
          <a:ln w="12700">
            <a:solidFill>
              <a:srgbClr val="AEB6C2"/>
            </a:solidFill>
            <a:prstDash val="solid"/>
          </a:ln>
        </p:spPr>
      </p:sp>
      <p:sp>
        <p:nvSpPr>
          <p:cNvPr id="17" name="Text 14"/>
          <p:cNvSpPr txBox="1"/>
          <p:nvPr/>
        </p:nvSpPr>
        <p:spPr>
          <a:xfrm>
            <a:off x="4023360" y="1783080"/>
            <a:ext cx="1005840" cy="73152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E/O</a:t>
            </a:r>
            <a:endParaRPr lang="en-US" sz="1100" dirty="0"/>
          </a:p>
        </p:txBody>
      </p:sp>
      <p:sp>
        <p:nvSpPr>
          <p:cNvPr id="18" name="Shape 15"/>
          <p:cNvSpPr/>
          <p:nvPr/>
        </p:nvSpPr>
        <p:spPr>
          <a:xfrm>
            <a:off x="5029200" y="2148840"/>
            <a:ext cx="2057400" cy="0"/>
          </a:xfrm>
          <a:prstGeom prst="line">
            <a:avLst/>
          </a:prstGeom>
          <a:noFill/>
          <a:ln w="38100">
            <a:solidFill>
              <a:srgbClr val="1F3A5F"/>
            </a:solidFill>
            <a:prstDash val="solid"/>
            <a:tailEnd type="triangle"/>
          </a:ln>
        </p:spPr>
      </p:sp>
      <p:sp>
        <p:nvSpPr>
          <p:cNvPr id="19" name="Text 16"/>
          <p:cNvSpPr txBox="1"/>
          <p:nvPr/>
        </p:nvSpPr>
        <p:spPr>
          <a:xfrm>
            <a:off x="5029200" y="2194560"/>
            <a:ext cx="2057400" cy="246888"/>
          </a:xfrm>
          <a:prstGeom prst="rect">
            <a:avLst/>
          </a:prstGeom>
          <a:noFill/>
          <a:ln/>
        </p:spPr>
        <p:txBody>
          <a:bodyPr wrap="square" lIns="0" tIns="0" rIns="0" bIns="0" rtlCol="0" anchor="t"/>
          <a:lstStyle/>
          <a:p>
            <a:pPr algn="ctr" indent="0" marL="0">
              <a:buNone/>
            </a:pPr>
            <a:r>
              <a:rPr lang="en-US" sz="1000" i="1" dirty="0">
                <a:solidFill>
                  <a:srgbClr val="1F3A5F"/>
                </a:solidFill>
                <a:latin typeface="Calibri" pitchFamily="34" charset="0"/>
                <a:ea typeface="Calibri" pitchFamily="34" charset="-122"/>
                <a:cs typeface="Calibri" pitchFamily="34" charset="-120"/>
              </a:rPr>
              <a:t>Analog RF waveform</a:t>
            </a:r>
            <a:endParaRPr lang="en-US" sz="1000" dirty="0"/>
          </a:p>
        </p:txBody>
      </p:sp>
      <p:sp>
        <p:nvSpPr>
          <p:cNvPr id="20" name="Shape 17"/>
          <p:cNvSpPr/>
          <p:nvPr/>
        </p:nvSpPr>
        <p:spPr>
          <a:xfrm>
            <a:off x="7086600" y="1783080"/>
            <a:ext cx="896112" cy="731520"/>
          </a:xfrm>
          <a:prstGeom prst="rect">
            <a:avLst/>
          </a:prstGeom>
          <a:solidFill>
            <a:srgbClr val="DCE6F2"/>
          </a:solidFill>
          <a:ln w="12700">
            <a:solidFill>
              <a:srgbClr val="AEB6C2"/>
            </a:solidFill>
            <a:prstDash val="solid"/>
          </a:ln>
        </p:spPr>
      </p:sp>
      <p:sp>
        <p:nvSpPr>
          <p:cNvPr id="21" name="Text 18"/>
          <p:cNvSpPr txBox="1"/>
          <p:nvPr/>
        </p:nvSpPr>
        <p:spPr>
          <a:xfrm>
            <a:off x="7086600" y="1783080"/>
            <a:ext cx="896112" cy="73152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O/E</a:t>
            </a:r>
            <a:endParaRPr lang="en-US" sz="1100" dirty="0"/>
          </a:p>
        </p:txBody>
      </p:sp>
      <p:sp>
        <p:nvSpPr>
          <p:cNvPr id="22" name="Shape 19"/>
          <p:cNvSpPr/>
          <p:nvPr/>
        </p:nvSpPr>
        <p:spPr>
          <a:xfrm>
            <a:off x="7982712" y="2148840"/>
            <a:ext cx="201168" cy="0"/>
          </a:xfrm>
          <a:prstGeom prst="line">
            <a:avLst/>
          </a:prstGeom>
          <a:noFill/>
          <a:ln w="15875">
            <a:solidFill>
              <a:srgbClr val="1A1A1A"/>
            </a:solidFill>
            <a:prstDash val="solid"/>
            <a:tailEnd type="triangle"/>
          </a:ln>
        </p:spPr>
      </p:sp>
      <p:sp>
        <p:nvSpPr>
          <p:cNvPr id="23" name="Shape 20"/>
          <p:cNvSpPr/>
          <p:nvPr/>
        </p:nvSpPr>
        <p:spPr>
          <a:xfrm>
            <a:off x="8183880" y="1783080"/>
            <a:ext cx="896112" cy="731520"/>
          </a:xfrm>
          <a:prstGeom prst="rect">
            <a:avLst/>
          </a:prstGeom>
          <a:solidFill>
            <a:srgbClr val="FFFFFF"/>
          </a:solidFill>
          <a:ln w="12700">
            <a:solidFill>
              <a:srgbClr val="AEB6C2"/>
            </a:solidFill>
            <a:prstDash val="solid"/>
          </a:ln>
        </p:spPr>
      </p:sp>
      <p:sp>
        <p:nvSpPr>
          <p:cNvPr id="24" name="Text 21"/>
          <p:cNvSpPr txBox="1"/>
          <p:nvPr/>
        </p:nvSpPr>
        <p:spPr>
          <a:xfrm>
            <a:off x="8183880" y="1783080"/>
            <a:ext cx="896112"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Amp + BPF</a:t>
            </a:r>
            <a:endParaRPr lang="en-US" sz="1100" dirty="0"/>
          </a:p>
        </p:txBody>
      </p:sp>
      <p:sp>
        <p:nvSpPr>
          <p:cNvPr id="25" name="Shape 22"/>
          <p:cNvSpPr/>
          <p:nvPr/>
        </p:nvSpPr>
        <p:spPr>
          <a:xfrm>
            <a:off x="9079992" y="2148840"/>
            <a:ext cx="201168" cy="0"/>
          </a:xfrm>
          <a:prstGeom prst="line">
            <a:avLst/>
          </a:prstGeom>
          <a:noFill/>
          <a:ln w="15875">
            <a:solidFill>
              <a:srgbClr val="1A1A1A"/>
            </a:solidFill>
            <a:prstDash val="solid"/>
            <a:tailEnd type="triangle"/>
          </a:ln>
        </p:spPr>
      </p:sp>
      <p:sp>
        <p:nvSpPr>
          <p:cNvPr id="26" name="Shape 23"/>
          <p:cNvSpPr/>
          <p:nvPr/>
        </p:nvSpPr>
        <p:spPr>
          <a:xfrm>
            <a:off x="9281160" y="1783080"/>
            <a:ext cx="896112" cy="731520"/>
          </a:xfrm>
          <a:prstGeom prst="rect">
            <a:avLst/>
          </a:prstGeom>
          <a:solidFill>
            <a:srgbClr val="FFFFFF"/>
          </a:solidFill>
          <a:ln w="12700">
            <a:solidFill>
              <a:srgbClr val="AEB6C2"/>
            </a:solidFill>
            <a:prstDash val="solid"/>
          </a:ln>
        </p:spPr>
      </p:sp>
      <p:sp>
        <p:nvSpPr>
          <p:cNvPr id="27" name="Text 24"/>
          <p:cNvSpPr txBox="1"/>
          <p:nvPr/>
        </p:nvSpPr>
        <p:spPr>
          <a:xfrm>
            <a:off x="9281160" y="1783080"/>
            <a:ext cx="896112"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PA</a:t>
            </a:r>
            <a:endParaRPr lang="en-US" sz="1100" dirty="0"/>
          </a:p>
        </p:txBody>
      </p:sp>
      <p:sp>
        <p:nvSpPr>
          <p:cNvPr id="28" name="Shape 25"/>
          <p:cNvSpPr/>
          <p:nvPr/>
        </p:nvSpPr>
        <p:spPr>
          <a:xfrm>
            <a:off x="10177272" y="2148840"/>
            <a:ext cx="182880" cy="0"/>
          </a:xfrm>
          <a:prstGeom prst="line">
            <a:avLst/>
          </a:prstGeom>
          <a:noFill/>
          <a:ln w="15875">
            <a:solidFill>
              <a:srgbClr val="1A1A1A"/>
            </a:solidFill>
            <a:prstDash val="solid"/>
          </a:ln>
        </p:spPr>
      </p:sp>
      <p:sp>
        <p:nvSpPr>
          <p:cNvPr id="29" name="Shape 26"/>
          <p:cNvSpPr/>
          <p:nvPr/>
        </p:nvSpPr>
        <p:spPr>
          <a:xfrm>
            <a:off x="10360152" y="1856232"/>
            <a:ext cx="0" cy="292608"/>
          </a:xfrm>
          <a:prstGeom prst="line">
            <a:avLst/>
          </a:prstGeom>
          <a:noFill/>
          <a:ln w="15875">
            <a:solidFill>
              <a:srgbClr val="1A1A1A"/>
            </a:solidFill>
            <a:prstDash val="solid"/>
          </a:ln>
        </p:spPr>
      </p:sp>
      <p:sp>
        <p:nvSpPr>
          <p:cNvPr id="30" name="Shape 27"/>
          <p:cNvSpPr/>
          <p:nvPr/>
        </p:nvSpPr>
        <p:spPr>
          <a:xfrm flipV="1">
            <a:off x="10241280" y="1691640"/>
            <a:ext cx="237744" cy="182880"/>
          </a:xfrm>
          <a:prstGeom prst="triangle">
            <a:avLst/>
          </a:prstGeom>
          <a:solidFill>
            <a:srgbClr val="FFFFFF"/>
          </a:solidFill>
          <a:ln w="15875">
            <a:solidFill>
              <a:srgbClr val="1A1A1A"/>
            </a:solidFill>
            <a:prstDash val="solid"/>
          </a:ln>
        </p:spPr>
      </p:sp>
      <p:sp>
        <p:nvSpPr>
          <p:cNvPr id="31" name="Text 28"/>
          <p:cNvSpPr txBox="1"/>
          <p:nvPr/>
        </p:nvSpPr>
        <p:spPr>
          <a:xfrm>
            <a:off x="548640" y="2807208"/>
            <a:ext cx="1508760" cy="7315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IFoF</a:t>
            </a:r>
            <a:endParaRPr lang="en-US" sz="1300" dirty="0"/>
          </a:p>
          <a:p>
            <a:pPr indent="0" marL="0">
              <a:buNone/>
            </a:pPr>
            <a:r>
              <a:rPr lang="en-US" sz="1000" dirty="0">
                <a:solidFill>
                  <a:srgbClr val="5F6670"/>
                </a:solidFill>
                <a:latin typeface="Calibri" pitchFamily="34" charset="0"/>
                <a:ea typeface="Calibri" pitchFamily="34" charset="-122"/>
                <a:cs typeface="Calibri" pitchFamily="34" charset="-120"/>
              </a:rPr>
              <a:t>analog IF</a:t>
            </a:r>
            <a:endParaRPr lang="en-US" sz="1300" dirty="0"/>
          </a:p>
        </p:txBody>
      </p:sp>
      <p:sp>
        <p:nvSpPr>
          <p:cNvPr id="32" name="Shape 29"/>
          <p:cNvSpPr/>
          <p:nvPr/>
        </p:nvSpPr>
        <p:spPr>
          <a:xfrm>
            <a:off x="2148840" y="2807208"/>
            <a:ext cx="1691640" cy="731520"/>
          </a:xfrm>
          <a:prstGeom prst="rect">
            <a:avLst/>
          </a:prstGeom>
          <a:solidFill>
            <a:srgbClr val="FFFFFF"/>
          </a:solidFill>
          <a:ln w="12700">
            <a:solidFill>
              <a:srgbClr val="AEB6C2"/>
            </a:solidFill>
            <a:prstDash val="solid"/>
          </a:ln>
        </p:spPr>
      </p:sp>
      <p:sp>
        <p:nvSpPr>
          <p:cNvPr id="33" name="Text 30"/>
          <p:cNvSpPr txBox="1"/>
          <p:nvPr/>
        </p:nvSpPr>
        <p:spPr>
          <a:xfrm>
            <a:off x="2148840" y="2807208"/>
            <a:ext cx="1691640"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Radio: DAC + up-conversion to IF</a:t>
            </a:r>
            <a:endParaRPr lang="en-US" sz="1100" dirty="0"/>
          </a:p>
        </p:txBody>
      </p:sp>
      <p:sp>
        <p:nvSpPr>
          <p:cNvPr id="34" name="Shape 31"/>
          <p:cNvSpPr/>
          <p:nvPr/>
        </p:nvSpPr>
        <p:spPr>
          <a:xfrm>
            <a:off x="3840480" y="3172968"/>
            <a:ext cx="182880" cy="0"/>
          </a:xfrm>
          <a:prstGeom prst="line">
            <a:avLst/>
          </a:prstGeom>
          <a:noFill/>
          <a:ln w="15875">
            <a:solidFill>
              <a:srgbClr val="1A1A1A"/>
            </a:solidFill>
            <a:prstDash val="solid"/>
            <a:tailEnd type="triangle"/>
          </a:ln>
        </p:spPr>
      </p:sp>
      <p:sp>
        <p:nvSpPr>
          <p:cNvPr id="35" name="Shape 32"/>
          <p:cNvSpPr/>
          <p:nvPr/>
        </p:nvSpPr>
        <p:spPr>
          <a:xfrm>
            <a:off x="4023360" y="2807208"/>
            <a:ext cx="1005840" cy="731520"/>
          </a:xfrm>
          <a:prstGeom prst="rect">
            <a:avLst/>
          </a:prstGeom>
          <a:solidFill>
            <a:srgbClr val="DCE6F2"/>
          </a:solidFill>
          <a:ln w="12700">
            <a:solidFill>
              <a:srgbClr val="AEB6C2"/>
            </a:solidFill>
            <a:prstDash val="solid"/>
          </a:ln>
        </p:spPr>
      </p:sp>
      <p:sp>
        <p:nvSpPr>
          <p:cNvPr id="36" name="Text 33"/>
          <p:cNvSpPr txBox="1"/>
          <p:nvPr/>
        </p:nvSpPr>
        <p:spPr>
          <a:xfrm>
            <a:off x="4023360" y="2807208"/>
            <a:ext cx="1005840" cy="73152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E/O</a:t>
            </a:r>
            <a:endParaRPr lang="en-US" sz="1100" dirty="0"/>
          </a:p>
        </p:txBody>
      </p:sp>
      <p:sp>
        <p:nvSpPr>
          <p:cNvPr id="37" name="Shape 34"/>
          <p:cNvSpPr/>
          <p:nvPr/>
        </p:nvSpPr>
        <p:spPr>
          <a:xfrm>
            <a:off x="5029200" y="3172968"/>
            <a:ext cx="2057400" cy="0"/>
          </a:xfrm>
          <a:prstGeom prst="line">
            <a:avLst/>
          </a:prstGeom>
          <a:noFill/>
          <a:ln w="38100">
            <a:solidFill>
              <a:srgbClr val="1F3A5F"/>
            </a:solidFill>
            <a:prstDash val="solid"/>
            <a:tailEnd type="triangle"/>
          </a:ln>
        </p:spPr>
      </p:sp>
      <p:sp>
        <p:nvSpPr>
          <p:cNvPr id="38" name="Text 35"/>
          <p:cNvSpPr txBox="1"/>
          <p:nvPr/>
        </p:nvSpPr>
        <p:spPr>
          <a:xfrm>
            <a:off x="5029200" y="3218688"/>
            <a:ext cx="2057400" cy="246888"/>
          </a:xfrm>
          <a:prstGeom prst="rect">
            <a:avLst/>
          </a:prstGeom>
          <a:noFill/>
          <a:ln/>
        </p:spPr>
        <p:txBody>
          <a:bodyPr wrap="square" lIns="0" tIns="0" rIns="0" bIns="0" rtlCol="0" anchor="t"/>
          <a:lstStyle/>
          <a:p>
            <a:pPr algn="ctr" indent="0" marL="0">
              <a:buNone/>
            </a:pPr>
            <a:r>
              <a:rPr lang="en-US" sz="1000" i="1" dirty="0">
                <a:solidFill>
                  <a:srgbClr val="1F3A5F"/>
                </a:solidFill>
                <a:latin typeface="Calibri" pitchFamily="34" charset="0"/>
                <a:ea typeface="Calibri" pitchFamily="34" charset="-122"/>
                <a:cs typeface="Calibri" pitchFamily="34" charset="-120"/>
              </a:rPr>
              <a:t>Analog IF waveform</a:t>
            </a:r>
            <a:endParaRPr lang="en-US" sz="1000" dirty="0"/>
          </a:p>
        </p:txBody>
      </p:sp>
      <p:sp>
        <p:nvSpPr>
          <p:cNvPr id="39" name="Shape 36"/>
          <p:cNvSpPr/>
          <p:nvPr/>
        </p:nvSpPr>
        <p:spPr>
          <a:xfrm>
            <a:off x="7086600" y="2807208"/>
            <a:ext cx="896112" cy="731520"/>
          </a:xfrm>
          <a:prstGeom prst="rect">
            <a:avLst/>
          </a:prstGeom>
          <a:solidFill>
            <a:srgbClr val="DCE6F2"/>
          </a:solidFill>
          <a:ln w="12700">
            <a:solidFill>
              <a:srgbClr val="AEB6C2"/>
            </a:solidFill>
            <a:prstDash val="solid"/>
          </a:ln>
        </p:spPr>
      </p:sp>
      <p:sp>
        <p:nvSpPr>
          <p:cNvPr id="40" name="Text 37"/>
          <p:cNvSpPr txBox="1"/>
          <p:nvPr/>
        </p:nvSpPr>
        <p:spPr>
          <a:xfrm>
            <a:off x="7086600" y="2807208"/>
            <a:ext cx="896112" cy="73152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O/E</a:t>
            </a:r>
            <a:endParaRPr lang="en-US" sz="1100" dirty="0"/>
          </a:p>
        </p:txBody>
      </p:sp>
      <p:sp>
        <p:nvSpPr>
          <p:cNvPr id="41" name="Shape 38"/>
          <p:cNvSpPr/>
          <p:nvPr/>
        </p:nvSpPr>
        <p:spPr>
          <a:xfrm>
            <a:off x="7982712" y="3172968"/>
            <a:ext cx="201168" cy="0"/>
          </a:xfrm>
          <a:prstGeom prst="line">
            <a:avLst/>
          </a:prstGeom>
          <a:noFill/>
          <a:ln w="15875">
            <a:solidFill>
              <a:srgbClr val="1A1A1A"/>
            </a:solidFill>
            <a:prstDash val="solid"/>
            <a:tailEnd type="triangle"/>
          </a:ln>
        </p:spPr>
      </p:sp>
      <p:sp>
        <p:nvSpPr>
          <p:cNvPr id="42" name="Shape 39"/>
          <p:cNvSpPr/>
          <p:nvPr/>
        </p:nvSpPr>
        <p:spPr>
          <a:xfrm>
            <a:off x="8183880" y="2807208"/>
            <a:ext cx="896112" cy="731520"/>
          </a:xfrm>
          <a:prstGeom prst="rect">
            <a:avLst/>
          </a:prstGeom>
          <a:solidFill>
            <a:srgbClr val="FFFFFF"/>
          </a:solidFill>
          <a:ln w="12700">
            <a:solidFill>
              <a:srgbClr val="AEB6C2"/>
            </a:solidFill>
            <a:prstDash val="solid"/>
          </a:ln>
        </p:spPr>
      </p:sp>
      <p:sp>
        <p:nvSpPr>
          <p:cNvPr id="43" name="Text 40"/>
          <p:cNvSpPr txBox="1"/>
          <p:nvPr/>
        </p:nvSpPr>
        <p:spPr>
          <a:xfrm>
            <a:off x="8183880" y="2807208"/>
            <a:ext cx="896112"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Mixer + LO</a:t>
            </a:r>
            <a:endParaRPr lang="en-US" sz="1100" dirty="0"/>
          </a:p>
        </p:txBody>
      </p:sp>
      <p:sp>
        <p:nvSpPr>
          <p:cNvPr id="44" name="Shape 41"/>
          <p:cNvSpPr/>
          <p:nvPr/>
        </p:nvSpPr>
        <p:spPr>
          <a:xfrm>
            <a:off x="9079992" y="3172968"/>
            <a:ext cx="201168" cy="0"/>
          </a:xfrm>
          <a:prstGeom prst="line">
            <a:avLst/>
          </a:prstGeom>
          <a:noFill/>
          <a:ln w="15875">
            <a:solidFill>
              <a:srgbClr val="1A1A1A"/>
            </a:solidFill>
            <a:prstDash val="solid"/>
            <a:tailEnd type="triangle"/>
          </a:ln>
        </p:spPr>
      </p:sp>
      <p:sp>
        <p:nvSpPr>
          <p:cNvPr id="45" name="Shape 42"/>
          <p:cNvSpPr/>
          <p:nvPr/>
        </p:nvSpPr>
        <p:spPr>
          <a:xfrm>
            <a:off x="9281160" y="2807208"/>
            <a:ext cx="896112" cy="731520"/>
          </a:xfrm>
          <a:prstGeom prst="rect">
            <a:avLst/>
          </a:prstGeom>
          <a:solidFill>
            <a:srgbClr val="FFFFFF"/>
          </a:solidFill>
          <a:ln w="12700">
            <a:solidFill>
              <a:srgbClr val="AEB6C2"/>
            </a:solidFill>
            <a:prstDash val="solid"/>
          </a:ln>
        </p:spPr>
      </p:sp>
      <p:sp>
        <p:nvSpPr>
          <p:cNvPr id="46" name="Text 43"/>
          <p:cNvSpPr txBox="1"/>
          <p:nvPr/>
        </p:nvSpPr>
        <p:spPr>
          <a:xfrm>
            <a:off x="9281160" y="2807208"/>
            <a:ext cx="896112"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Amp + BPF</a:t>
            </a:r>
            <a:endParaRPr lang="en-US" sz="1100" dirty="0"/>
          </a:p>
        </p:txBody>
      </p:sp>
      <p:sp>
        <p:nvSpPr>
          <p:cNvPr id="47" name="Shape 44"/>
          <p:cNvSpPr/>
          <p:nvPr/>
        </p:nvSpPr>
        <p:spPr>
          <a:xfrm>
            <a:off x="10177272" y="3172968"/>
            <a:ext cx="201168" cy="0"/>
          </a:xfrm>
          <a:prstGeom prst="line">
            <a:avLst/>
          </a:prstGeom>
          <a:noFill/>
          <a:ln w="15875">
            <a:solidFill>
              <a:srgbClr val="1A1A1A"/>
            </a:solidFill>
            <a:prstDash val="solid"/>
            <a:tailEnd type="triangle"/>
          </a:ln>
        </p:spPr>
      </p:sp>
      <p:sp>
        <p:nvSpPr>
          <p:cNvPr id="48" name="Shape 45"/>
          <p:cNvSpPr/>
          <p:nvPr/>
        </p:nvSpPr>
        <p:spPr>
          <a:xfrm>
            <a:off x="10378440" y="2807208"/>
            <a:ext cx="896112" cy="731520"/>
          </a:xfrm>
          <a:prstGeom prst="rect">
            <a:avLst/>
          </a:prstGeom>
          <a:solidFill>
            <a:srgbClr val="FFFFFF"/>
          </a:solidFill>
          <a:ln w="12700">
            <a:solidFill>
              <a:srgbClr val="AEB6C2"/>
            </a:solidFill>
            <a:prstDash val="solid"/>
          </a:ln>
        </p:spPr>
      </p:sp>
      <p:sp>
        <p:nvSpPr>
          <p:cNvPr id="49" name="Text 46"/>
          <p:cNvSpPr txBox="1"/>
          <p:nvPr/>
        </p:nvSpPr>
        <p:spPr>
          <a:xfrm>
            <a:off x="10378440" y="2807208"/>
            <a:ext cx="896112"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PA</a:t>
            </a:r>
            <a:endParaRPr lang="en-US" sz="1100" dirty="0"/>
          </a:p>
        </p:txBody>
      </p:sp>
      <p:sp>
        <p:nvSpPr>
          <p:cNvPr id="50" name="Shape 47"/>
          <p:cNvSpPr/>
          <p:nvPr/>
        </p:nvSpPr>
        <p:spPr>
          <a:xfrm>
            <a:off x="11274552" y="3172968"/>
            <a:ext cx="182880" cy="0"/>
          </a:xfrm>
          <a:prstGeom prst="line">
            <a:avLst/>
          </a:prstGeom>
          <a:noFill/>
          <a:ln w="15875">
            <a:solidFill>
              <a:srgbClr val="1A1A1A"/>
            </a:solidFill>
            <a:prstDash val="solid"/>
          </a:ln>
        </p:spPr>
      </p:sp>
      <p:sp>
        <p:nvSpPr>
          <p:cNvPr id="51" name="Shape 48"/>
          <p:cNvSpPr/>
          <p:nvPr/>
        </p:nvSpPr>
        <p:spPr>
          <a:xfrm>
            <a:off x="11457432" y="2880360"/>
            <a:ext cx="0" cy="292608"/>
          </a:xfrm>
          <a:prstGeom prst="line">
            <a:avLst/>
          </a:prstGeom>
          <a:noFill/>
          <a:ln w="15875">
            <a:solidFill>
              <a:srgbClr val="1A1A1A"/>
            </a:solidFill>
            <a:prstDash val="solid"/>
          </a:ln>
        </p:spPr>
      </p:sp>
      <p:sp>
        <p:nvSpPr>
          <p:cNvPr id="52" name="Shape 49"/>
          <p:cNvSpPr/>
          <p:nvPr/>
        </p:nvSpPr>
        <p:spPr>
          <a:xfrm flipV="1">
            <a:off x="11338560" y="2715768"/>
            <a:ext cx="237744" cy="182880"/>
          </a:xfrm>
          <a:prstGeom prst="triangle">
            <a:avLst/>
          </a:prstGeom>
          <a:solidFill>
            <a:srgbClr val="FFFFFF"/>
          </a:solidFill>
          <a:ln w="15875">
            <a:solidFill>
              <a:srgbClr val="1A1A1A"/>
            </a:solidFill>
            <a:prstDash val="solid"/>
          </a:ln>
        </p:spPr>
      </p:sp>
      <p:sp>
        <p:nvSpPr>
          <p:cNvPr id="53" name="Text 50"/>
          <p:cNvSpPr txBox="1"/>
          <p:nvPr/>
        </p:nvSpPr>
        <p:spPr>
          <a:xfrm>
            <a:off x="548640" y="3831336"/>
            <a:ext cx="1508760" cy="73152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Digital fronthaul</a:t>
            </a:r>
            <a:endParaRPr lang="en-US" sz="1300" dirty="0"/>
          </a:p>
          <a:p>
            <a:pPr indent="0" marL="0">
              <a:buNone/>
            </a:pPr>
            <a:r>
              <a:rPr lang="en-US" sz="1000" dirty="0">
                <a:solidFill>
                  <a:srgbClr val="5F6670"/>
                </a:solidFill>
                <a:latin typeface="Calibri" pitchFamily="34" charset="0"/>
                <a:ea typeface="Calibri" pitchFamily="34" charset="-122"/>
                <a:cs typeface="Calibri" pitchFamily="34" charset="-120"/>
              </a:rPr>
              <a:t>CPRI; not analog RoF</a:t>
            </a:r>
            <a:endParaRPr lang="en-US" sz="1300" dirty="0"/>
          </a:p>
        </p:txBody>
      </p:sp>
      <p:sp>
        <p:nvSpPr>
          <p:cNvPr id="54" name="Shape 51"/>
          <p:cNvSpPr/>
          <p:nvPr/>
        </p:nvSpPr>
        <p:spPr>
          <a:xfrm>
            <a:off x="2148840" y="3831336"/>
            <a:ext cx="1691640" cy="731520"/>
          </a:xfrm>
          <a:prstGeom prst="rect">
            <a:avLst/>
          </a:prstGeom>
          <a:solidFill>
            <a:srgbClr val="FFFFFF"/>
          </a:solidFill>
          <a:ln w="12700">
            <a:solidFill>
              <a:srgbClr val="AEB6C2"/>
            </a:solidFill>
            <a:prstDash val="solid"/>
          </a:ln>
        </p:spPr>
      </p:sp>
      <p:sp>
        <p:nvSpPr>
          <p:cNvPr id="55" name="Text 52"/>
          <p:cNvSpPr txBox="1"/>
          <p:nvPr/>
        </p:nvSpPr>
        <p:spPr>
          <a:xfrm>
            <a:off x="2148840" y="3831336"/>
            <a:ext cx="1691640"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BBU: PHY → I/Q samples</a:t>
            </a:r>
            <a:endParaRPr lang="en-US" sz="1100" dirty="0"/>
          </a:p>
        </p:txBody>
      </p:sp>
      <p:sp>
        <p:nvSpPr>
          <p:cNvPr id="56" name="Shape 53"/>
          <p:cNvSpPr/>
          <p:nvPr/>
        </p:nvSpPr>
        <p:spPr>
          <a:xfrm>
            <a:off x="3840480" y="4197096"/>
            <a:ext cx="182880" cy="0"/>
          </a:xfrm>
          <a:prstGeom prst="line">
            <a:avLst/>
          </a:prstGeom>
          <a:noFill/>
          <a:ln w="15875">
            <a:solidFill>
              <a:srgbClr val="1A1A1A"/>
            </a:solidFill>
            <a:prstDash val="solid"/>
            <a:tailEnd type="triangle"/>
          </a:ln>
        </p:spPr>
      </p:sp>
      <p:sp>
        <p:nvSpPr>
          <p:cNvPr id="57" name="Shape 54"/>
          <p:cNvSpPr/>
          <p:nvPr/>
        </p:nvSpPr>
        <p:spPr>
          <a:xfrm>
            <a:off x="4023360" y="3831336"/>
            <a:ext cx="1005840" cy="731520"/>
          </a:xfrm>
          <a:prstGeom prst="rect">
            <a:avLst/>
          </a:prstGeom>
          <a:solidFill>
            <a:srgbClr val="DCE6F2"/>
          </a:solidFill>
          <a:ln w="12700">
            <a:solidFill>
              <a:srgbClr val="AEB6C2"/>
            </a:solidFill>
            <a:prstDash val="solid"/>
          </a:ln>
        </p:spPr>
      </p:sp>
      <p:sp>
        <p:nvSpPr>
          <p:cNvPr id="58" name="Text 55"/>
          <p:cNvSpPr txBox="1"/>
          <p:nvPr/>
        </p:nvSpPr>
        <p:spPr>
          <a:xfrm>
            <a:off x="4023360" y="3831336"/>
            <a:ext cx="1005840" cy="73152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Framer + optical TRx</a:t>
            </a:r>
            <a:endParaRPr lang="en-US" sz="1100" dirty="0"/>
          </a:p>
        </p:txBody>
      </p:sp>
      <p:sp>
        <p:nvSpPr>
          <p:cNvPr id="59" name="Shape 56"/>
          <p:cNvSpPr/>
          <p:nvPr/>
        </p:nvSpPr>
        <p:spPr>
          <a:xfrm>
            <a:off x="5029200" y="4197096"/>
            <a:ext cx="2057400" cy="0"/>
          </a:xfrm>
          <a:prstGeom prst="line">
            <a:avLst/>
          </a:prstGeom>
          <a:noFill/>
          <a:ln w="38100">
            <a:solidFill>
              <a:srgbClr val="1F3A5F"/>
            </a:solidFill>
            <a:prstDash val="solid"/>
            <a:tailEnd type="triangle"/>
          </a:ln>
        </p:spPr>
      </p:sp>
      <p:sp>
        <p:nvSpPr>
          <p:cNvPr id="60" name="Text 57"/>
          <p:cNvSpPr txBox="1"/>
          <p:nvPr/>
        </p:nvSpPr>
        <p:spPr>
          <a:xfrm>
            <a:off x="5029200" y="4242816"/>
            <a:ext cx="2057400" cy="246888"/>
          </a:xfrm>
          <a:prstGeom prst="rect">
            <a:avLst/>
          </a:prstGeom>
          <a:noFill/>
          <a:ln/>
        </p:spPr>
        <p:txBody>
          <a:bodyPr wrap="square" lIns="0" tIns="0" rIns="0" bIns="0" rtlCol="0" anchor="t"/>
          <a:lstStyle/>
          <a:p>
            <a:pPr algn="ctr" indent="0" marL="0">
              <a:buNone/>
            </a:pPr>
            <a:r>
              <a:rPr lang="en-US" sz="1000" i="1" dirty="0">
                <a:solidFill>
                  <a:srgbClr val="1F3A5F"/>
                </a:solidFill>
                <a:latin typeface="Calibri" pitchFamily="34" charset="0"/>
                <a:ea typeface="Calibri" pitchFamily="34" charset="-122"/>
                <a:cs typeface="Calibri" pitchFamily="34" charset="-120"/>
              </a:rPr>
              <a:t>Serial digital I/Q samples</a:t>
            </a:r>
            <a:endParaRPr lang="en-US" sz="1000" dirty="0"/>
          </a:p>
        </p:txBody>
      </p:sp>
      <p:sp>
        <p:nvSpPr>
          <p:cNvPr id="61" name="Shape 58"/>
          <p:cNvSpPr/>
          <p:nvPr/>
        </p:nvSpPr>
        <p:spPr>
          <a:xfrm>
            <a:off x="7086600" y="3831336"/>
            <a:ext cx="896112" cy="731520"/>
          </a:xfrm>
          <a:prstGeom prst="rect">
            <a:avLst/>
          </a:prstGeom>
          <a:solidFill>
            <a:srgbClr val="DCE6F2"/>
          </a:solidFill>
          <a:ln w="12700">
            <a:solidFill>
              <a:srgbClr val="AEB6C2"/>
            </a:solidFill>
            <a:prstDash val="solid"/>
          </a:ln>
        </p:spPr>
      </p:sp>
      <p:sp>
        <p:nvSpPr>
          <p:cNvPr id="62" name="Text 59"/>
          <p:cNvSpPr txBox="1"/>
          <p:nvPr/>
        </p:nvSpPr>
        <p:spPr>
          <a:xfrm>
            <a:off x="7086600" y="3831336"/>
            <a:ext cx="896112" cy="73152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Optical TRx + deframer</a:t>
            </a:r>
            <a:endParaRPr lang="en-US" sz="1100" dirty="0"/>
          </a:p>
        </p:txBody>
      </p:sp>
      <p:sp>
        <p:nvSpPr>
          <p:cNvPr id="63" name="Shape 60"/>
          <p:cNvSpPr/>
          <p:nvPr/>
        </p:nvSpPr>
        <p:spPr>
          <a:xfrm>
            <a:off x="7982712" y="4197096"/>
            <a:ext cx="201168" cy="0"/>
          </a:xfrm>
          <a:prstGeom prst="line">
            <a:avLst/>
          </a:prstGeom>
          <a:noFill/>
          <a:ln w="15875">
            <a:solidFill>
              <a:srgbClr val="1A1A1A"/>
            </a:solidFill>
            <a:prstDash val="solid"/>
            <a:tailEnd type="triangle"/>
          </a:ln>
        </p:spPr>
      </p:sp>
      <p:sp>
        <p:nvSpPr>
          <p:cNvPr id="64" name="Shape 61"/>
          <p:cNvSpPr/>
          <p:nvPr/>
        </p:nvSpPr>
        <p:spPr>
          <a:xfrm>
            <a:off x="8183880" y="3831336"/>
            <a:ext cx="896112" cy="731520"/>
          </a:xfrm>
          <a:prstGeom prst="rect">
            <a:avLst/>
          </a:prstGeom>
          <a:solidFill>
            <a:srgbClr val="FFFFFF"/>
          </a:solidFill>
          <a:ln w="12700">
            <a:solidFill>
              <a:srgbClr val="AEB6C2"/>
            </a:solidFill>
            <a:prstDash val="solid"/>
          </a:ln>
        </p:spPr>
      </p:sp>
      <p:sp>
        <p:nvSpPr>
          <p:cNvPr id="65" name="Text 62"/>
          <p:cNvSpPr txBox="1"/>
          <p:nvPr/>
        </p:nvSpPr>
        <p:spPr>
          <a:xfrm>
            <a:off x="8183880" y="3831336"/>
            <a:ext cx="896112"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DAC</a:t>
            </a:r>
            <a:endParaRPr lang="en-US" sz="1100" dirty="0"/>
          </a:p>
        </p:txBody>
      </p:sp>
      <p:sp>
        <p:nvSpPr>
          <p:cNvPr id="66" name="Shape 63"/>
          <p:cNvSpPr/>
          <p:nvPr/>
        </p:nvSpPr>
        <p:spPr>
          <a:xfrm>
            <a:off x="9079992" y="4197096"/>
            <a:ext cx="201168" cy="0"/>
          </a:xfrm>
          <a:prstGeom prst="line">
            <a:avLst/>
          </a:prstGeom>
          <a:noFill/>
          <a:ln w="15875">
            <a:solidFill>
              <a:srgbClr val="1A1A1A"/>
            </a:solidFill>
            <a:prstDash val="solid"/>
            <a:tailEnd type="triangle"/>
          </a:ln>
        </p:spPr>
      </p:sp>
      <p:sp>
        <p:nvSpPr>
          <p:cNvPr id="67" name="Shape 64"/>
          <p:cNvSpPr/>
          <p:nvPr/>
        </p:nvSpPr>
        <p:spPr>
          <a:xfrm>
            <a:off x="9281160" y="3831336"/>
            <a:ext cx="896112" cy="731520"/>
          </a:xfrm>
          <a:prstGeom prst="rect">
            <a:avLst/>
          </a:prstGeom>
          <a:solidFill>
            <a:srgbClr val="FFFFFF"/>
          </a:solidFill>
          <a:ln w="12700">
            <a:solidFill>
              <a:srgbClr val="AEB6C2"/>
            </a:solidFill>
            <a:prstDash val="solid"/>
          </a:ln>
        </p:spPr>
      </p:sp>
      <p:sp>
        <p:nvSpPr>
          <p:cNvPr id="68" name="Text 65"/>
          <p:cNvSpPr txBox="1"/>
          <p:nvPr/>
        </p:nvSpPr>
        <p:spPr>
          <a:xfrm>
            <a:off x="9281160" y="3831336"/>
            <a:ext cx="896112"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Up-conv. + LO</a:t>
            </a:r>
            <a:endParaRPr lang="en-US" sz="1100" dirty="0"/>
          </a:p>
        </p:txBody>
      </p:sp>
      <p:sp>
        <p:nvSpPr>
          <p:cNvPr id="69" name="Shape 66"/>
          <p:cNvSpPr/>
          <p:nvPr/>
        </p:nvSpPr>
        <p:spPr>
          <a:xfrm>
            <a:off x="10177272" y="4197096"/>
            <a:ext cx="201168" cy="0"/>
          </a:xfrm>
          <a:prstGeom prst="line">
            <a:avLst/>
          </a:prstGeom>
          <a:noFill/>
          <a:ln w="15875">
            <a:solidFill>
              <a:srgbClr val="1A1A1A"/>
            </a:solidFill>
            <a:prstDash val="solid"/>
            <a:tailEnd type="triangle"/>
          </a:ln>
        </p:spPr>
      </p:sp>
      <p:sp>
        <p:nvSpPr>
          <p:cNvPr id="70" name="Shape 67"/>
          <p:cNvSpPr/>
          <p:nvPr/>
        </p:nvSpPr>
        <p:spPr>
          <a:xfrm>
            <a:off x="10378440" y="3831336"/>
            <a:ext cx="896112" cy="731520"/>
          </a:xfrm>
          <a:prstGeom prst="rect">
            <a:avLst/>
          </a:prstGeom>
          <a:solidFill>
            <a:srgbClr val="FFFFFF"/>
          </a:solidFill>
          <a:ln w="12700">
            <a:solidFill>
              <a:srgbClr val="AEB6C2"/>
            </a:solidFill>
            <a:prstDash val="solid"/>
          </a:ln>
        </p:spPr>
      </p:sp>
      <p:sp>
        <p:nvSpPr>
          <p:cNvPr id="71" name="Text 68"/>
          <p:cNvSpPr txBox="1"/>
          <p:nvPr/>
        </p:nvSpPr>
        <p:spPr>
          <a:xfrm>
            <a:off x="10378440" y="3831336"/>
            <a:ext cx="896112"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PA</a:t>
            </a:r>
            <a:endParaRPr lang="en-US" sz="1100" dirty="0"/>
          </a:p>
        </p:txBody>
      </p:sp>
      <p:sp>
        <p:nvSpPr>
          <p:cNvPr id="72" name="Shape 69"/>
          <p:cNvSpPr/>
          <p:nvPr/>
        </p:nvSpPr>
        <p:spPr>
          <a:xfrm>
            <a:off x="11274552" y="4197096"/>
            <a:ext cx="182880" cy="0"/>
          </a:xfrm>
          <a:prstGeom prst="line">
            <a:avLst/>
          </a:prstGeom>
          <a:noFill/>
          <a:ln w="15875">
            <a:solidFill>
              <a:srgbClr val="1A1A1A"/>
            </a:solidFill>
            <a:prstDash val="solid"/>
          </a:ln>
        </p:spPr>
      </p:sp>
      <p:sp>
        <p:nvSpPr>
          <p:cNvPr id="73" name="Shape 70"/>
          <p:cNvSpPr/>
          <p:nvPr/>
        </p:nvSpPr>
        <p:spPr>
          <a:xfrm>
            <a:off x="11457432" y="3904488"/>
            <a:ext cx="0" cy="292608"/>
          </a:xfrm>
          <a:prstGeom prst="line">
            <a:avLst/>
          </a:prstGeom>
          <a:noFill/>
          <a:ln w="15875">
            <a:solidFill>
              <a:srgbClr val="1A1A1A"/>
            </a:solidFill>
            <a:prstDash val="solid"/>
          </a:ln>
        </p:spPr>
      </p:sp>
      <p:sp>
        <p:nvSpPr>
          <p:cNvPr id="74" name="Shape 71"/>
          <p:cNvSpPr/>
          <p:nvPr/>
        </p:nvSpPr>
        <p:spPr>
          <a:xfrm flipV="1">
            <a:off x="11338560" y="3739896"/>
            <a:ext cx="237744" cy="182880"/>
          </a:xfrm>
          <a:prstGeom prst="triangle">
            <a:avLst/>
          </a:prstGeom>
          <a:solidFill>
            <a:srgbClr val="FFFFFF"/>
          </a:solidFill>
          <a:ln w="15875">
            <a:solidFill>
              <a:srgbClr val="1A1A1A"/>
            </a:solidFill>
            <a:prstDash val="solid"/>
          </a:ln>
        </p:spPr>
      </p:sp>
      <p:sp>
        <p:nvSpPr>
          <p:cNvPr id="75" name="Shape 72"/>
          <p:cNvSpPr/>
          <p:nvPr/>
        </p:nvSpPr>
        <p:spPr>
          <a:xfrm>
            <a:off x="548640" y="4892040"/>
            <a:ext cx="5486400" cy="868680"/>
          </a:xfrm>
          <a:prstGeom prst="rect">
            <a:avLst/>
          </a:prstGeom>
          <a:solidFill>
            <a:srgbClr val="F3F5F8"/>
          </a:solidFill>
          <a:ln w="12700">
            <a:solidFill>
              <a:srgbClr val="F3F5F8"/>
            </a:solidFill>
            <a:prstDash val="solid"/>
          </a:ln>
        </p:spPr>
      </p:sp>
      <p:sp>
        <p:nvSpPr>
          <p:cNvPr id="76" name="Text 73"/>
          <p:cNvSpPr txBox="1"/>
          <p:nvPr/>
        </p:nvSpPr>
        <p:spPr>
          <a:xfrm>
            <a:off x="658368" y="4983480"/>
            <a:ext cx="5303520" cy="73152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Remote-unit complexity </a:t>
            </a:r>
            <a:pPr indent="0" marL="0">
              <a:buNone/>
            </a:pPr>
            <a:r>
              <a:rPr lang="en-US" sz="1200" dirty="0">
                <a:solidFill>
                  <a:srgbClr val="1A1A1A"/>
                </a:solidFill>
                <a:latin typeface="Calibri" pitchFamily="34" charset="0"/>
                <a:ea typeface="Calibri" pitchFamily="34" charset="-122"/>
                <a:cs typeface="Calibri" pitchFamily="34" charset="-120"/>
              </a:rPr>
              <a:t>increases from RFoF to digital fronthaul (frequency conversion, then DAC/ADC and framing).</a:t>
            </a:r>
            <a:endParaRPr lang="en-US" sz="1200" dirty="0"/>
          </a:p>
        </p:txBody>
      </p:sp>
      <p:sp>
        <p:nvSpPr>
          <p:cNvPr id="77" name="Shape 74"/>
          <p:cNvSpPr/>
          <p:nvPr/>
        </p:nvSpPr>
        <p:spPr>
          <a:xfrm>
            <a:off x="6126480" y="4892040"/>
            <a:ext cx="5486400" cy="868680"/>
          </a:xfrm>
          <a:prstGeom prst="rect">
            <a:avLst/>
          </a:prstGeom>
          <a:solidFill>
            <a:srgbClr val="F3F5F8"/>
          </a:solidFill>
          <a:ln w="12700">
            <a:solidFill>
              <a:srgbClr val="F3F5F8"/>
            </a:solidFill>
            <a:prstDash val="solid"/>
          </a:ln>
        </p:spPr>
      </p:sp>
      <p:sp>
        <p:nvSpPr>
          <p:cNvPr id="78" name="Text 75"/>
          <p:cNvSpPr txBox="1"/>
          <p:nvPr/>
        </p:nvSpPr>
        <p:spPr>
          <a:xfrm>
            <a:off x="6236208" y="4983480"/>
            <a:ext cx="5303520" cy="73152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Fiber transport requirement </a:t>
            </a:r>
            <a:pPr indent="0" marL="0">
              <a:buNone/>
            </a:pPr>
            <a:r>
              <a:rPr lang="en-US" sz="1200" dirty="0">
                <a:solidFill>
                  <a:srgbClr val="1A1A1A"/>
                </a:solidFill>
                <a:latin typeface="Calibri" pitchFamily="34" charset="0"/>
                <a:ea typeface="Calibri" pitchFamily="34" charset="-122"/>
                <a:cs typeface="Calibri" pitchFamily="34" charset="-120"/>
              </a:rPr>
              <a:t>increases in the opposite direction: digitized samples need far more capacity than the analog waveform (slide 8).</a:t>
            </a:r>
            <a:endParaRPr lang="en-US" sz="1200" dirty="0"/>
          </a:p>
        </p:txBody>
      </p:sp>
      <p:sp>
        <p:nvSpPr>
          <p:cNvPr id="79" name="Shape 76"/>
          <p:cNvSpPr/>
          <p:nvPr/>
        </p:nvSpPr>
        <p:spPr>
          <a:xfrm>
            <a:off x="548640" y="5971032"/>
            <a:ext cx="457200" cy="0"/>
          </a:xfrm>
          <a:prstGeom prst="line">
            <a:avLst/>
          </a:prstGeom>
          <a:noFill/>
          <a:ln w="15875">
            <a:solidFill>
              <a:srgbClr val="1A1A1A"/>
            </a:solidFill>
            <a:prstDash val="solid"/>
          </a:ln>
        </p:spPr>
      </p:sp>
      <p:sp>
        <p:nvSpPr>
          <p:cNvPr id="80" name="Text 77"/>
          <p:cNvSpPr txBox="1"/>
          <p:nvPr/>
        </p:nvSpPr>
        <p:spPr>
          <a:xfrm>
            <a:off x="1097280" y="585216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Electrical (RF / IF / digital)</a:t>
            </a:r>
            <a:endParaRPr lang="en-US" sz="1000" dirty="0"/>
          </a:p>
        </p:txBody>
      </p:sp>
      <p:sp>
        <p:nvSpPr>
          <p:cNvPr id="81" name="Shape 78"/>
          <p:cNvSpPr/>
          <p:nvPr/>
        </p:nvSpPr>
        <p:spPr>
          <a:xfrm>
            <a:off x="3383280" y="5971032"/>
            <a:ext cx="457200" cy="0"/>
          </a:xfrm>
          <a:prstGeom prst="line">
            <a:avLst/>
          </a:prstGeom>
          <a:noFill/>
          <a:ln w="38100">
            <a:solidFill>
              <a:srgbClr val="1F3A5F"/>
            </a:solidFill>
            <a:prstDash val="solid"/>
          </a:ln>
        </p:spPr>
      </p:sp>
      <p:sp>
        <p:nvSpPr>
          <p:cNvPr id="82" name="Text 79"/>
          <p:cNvSpPr txBox="1"/>
          <p:nvPr/>
        </p:nvSpPr>
        <p:spPr>
          <a:xfrm>
            <a:off x="3931920" y="585216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Optical (fiber)</a:t>
            </a:r>
            <a:endParaRPr lang="en-US" sz="1000" dirty="0"/>
          </a:p>
        </p:txBody>
      </p:sp>
      <p:sp>
        <p:nvSpPr>
          <p:cNvPr id="83" name="Text 80"/>
          <p:cNvSpPr txBox="1"/>
          <p:nvPr/>
        </p:nvSpPr>
        <p:spPr>
          <a:xfrm>
            <a:off x="6126480" y="5852160"/>
            <a:ext cx="5486400" cy="237744"/>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Uplink chains (LNA, E/O at remote; O/E at central) omitted for clarity.</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Comparison 1: passive coaxial feeder vs analog RFoF link</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4572000" cy="914400"/>
        </p:xfrm>
        <a:graphic>
          <a:graphicData uri="http://schemas.openxmlformats.org/drawingml/2006/table">
            <a:tbl>
              <a:tblPr/>
              <a:tblGrid>
                <a:gridCol w="1143000"/>
                <a:gridCol w="3429000"/>
              </a:tblGrid>
              <a:tr h="0">
                <a:tc>
                  <a:txBody>
                    <a:bodyPr/>
                    <a:lstStyle/>
                    <a:p>
                      <a:pPr indent="0" marL="0">
                        <a:buNone/>
                      </a:pPr>
                      <a:r>
                        <a:rPr lang="en-US" sz="1200" b="1" dirty="0">
                          <a:solidFill>
                            <a:srgbClr val="1F3A5F"/>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200" b="1" dirty="0">
                          <a:solidFill>
                            <a:srgbClr val="1F3A5F"/>
                          </a:solidFill>
                          <a:latin typeface="Calibri" pitchFamily="34" charset="0"/>
                          <a:ea typeface="Calibri" pitchFamily="34" charset="-122"/>
                          <a:cs typeface="Calibri" pitchFamily="34" charset="-120"/>
                        </a:rPr>
                        <a:t>Definition</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Systems</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(1) Passive coax, LMR-400 class, 50 Ω. (2) Analog RFoF link, no RF amplifiers.</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Endpoints</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Head-end RF output port → remote antenna port (downlink)</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Signal</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RF passband at 2.5 GHz</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Coax; G.652.D single-mode fiber at 1550 nm</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Criterion</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RF-to-RF insertion loss versus length</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Assumptions</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Coax 22.2 dB/100 m. Fiber 0.25 dB/km optical = 0.5 dB/km RF. RoF conversion loss Lc = 20–40 dB (assumed).</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bl>
          </a:graphicData>
        </a:graphic>
      </p:graphicFrame>
      <p:graphicFrame>
        <p:nvGraphicFramePr>
          <p:cNvPr id="5" name="Chart 0" descr=""/>
          <p:cNvGraphicFramePr/>
          <p:nvPr/>
        </p:nvGraphicFramePr>
        <p:xfrm>
          <a:off x="5394960" y="1188720"/>
          <a:ext cx="6217920" cy="3429000"/>
        </p:xfrm>
        <a:graphic xmlns:a="http://schemas.openxmlformats.org/drawingml/2006/main">
          <a:graphicData uri="http://schemas.openxmlformats.org/drawingml/2006/chart">
            <c:chart xmlns:c="http://schemas.openxmlformats.org/drawingml/2006/chart" r:id="rId1"/>
          </a:graphicData>
        </a:graphic>
      </p:graphicFrame>
      <p:sp>
        <p:nvSpPr>
          <p:cNvPr id="6" name="Shape 1"/>
          <p:cNvSpPr/>
          <p:nvPr/>
        </p:nvSpPr>
        <p:spPr>
          <a:xfrm>
            <a:off x="548640" y="4800600"/>
            <a:ext cx="11064240" cy="1005840"/>
          </a:xfrm>
          <a:prstGeom prst="rect">
            <a:avLst/>
          </a:prstGeom>
          <a:solidFill>
            <a:srgbClr val="F3F5F8"/>
          </a:solidFill>
          <a:ln w="12700">
            <a:solidFill>
              <a:srgbClr val="F3F5F8"/>
            </a:solidFill>
            <a:prstDash val="solid"/>
          </a:ln>
        </p:spPr>
      </p:sp>
      <p:sp>
        <p:nvSpPr>
          <p:cNvPr id="7" name="Text 2"/>
          <p:cNvSpPr txBox="1"/>
          <p:nvPr/>
        </p:nvSpPr>
        <p:spPr>
          <a:xfrm>
            <a:off x="685800" y="4864608"/>
            <a:ext cx="10789920" cy="896112"/>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Result under these assumptions: </a:t>
            </a:r>
            <a:pPr indent="0" marL="0">
              <a:buNone/>
            </a:pPr>
            <a:r>
              <a:rPr lang="en-US" sz="1300" dirty="0">
                <a:solidFill>
                  <a:srgbClr val="1A1A1A"/>
                </a:solidFill>
                <a:latin typeface="Calibri" pitchFamily="34" charset="0"/>
                <a:ea typeface="Calibri" pitchFamily="34" charset="-122"/>
                <a:cs typeface="Calibri" pitchFamily="34" charset="-120"/>
              </a:rPr>
              <a:t>break-even length L* = Lc / (0.222 − 0.0005 dB/m) ≈ 90 m (Lc = 20 dB) to 180 m (Lc = 40 dB). Below L*, passive coax has lower RF loss; above L*, RFoF does. </a:t>
            </a:r>
            <a:pPr indent="0" marL="0">
              <a:buNone/>
            </a:pPr>
            <a:r>
              <a:rPr lang="en-US" sz="1300" dirty="0">
                <a:solidFill>
                  <a:srgbClr val="1A1A1A"/>
                </a:solidFill>
                <a:latin typeface="Calibri" pitchFamily="34" charset="0"/>
                <a:ea typeface="Calibri" pitchFamily="34" charset="-122"/>
                <a:cs typeface="Calibri" pitchFamily="34" charset="-120"/>
              </a:rPr>
              <a:t>Practical fiber DAS equipment adds RF gain at both ends, so the deciding metrics become noise figure, dynamic range and power consumption, not loss alone.</a:t>
            </a:r>
            <a:endParaRPr lang="en-US" sz="1300" dirty="0"/>
          </a:p>
        </p:txBody>
      </p:sp>
      <p:sp>
        <p:nvSpPr>
          <p:cNvPr id="8" name="Text 3"/>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Coax: Times Microwave LMR-400 datasheet, 22.2 dB/100 m at 2500 MHz. Fiber: G.652.D cable datasheets, ≤ 0.22–0.25 dB/km at 1550 nm. Lc range is an assumption: verify against the datasheet of the equipment under evaluation.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Comparison 2: analog RoF vs digital fronthaul (CPRI)</a:t>
            </a:r>
            <a:endParaRPr lang="en-US" sz="2800" dirty="0"/>
          </a:p>
        </p:txBody>
      </p:sp>
      <p:sp>
        <p:nvSpPr>
          <p:cNvPr id="4" name="Text 1"/>
          <p:cNvSpPr txBox="1"/>
          <p:nvPr/>
        </p:nvSpPr>
        <p:spPr>
          <a:xfrm>
            <a:off x="548640" y="1188720"/>
            <a:ext cx="11064240" cy="411480"/>
          </a:xfrm>
          <a:prstGeom prst="rect">
            <a:avLst/>
          </a:prstGeom>
          <a:noFill/>
          <a:ln/>
        </p:spPr>
        <p:txBody>
          <a:bodyPr wrap="square" lIns="0" tIns="0" rIns="0" bIns="0" rtlCol="0" anchor="t"/>
          <a:lstStyle/>
          <a:p>
            <a:pPr indent="0" marL="0">
              <a:buNone/>
            </a:pPr>
            <a:r>
              <a:rPr lang="en-US" sz="1200" i="1" dirty="0">
                <a:solidFill>
                  <a:srgbClr val="5F6670"/>
                </a:solidFill>
                <a:latin typeface="Calibri" pitchFamily="34" charset="0"/>
                <a:ea typeface="Calibri" pitchFamily="34" charset="-122"/>
                <a:cs typeface="Calibri" pitchFamily="34" charset="-120"/>
              </a:rPr>
              <a:t>Systems: analog RFoF / IFoF vs CPRI-type digital fronthaul · Endpoints: central site ↔ remote unit · Medium: single-mode fiber · Assumption: same radio carrier and antenna count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103120"/>
                <a:gridCol w="4297680"/>
                <a:gridCol w="4663440"/>
              </a:tblGrid>
              <a:tr h="512064">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Analog RoF (RFoF / IFoF)</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Digital fronthaul (CPRI)</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r>
              <a:tr h="512064">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Signal on fiber</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Analog RF or IF waveform</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Serialized time-domain I/Q samples (CPRI); packets (eCPRI)</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512064">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Transport requirement</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Analog bandwidth ≈ radio channel bandwidth per antenna stream, plus required dynamic range</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Bit rate = sample rate × 2 × bits per sample × overheads. 20 MHz LTE, 1 antenna: 1228.8 Mb/s (CPRI option 2)</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512064">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Scaling</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One RF / IF channel (subcarrier or wavelength) per antenna stream</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Linear in antenna count and sample rate. 100 MHz, 64 antennas ≈ 252 Gb/s before line coding (computed)</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512064">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Remote unit</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O/E, E/O, amplifiers, filters (+ mixer and LO for IFoF)</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DAC / ADC, framing, up / down-conversion, LO, amplifiers (RRH)</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512064">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Dominant impairments</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Noise, nonlinear distortion, dispersion-induced RF power fading; accumulate along the link</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Quantization noise, fixed by bit width; independent of length while bit errors are negligible</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512064">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Monitoring and interoperability</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No native bit-level monitoring; largely vendor-specific. ITU-T G.9803 sets system requirements</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Bit-level monitoring; CPRI / eCPRI specifications; O-RAN split 7.2x for multi-vendor</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512064">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Added latency</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Fiber propagation ≈ 5 µs/km; no sampling or framing</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Fiber propagation ≈ 5 µs/km + framing and buffering (implementation-specific)</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bl>
          </a:graphicData>
        </a:graphic>
      </p:graphicFrame>
      <p:sp>
        <p:nvSpPr>
          <p:cNvPr id="6" name="Text 2"/>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Sources: CPRI Specification V7.0 (2015); eCPRI Specification V2.0 (2019); ITU-T G.9803 (2018) and Amd. 2 (2022); Y. Li et al., arXiv:2111.13851 (2021). Propagation delay from group index ≈ 1.47. eCPRI split 7.2x rate scales with MIMO layers and load, not antenna count.</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Benefits, and the conditions under which they hold</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749040"/>
                <a:gridCol w="3657600"/>
                <a:gridCol w="3657600"/>
              </a:tblGrid>
              <a:tr h="640080">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Benefit</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Holds when</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Does not imply</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r>
              <a:tr h="6400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Low fiber attenuation (≈ 0.2–0.25 dB/km cabled SMF at 1550 nm)</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Link is longer than the break-even length set by conversion loss (slide 7)</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Low RF-to-RF loss for short links; conversion loss is fixed</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6400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Fiber span immune to electromagnetic pickup; galvanic isolation</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Dielectric cable is used</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Immunity of RAU electronics or of the air interface</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6400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Centralized radio equipment (base-station hotel, multi-operator)</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RFoF or IFoF; head-end hosts all baseband and radio processing</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No remote power or maintenance: RAU has lasers, amplifiers, power supply</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6400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Format transparency: multi-band, multi-operator, multi-technology on one link</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Within optoelectronic bandwidth, linearity and dynamic range</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Unlimited bands: all carriers share one link's dynamic range</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6400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Small, light cable</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Compared with coax of similar loss over the same route</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Lower total installed cost: site-specific, not established here</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64008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Low added transport latency (≈ 5 µs/km, no sampling or framing)</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Analog link</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Lower end-to-end RAN latency, which baseband processing dominates</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bl>
          </a:graphicData>
        </a:graphic>
      </p:graphicFrame>
      <p:sp>
        <p:nvSpPr>
          <p:cNvPr id="5" name="Text 1"/>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Sources: G.652.D cable datasheets (attenuation); ITU-T G.Suppl.55 (10/2025); C. H. Cox III, Analog Optical Links, 2004.</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Limitations and engineering trade-offs</a:t>
            </a:r>
            <a:endParaRPr lang="en-US" sz="2800" dirty="0"/>
          </a:p>
        </p:txBody>
      </p:sp>
      <p:sp>
        <p:nvSpPr>
          <p:cNvPr id="4" name="Text 1"/>
          <p:cNvSpPr txBox="1"/>
          <p:nvPr/>
        </p:nvSpPr>
        <p:spPr>
          <a:xfrm>
            <a:off x="548640" y="1234440"/>
            <a:ext cx="6583680" cy="4572000"/>
          </a:xfrm>
          <a:prstGeom prst="rect">
            <a:avLst/>
          </a:prstGeom>
          <a:noFill/>
          <a:ln/>
        </p:spPr>
        <p:txBody>
          <a:bodyPr wrap="square" lIns="0" tIns="0" rIns="0" bIns="0" rtlCol="0" anchor="t"/>
          <a:lstStyle/>
          <a:p>
            <a:pPr marL="342900" indent="-342900">
              <a:spcAft>
                <a:spcPts val="900"/>
              </a:spcAft>
              <a:buSzPct val="100000"/>
              <a:buChar char="•"/>
            </a:pPr>
            <a:r>
              <a:rPr lang="en-US" sz="1400" b="1" dirty="0">
                <a:solidFill>
                  <a:srgbClr val="1A1A1A"/>
                </a:solidFill>
                <a:latin typeface="Calibri" pitchFamily="34" charset="0"/>
                <a:ea typeface="Calibri" pitchFamily="34" charset="-122"/>
                <a:cs typeface="Calibri" pitchFamily="34" charset="-120"/>
              </a:rPr>
              <a:t>Noise and dynamic range: </a:t>
            </a:r>
            <a:pPr indent="0" marL="0">
              <a:buNone/>
            </a:pPr>
            <a:r>
              <a:rPr lang="en-US" sz="1400" dirty="0">
                <a:solidFill>
                  <a:srgbClr val="1A1A1A"/>
                </a:solidFill>
                <a:latin typeface="Calibri" pitchFamily="34" charset="0"/>
                <a:ea typeface="Calibri" pitchFamily="34" charset="-122"/>
                <a:cs typeface="Calibri" pitchFamily="34" charset="-120"/>
              </a:rPr>
              <a:t>laser RIN, shot noise and receiver thermal noise set a noise floor; the link noise figure limits uplink sensitivity and the number of carriers per link.</a:t>
            </a:r>
            <a:endParaRPr lang="en-US" sz="1400" dirty="0"/>
          </a:p>
          <a:p>
            <a:pPr marL="342900" indent="-342900">
              <a:spcAft>
                <a:spcPts val="900"/>
              </a:spcAft>
              <a:buSzPct val="100000"/>
              <a:buChar char="•"/>
            </a:pPr>
            <a:r>
              <a:rPr lang="en-US" sz="1400" b="1" dirty="0">
                <a:solidFill>
                  <a:srgbClr val="1A1A1A"/>
                </a:solidFill>
                <a:latin typeface="Calibri" pitchFamily="34" charset="0"/>
                <a:ea typeface="Calibri" pitchFamily="34" charset="-122"/>
                <a:cs typeface="Calibri" pitchFamily="34" charset="-120"/>
              </a:rPr>
              <a:t>Nonlinear distortion: </a:t>
            </a:r>
            <a:pPr indent="0" marL="0">
              <a:buNone/>
            </a:pPr>
            <a:r>
              <a:rPr lang="en-US" sz="1400" dirty="0">
                <a:solidFill>
                  <a:srgbClr val="1A1A1A"/>
                </a:solidFill>
                <a:latin typeface="Calibri" pitchFamily="34" charset="0"/>
                <a:ea typeface="Calibri" pitchFamily="34" charset="-122"/>
                <a:cs typeface="Calibri" pitchFamily="34" charset="-120"/>
              </a:rPr>
              <a:t>laser and modulator nonlinearity creates intermodulation; higher drive improves SNR until distortion dominates (SFDR).</a:t>
            </a:r>
            <a:endParaRPr lang="en-US" sz="1400" dirty="0"/>
          </a:p>
          <a:p>
            <a:pPr marL="342900" indent="-342900">
              <a:spcAft>
                <a:spcPts val="900"/>
              </a:spcAft>
              <a:buSzPct val="100000"/>
              <a:buChar char="•"/>
            </a:pPr>
            <a:r>
              <a:rPr lang="en-US" sz="1400" b="1" dirty="0">
                <a:solidFill>
                  <a:srgbClr val="1A1A1A"/>
                </a:solidFill>
                <a:latin typeface="Calibri" pitchFamily="34" charset="0"/>
                <a:ea typeface="Calibri" pitchFamily="34" charset="-122"/>
                <a:cs typeface="Calibri" pitchFamily="34" charset="-120"/>
              </a:rPr>
              <a:t>Chromatic dispersion: </a:t>
            </a:r>
            <a:pPr indent="0" marL="0">
              <a:buNone/>
            </a:pPr>
            <a:r>
              <a:rPr lang="en-US" sz="1400" dirty="0">
                <a:solidFill>
                  <a:srgbClr val="1A1A1A"/>
                </a:solidFill>
                <a:latin typeface="Calibri" pitchFamily="34" charset="0"/>
                <a:ea typeface="Calibri" pitchFamily="34" charset="-122"/>
                <a:cs typeface="Calibri" pitchFamily="34" charset="-120"/>
              </a:rPr>
              <a:t>with double-sideband intensity modulation, RF power fades at frequency- and length-dependent nulls. Mitigation: 1310 nm, single-sideband modulation, IFoF.</a:t>
            </a:r>
            <a:endParaRPr lang="en-US" sz="1400" dirty="0"/>
          </a:p>
          <a:p>
            <a:pPr marL="342900" indent="-342900">
              <a:spcAft>
                <a:spcPts val="900"/>
              </a:spcAft>
              <a:buSzPct val="100000"/>
              <a:buChar char="•"/>
            </a:pPr>
            <a:r>
              <a:rPr lang="en-US" sz="1400" b="1" dirty="0">
                <a:solidFill>
                  <a:srgbClr val="1A1A1A"/>
                </a:solidFill>
                <a:latin typeface="Calibri" pitchFamily="34" charset="0"/>
                <a:ea typeface="Calibri" pitchFamily="34" charset="-122"/>
                <a:cs typeface="Calibri" pitchFamily="34" charset="-120"/>
              </a:rPr>
              <a:t>Fiber and topology: </a:t>
            </a:r>
            <a:pPr indent="0" marL="0">
              <a:buNone/>
            </a:pPr>
            <a:r>
              <a:rPr lang="en-US" sz="1400" dirty="0">
                <a:solidFill>
                  <a:srgbClr val="1A1A1A"/>
                </a:solidFill>
                <a:latin typeface="Calibri" pitchFamily="34" charset="0"/>
                <a:ea typeface="Calibri" pitchFamily="34" charset="-122"/>
                <a:cs typeface="Calibri" pitchFamily="34" charset="-120"/>
              </a:rPr>
              <a:t>one fiber pair or wavelength pair per RAU; new fiber needs civil works and permits.</a:t>
            </a:r>
            <a:endParaRPr lang="en-US" sz="1400" dirty="0"/>
          </a:p>
          <a:p>
            <a:pPr marL="342900" indent="-342900">
              <a:spcAft>
                <a:spcPts val="900"/>
              </a:spcAft>
              <a:buSzPct val="100000"/>
              <a:buChar char="•"/>
            </a:pPr>
            <a:r>
              <a:rPr lang="en-US" sz="1400" b="1" dirty="0">
                <a:solidFill>
                  <a:srgbClr val="1A1A1A"/>
                </a:solidFill>
                <a:latin typeface="Calibri" pitchFamily="34" charset="0"/>
                <a:ea typeface="Calibri" pitchFamily="34" charset="-122"/>
                <a:cs typeface="Calibri" pitchFamily="34" charset="-120"/>
              </a:rPr>
              <a:t>Remote power: </a:t>
            </a:r>
            <a:pPr indent="0" marL="0">
              <a:buNone/>
            </a:pPr>
            <a:r>
              <a:rPr lang="en-US" sz="1400" dirty="0">
                <a:solidFill>
                  <a:srgbClr val="1A1A1A"/>
                </a:solidFill>
                <a:latin typeface="Calibri" pitchFamily="34" charset="0"/>
                <a:ea typeface="Calibri" pitchFamily="34" charset="-122"/>
                <a:cs typeface="Calibri" pitchFamily="34" charset="-120"/>
              </a:rPr>
              <a:t>RAU lasers and amplifiers need local power or hybrid fiber–copper cable.</a:t>
            </a:r>
            <a:endParaRPr lang="en-US" sz="1400" dirty="0"/>
          </a:p>
          <a:p>
            <a:pPr marL="342900" indent="-342900">
              <a:spcAft>
                <a:spcPts val="900"/>
              </a:spcAft>
              <a:buSzPct val="100000"/>
              <a:buChar char="•"/>
            </a:pPr>
            <a:r>
              <a:rPr lang="en-US" sz="1400" b="1" dirty="0">
                <a:solidFill>
                  <a:srgbClr val="1A1A1A"/>
                </a:solidFill>
                <a:latin typeface="Calibri" pitchFamily="34" charset="0"/>
                <a:ea typeface="Calibri" pitchFamily="34" charset="-122"/>
                <a:cs typeface="Calibri" pitchFamily="34" charset="-120"/>
              </a:rPr>
              <a:t>Operations: </a:t>
            </a:r>
            <a:pPr indent="0" marL="0">
              <a:buNone/>
            </a:pPr>
            <a:r>
              <a:rPr lang="en-US" sz="1400" dirty="0">
                <a:solidFill>
                  <a:srgbClr val="1A1A1A"/>
                </a:solidFill>
                <a:latin typeface="Calibri" pitchFamily="34" charset="0"/>
                <a:ea typeface="Calibri" pitchFamily="34" charset="-122"/>
                <a:cs typeface="Calibri" pitchFamily="34" charset="-120"/>
              </a:rPr>
              <a:t>no bit-level performance monitoring on the analog link; interfaces largely vendor-specific.</a:t>
            </a:r>
            <a:endParaRPr lang="en-US" sz="1400" dirty="0"/>
          </a:p>
        </p:txBody>
      </p:sp>
      <p:sp>
        <p:nvSpPr>
          <p:cNvPr id="5" name="Shape 2"/>
          <p:cNvSpPr/>
          <p:nvPr/>
        </p:nvSpPr>
        <p:spPr>
          <a:xfrm>
            <a:off x="7498080" y="1188720"/>
            <a:ext cx="4114800" cy="4343400"/>
          </a:xfrm>
          <a:prstGeom prst="rect">
            <a:avLst/>
          </a:prstGeom>
          <a:solidFill>
            <a:srgbClr val="FFFFFF"/>
          </a:solidFill>
          <a:ln w="12700">
            <a:solidFill>
              <a:srgbClr val="AEB6C2"/>
            </a:solidFill>
            <a:prstDash val="solid"/>
          </a:ln>
        </p:spPr>
      </p:sp>
      <p:sp>
        <p:nvSpPr>
          <p:cNvPr id="6" name="Text 3"/>
          <p:cNvSpPr txBox="1"/>
          <p:nvPr/>
        </p:nvSpPr>
        <p:spPr>
          <a:xfrm>
            <a:off x="7589520" y="1234440"/>
            <a:ext cx="3931920" cy="274320"/>
          </a:xfrm>
          <a:prstGeom prst="rect">
            <a:avLst/>
          </a:prstGeom>
          <a:noFill/>
          <a:ln/>
        </p:spPr>
        <p:txBody>
          <a:bodyPr wrap="square" lIns="0" tIns="0" rIns="0" bIns="0" rtlCol="0" anchor="t"/>
          <a:lstStyle/>
          <a:p>
            <a:pPr algn="ctr" indent="0" marL="0">
              <a:buNone/>
            </a:pPr>
            <a:r>
              <a:rPr lang="en-US" sz="1100" b="1" dirty="0">
                <a:solidFill>
                  <a:srgbClr val="1F3A5F"/>
                </a:solidFill>
                <a:latin typeface="Calibri" pitchFamily="34" charset="0"/>
                <a:ea typeface="Calibri" pitchFamily="34" charset="-122"/>
                <a:cs typeface="Calibri" pitchFamily="34" charset="-120"/>
              </a:rPr>
              <a:t>Noise vs distortion: SFDR (illustrative, no values)</a:t>
            </a:r>
            <a:endParaRPr lang="en-US" sz="1100" dirty="0"/>
          </a:p>
        </p:txBody>
      </p:sp>
      <p:sp>
        <p:nvSpPr>
          <p:cNvPr id="7" name="Shape 4"/>
          <p:cNvSpPr/>
          <p:nvPr/>
        </p:nvSpPr>
        <p:spPr>
          <a:xfrm>
            <a:off x="7818120" y="1764792"/>
            <a:ext cx="0" cy="3127248"/>
          </a:xfrm>
          <a:prstGeom prst="line">
            <a:avLst/>
          </a:prstGeom>
          <a:noFill/>
          <a:ln w="12700">
            <a:solidFill>
              <a:srgbClr val="5F6670"/>
            </a:solidFill>
            <a:prstDash val="solid"/>
            <a:headEnd type="triangle"/>
            <a:tailEnd type="none"/>
          </a:ln>
        </p:spPr>
      </p:sp>
      <p:sp>
        <p:nvSpPr>
          <p:cNvPr id="8" name="Shape 5"/>
          <p:cNvSpPr/>
          <p:nvPr/>
        </p:nvSpPr>
        <p:spPr>
          <a:xfrm>
            <a:off x="7818120" y="4892040"/>
            <a:ext cx="3584448" cy="0"/>
          </a:xfrm>
          <a:prstGeom prst="line">
            <a:avLst/>
          </a:prstGeom>
          <a:noFill/>
          <a:ln w="12700">
            <a:solidFill>
              <a:srgbClr val="5F6670"/>
            </a:solidFill>
            <a:prstDash val="solid"/>
            <a:tailEnd type="triangle"/>
          </a:ln>
        </p:spPr>
      </p:sp>
      <p:sp>
        <p:nvSpPr>
          <p:cNvPr id="9" name="Shape 6"/>
          <p:cNvSpPr/>
          <p:nvPr/>
        </p:nvSpPr>
        <p:spPr>
          <a:xfrm flipV="1">
            <a:off x="7818120" y="1764792"/>
            <a:ext cx="3108960" cy="2798064"/>
          </a:xfrm>
          <a:prstGeom prst="line">
            <a:avLst/>
          </a:prstGeom>
          <a:noFill/>
          <a:ln w="25400">
            <a:solidFill>
              <a:srgbClr val="1F3A5F"/>
            </a:solidFill>
            <a:prstDash val="solid"/>
          </a:ln>
        </p:spPr>
      </p:sp>
      <p:sp>
        <p:nvSpPr>
          <p:cNvPr id="10" name="Shape 7"/>
          <p:cNvSpPr/>
          <p:nvPr/>
        </p:nvSpPr>
        <p:spPr>
          <a:xfrm flipV="1">
            <a:off x="9646920" y="1633118"/>
            <a:ext cx="1207008" cy="3258922"/>
          </a:xfrm>
          <a:prstGeom prst="line">
            <a:avLst/>
          </a:prstGeom>
          <a:noFill/>
          <a:ln w="25400">
            <a:solidFill>
              <a:srgbClr val="8C3B32"/>
            </a:solidFill>
            <a:prstDash val="solid"/>
          </a:ln>
        </p:spPr>
      </p:sp>
      <p:sp>
        <p:nvSpPr>
          <p:cNvPr id="11" name="Shape 8"/>
          <p:cNvSpPr/>
          <p:nvPr/>
        </p:nvSpPr>
        <p:spPr>
          <a:xfrm>
            <a:off x="7818120" y="4233672"/>
            <a:ext cx="3474720" cy="0"/>
          </a:xfrm>
          <a:prstGeom prst="line">
            <a:avLst/>
          </a:prstGeom>
          <a:noFill/>
          <a:ln w="15875">
            <a:solidFill>
              <a:srgbClr val="5F6670"/>
            </a:solidFill>
            <a:prstDash val="dash"/>
          </a:ln>
        </p:spPr>
      </p:sp>
      <p:sp>
        <p:nvSpPr>
          <p:cNvPr id="12" name="Shape 9"/>
          <p:cNvSpPr/>
          <p:nvPr/>
        </p:nvSpPr>
        <p:spPr>
          <a:xfrm>
            <a:off x="9890760" y="2697480"/>
            <a:ext cx="0" cy="1536192"/>
          </a:xfrm>
          <a:prstGeom prst="line">
            <a:avLst/>
          </a:prstGeom>
          <a:noFill/>
          <a:ln w="12700">
            <a:solidFill>
              <a:srgbClr val="1A1A1A"/>
            </a:solidFill>
            <a:prstDash val="solid"/>
            <a:headEnd type="triangle"/>
            <a:tailEnd type="triangle"/>
          </a:ln>
        </p:spPr>
      </p:sp>
      <p:sp>
        <p:nvSpPr>
          <p:cNvPr id="13" name="Text 10"/>
          <p:cNvSpPr txBox="1"/>
          <p:nvPr/>
        </p:nvSpPr>
        <p:spPr>
          <a:xfrm>
            <a:off x="9204960" y="3377794"/>
            <a:ext cx="640080" cy="228600"/>
          </a:xfrm>
          <a:prstGeom prst="rect">
            <a:avLst/>
          </a:prstGeom>
          <a:noFill/>
          <a:ln/>
        </p:spPr>
        <p:txBody>
          <a:bodyPr wrap="square" lIns="0" tIns="0" rIns="0" bIns="0" rtlCol="0" anchor="t"/>
          <a:lstStyle/>
          <a:p>
            <a:pPr algn="r" indent="0" marL="0">
              <a:buNone/>
            </a:pPr>
            <a:r>
              <a:rPr lang="en-US" sz="1100" b="1" dirty="0">
                <a:solidFill>
                  <a:srgbClr val="1A1A1A"/>
                </a:solidFill>
                <a:latin typeface="Calibri" pitchFamily="34" charset="0"/>
                <a:ea typeface="Calibri" pitchFamily="34" charset="-122"/>
                <a:cs typeface="Calibri" pitchFamily="34" charset="-120"/>
              </a:rPr>
              <a:t>SFDR</a:t>
            </a:r>
            <a:endParaRPr lang="en-US" sz="1100" dirty="0"/>
          </a:p>
        </p:txBody>
      </p:sp>
      <p:sp>
        <p:nvSpPr>
          <p:cNvPr id="14" name="Text 11"/>
          <p:cNvSpPr txBox="1"/>
          <p:nvPr/>
        </p:nvSpPr>
        <p:spPr>
          <a:xfrm>
            <a:off x="7872984" y="3279038"/>
            <a:ext cx="1645920" cy="228600"/>
          </a:xfrm>
          <a:prstGeom prst="rect">
            <a:avLst/>
          </a:prstGeom>
          <a:noFill/>
          <a:ln/>
        </p:spPr>
        <p:txBody>
          <a:bodyPr wrap="square" lIns="0" tIns="0" rIns="0" bIns="0" rtlCol="0" anchor="t"/>
          <a:lstStyle/>
          <a:p>
            <a:pPr indent="0" marL="0">
              <a:buNone/>
            </a:pPr>
            <a:r>
              <a:rPr lang="en-US" sz="1000" dirty="0">
                <a:solidFill>
                  <a:srgbClr val="1F3A5F"/>
                </a:solidFill>
                <a:latin typeface="Calibri" pitchFamily="34" charset="0"/>
                <a:ea typeface="Calibri" pitchFamily="34" charset="-122"/>
                <a:cs typeface="Calibri" pitchFamily="34" charset="-120"/>
              </a:rPr>
              <a:t>Fundamental (slope 1)</a:t>
            </a:r>
            <a:endParaRPr lang="en-US" sz="1000" dirty="0"/>
          </a:p>
        </p:txBody>
      </p:sp>
      <p:sp>
        <p:nvSpPr>
          <p:cNvPr id="15" name="Text 12"/>
          <p:cNvSpPr txBox="1"/>
          <p:nvPr/>
        </p:nvSpPr>
        <p:spPr>
          <a:xfrm>
            <a:off x="10506456" y="3476549"/>
            <a:ext cx="1188720" cy="228600"/>
          </a:xfrm>
          <a:prstGeom prst="rect">
            <a:avLst/>
          </a:prstGeom>
          <a:noFill/>
          <a:ln/>
        </p:spPr>
        <p:txBody>
          <a:bodyPr wrap="square" lIns="0" tIns="0" rIns="0" bIns="0" rtlCol="0" anchor="t"/>
          <a:lstStyle/>
          <a:p>
            <a:pPr indent="0" marL="0">
              <a:buNone/>
            </a:pPr>
            <a:r>
              <a:rPr lang="en-US" sz="1000" dirty="0">
                <a:solidFill>
                  <a:srgbClr val="8C3B32"/>
                </a:solidFill>
                <a:latin typeface="Calibri" pitchFamily="34" charset="0"/>
                <a:ea typeface="Calibri" pitchFamily="34" charset="-122"/>
                <a:cs typeface="Calibri" pitchFamily="34" charset="-120"/>
              </a:rPr>
              <a:t>IMD3 (slope 3)</a:t>
            </a:r>
            <a:endParaRPr lang="en-US" sz="1000" dirty="0"/>
          </a:p>
        </p:txBody>
      </p:sp>
      <p:sp>
        <p:nvSpPr>
          <p:cNvPr id="16" name="Text 13"/>
          <p:cNvSpPr txBox="1"/>
          <p:nvPr/>
        </p:nvSpPr>
        <p:spPr>
          <a:xfrm>
            <a:off x="10488168" y="4270248"/>
            <a:ext cx="1280160" cy="228600"/>
          </a:xfrm>
          <a:prstGeom prst="rect">
            <a:avLst/>
          </a:prstGeom>
          <a:noFill/>
          <a:ln/>
        </p:spPr>
        <p:txBody>
          <a:bodyPr wrap="square" lIns="0" tIns="0" rIns="0" bIns="0" rtlCol="0" anchor="t"/>
          <a:lstStyle/>
          <a:p>
            <a:pPr indent="0" marL="0">
              <a:buNone/>
            </a:pPr>
            <a:r>
              <a:rPr lang="en-US" sz="1000" dirty="0">
                <a:solidFill>
                  <a:srgbClr val="5F6670"/>
                </a:solidFill>
                <a:latin typeface="Calibri" pitchFamily="34" charset="0"/>
                <a:ea typeface="Calibri" pitchFamily="34" charset="-122"/>
                <a:cs typeface="Calibri" pitchFamily="34" charset="-120"/>
              </a:rPr>
              <a:t>Noise floor</a:t>
            </a:r>
            <a:endParaRPr lang="en-US" sz="1000" dirty="0"/>
          </a:p>
        </p:txBody>
      </p:sp>
      <p:sp>
        <p:nvSpPr>
          <p:cNvPr id="17" name="Text 14"/>
          <p:cNvSpPr txBox="1"/>
          <p:nvPr/>
        </p:nvSpPr>
        <p:spPr>
          <a:xfrm>
            <a:off x="8549640" y="4965192"/>
            <a:ext cx="2377440" cy="228600"/>
          </a:xfrm>
          <a:prstGeom prst="rect">
            <a:avLst/>
          </a:prstGeom>
          <a:noFill/>
          <a:ln/>
        </p:spPr>
        <p:txBody>
          <a:bodyPr wrap="square" lIns="0" tIns="0" rIns="0" bIns="0" rtlCol="0" anchor="t"/>
          <a:lstStyle/>
          <a:p>
            <a:pPr algn="ctr" indent="0" marL="0">
              <a:buNone/>
            </a:pPr>
            <a:r>
              <a:rPr lang="en-US" sz="1000" dirty="0">
                <a:solidFill>
                  <a:srgbClr val="5F6670"/>
                </a:solidFill>
                <a:latin typeface="Calibri" pitchFamily="34" charset="0"/>
                <a:ea typeface="Calibri" pitchFamily="34" charset="-122"/>
                <a:cs typeface="Calibri" pitchFamily="34" charset="-120"/>
              </a:rPr>
              <a:t>RF input power (dB)</a:t>
            </a:r>
            <a:endParaRPr lang="en-US" sz="1000" dirty="0"/>
          </a:p>
        </p:txBody>
      </p:sp>
      <p:sp>
        <p:nvSpPr>
          <p:cNvPr id="18" name="Text 15"/>
          <p:cNvSpPr txBox="1"/>
          <p:nvPr/>
        </p:nvSpPr>
        <p:spPr>
          <a:xfrm>
            <a:off x="7589520" y="1554480"/>
            <a:ext cx="1280160" cy="228600"/>
          </a:xfrm>
          <a:prstGeom prst="rect">
            <a:avLst/>
          </a:prstGeom>
          <a:noFill/>
          <a:ln/>
        </p:spPr>
        <p:txBody>
          <a:bodyPr wrap="square" lIns="0" tIns="0" rIns="0" bIns="0" rtlCol="0" anchor="t"/>
          <a:lstStyle/>
          <a:p>
            <a:pPr indent="0" marL="0">
              <a:buNone/>
            </a:pPr>
            <a:r>
              <a:rPr lang="en-US" sz="1000" dirty="0">
                <a:solidFill>
                  <a:srgbClr val="5F6670"/>
                </a:solidFill>
                <a:latin typeface="Calibri" pitchFamily="34" charset="0"/>
                <a:ea typeface="Calibri" pitchFamily="34" charset="-122"/>
                <a:cs typeface="Calibri" pitchFamily="34" charset="-120"/>
              </a:rPr>
              <a:t>RF output (dB)</a:t>
            </a:r>
            <a:endParaRPr lang="en-US" sz="1000" dirty="0"/>
          </a:p>
        </p:txBody>
      </p:sp>
      <p:sp>
        <p:nvSpPr>
          <p:cNvPr id="19" name="Text 16"/>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Sources: C. H. Cox III, Analog Optical Links, 2004; U. Gliese et al., IEEE Trans. Microwave Theory Tech. 44(10), 1996 (dispersion-induced RF power fading); D. Wake et al., J. Lightwave Technol. 28(16), 2010.</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Documented case: Maracanã and Mineirão stadiums (2014)</a:t>
            </a:r>
            <a:endParaRPr lang="en-US" sz="2800" dirty="0"/>
          </a:p>
        </p:txBody>
      </p:sp>
      <p:sp>
        <p:nvSpPr>
          <p:cNvPr id="4" name="Shape 1"/>
          <p:cNvSpPr/>
          <p:nvPr/>
        </p:nvSpPr>
        <p:spPr>
          <a:xfrm>
            <a:off x="548640" y="1828800"/>
            <a:ext cx="1737360" cy="1371600"/>
          </a:xfrm>
          <a:prstGeom prst="rect">
            <a:avLst/>
          </a:prstGeom>
          <a:solidFill>
            <a:srgbClr val="FFFFFF"/>
          </a:solidFill>
          <a:ln w="12700">
            <a:solidFill>
              <a:srgbClr val="AEB6C2"/>
            </a:solidFill>
            <a:prstDash val="solid"/>
          </a:ln>
        </p:spPr>
      </p:sp>
      <p:sp>
        <p:nvSpPr>
          <p:cNvPr id="5" name="Text 2"/>
          <p:cNvSpPr txBox="1"/>
          <p:nvPr/>
        </p:nvSpPr>
        <p:spPr>
          <a:xfrm>
            <a:off x="548640" y="1828800"/>
            <a:ext cx="1737360" cy="137160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Base-station hotel: 5 operators, 2G / 3G / 4G</a:t>
            </a:r>
            <a:endParaRPr lang="en-US" sz="1100" dirty="0"/>
          </a:p>
        </p:txBody>
      </p:sp>
      <p:sp>
        <p:nvSpPr>
          <p:cNvPr id="6" name="Shape 3"/>
          <p:cNvSpPr/>
          <p:nvPr/>
        </p:nvSpPr>
        <p:spPr>
          <a:xfrm>
            <a:off x="2286000" y="2514600"/>
            <a:ext cx="640080" cy="0"/>
          </a:xfrm>
          <a:prstGeom prst="line">
            <a:avLst/>
          </a:prstGeom>
          <a:noFill/>
          <a:ln w="15875">
            <a:solidFill>
              <a:srgbClr val="1A1A1A"/>
            </a:solidFill>
            <a:prstDash val="solid"/>
            <a:tailEnd type="triangle"/>
          </a:ln>
        </p:spPr>
      </p:sp>
      <p:sp>
        <p:nvSpPr>
          <p:cNvPr id="7" name="Text 4"/>
          <p:cNvSpPr txBox="1"/>
          <p:nvPr/>
        </p:nvSpPr>
        <p:spPr>
          <a:xfrm>
            <a:off x="2286000" y="2221992"/>
            <a:ext cx="640080" cy="246888"/>
          </a:xfrm>
          <a:prstGeom prst="rect">
            <a:avLst/>
          </a:prstGeom>
          <a:noFill/>
          <a:ln/>
        </p:spPr>
        <p:txBody>
          <a:bodyPr wrap="square" lIns="0" tIns="0" rIns="0" bIns="0" rtlCol="0" anchor="b"/>
          <a:lstStyle/>
          <a:p>
            <a:pPr algn="ctr" indent="0" marL="0">
              <a:buNone/>
            </a:pPr>
            <a:r>
              <a:rPr lang="en-US" sz="1000" i="1" dirty="0">
                <a:solidFill>
                  <a:srgbClr val="1A1A1A"/>
                </a:solidFill>
                <a:latin typeface="Calibri" pitchFamily="34" charset="0"/>
                <a:ea typeface="Calibri" pitchFamily="34" charset="-122"/>
                <a:cs typeface="Calibri" pitchFamily="34" charset="-120"/>
              </a:rPr>
              <a:t>RF</a:t>
            </a:r>
            <a:endParaRPr lang="en-US" sz="1000" dirty="0"/>
          </a:p>
        </p:txBody>
      </p:sp>
      <p:sp>
        <p:nvSpPr>
          <p:cNvPr id="8" name="Shape 5"/>
          <p:cNvSpPr/>
          <p:nvPr/>
        </p:nvSpPr>
        <p:spPr>
          <a:xfrm>
            <a:off x="2926080" y="1828800"/>
            <a:ext cx="1554480" cy="1371600"/>
          </a:xfrm>
          <a:prstGeom prst="rect">
            <a:avLst/>
          </a:prstGeom>
          <a:solidFill>
            <a:srgbClr val="DCE6F2"/>
          </a:solidFill>
          <a:ln w="12700">
            <a:solidFill>
              <a:srgbClr val="AEB6C2"/>
            </a:solidFill>
            <a:prstDash val="solid"/>
          </a:ln>
        </p:spPr>
      </p:sp>
      <p:sp>
        <p:nvSpPr>
          <p:cNvPr id="9" name="Text 6"/>
          <p:cNvSpPr txBox="1"/>
          <p:nvPr/>
        </p:nvSpPr>
        <p:spPr>
          <a:xfrm>
            <a:off x="2926080" y="1828800"/>
            <a:ext cx="1554480" cy="137160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Optical master units: RF ↔ optical</a:t>
            </a:r>
            <a:endParaRPr lang="en-US" sz="1100" dirty="0"/>
          </a:p>
        </p:txBody>
      </p:sp>
      <p:sp>
        <p:nvSpPr>
          <p:cNvPr id="10" name="Shape 7"/>
          <p:cNvSpPr/>
          <p:nvPr/>
        </p:nvSpPr>
        <p:spPr>
          <a:xfrm flipV="1">
            <a:off x="4480560" y="1600200"/>
            <a:ext cx="1097280" cy="914400"/>
          </a:xfrm>
          <a:prstGeom prst="line">
            <a:avLst/>
          </a:prstGeom>
          <a:noFill/>
          <a:ln w="38100">
            <a:solidFill>
              <a:srgbClr val="1F3A5F"/>
            </a:solidFill>
            <a:prstDash val="solid"/>
            <a:headEnd type="triangle"/>
            <a:tailEnd type="triangle"/>
          </a:ln>
        </p:spPr>
      </p:sp>
      <p:sp>
        <p:nvSpPr>
          <p:cNvPr id="11" name="Shape 8"/>
          <p:cNvSpPr/>
          <p:nvPr/>
        </p:nvSpPr>
        <p:spPr>
          <a:xfrm>
            <a:off x="5577840" y="1325880"/>
            <a:ext cx="1371600" cy="548640"/>
          </a:xfrm>
          <a:prstGeom prst="rect">
            <a:avLst/>
          </a:prstGeom>
          <a:solidFill>
            <a:srgbClr val="FFFFFF"/>
          </a:solidFill>
          <a:ln w="12700">
            <a:solidFill>
              <a:srgbClr val="AEB6C2"/>
            </a:solidFill>
            <a:prstDash val="solid"/>
          </a:ln>
        </p:spPr>
      </p:sp>
      <p:sp>
        <p:nvSpPr>
          <p:cNvPr id="12" name="Text 9"/>
          <p:cNvSpPr txBox="1"/>
          <p:nvPr/>
        </p:nvSpPr>
        <p:spPr>
          <a:xfrm>
            <a:off x="5577840" y="1325880"/>
            <a:ext cx="1371600"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Fiber-fed remote unit</a:t>
            </a:r>
            <a:endParaRPr lang="en-US" sz="1000" dirty="0"/>
          </a:p>
        </p:txBody>
      </p:sp>
      <p:sp>
        <p:nvSpPr>
          <p:cNvPr id="13" name="Shape 10"/>
          <p:cNvSpPr/>
          <p:nvPr/>
        </p:nvSpPr>
        <p:spPr>
          <a:xfrm>
            <a:off x="6949440" y="1600200"/>
            <a:ext cx="228600" cy="0"/>
          </a:xfrm>
          <a:prstGeom prst="line">
            <a:avLst/>
          </a:prstGeom>
          <a:noFill/>
          <a:ln w="15875">
            <a:solidFill>
              <a:srgbClr val="1A1A1A"/>
            </a:solidFill>
            <a:prstDash val="solid"/>
          </a:ln>
        </p:spPr>
      </p:sp>
      <p:sp>
        <p:nvSpPr>
          <p:cNvPr id="14" name="Shape 11"/>
          <p:cNvSpPr/>
          <p:nvPr/>
        </p:nvSpPr>
        <p:spPr>
          <a:xfrm>
            <a:off x="7178040" y="1307592"/>
            <a:ext cx="0" cy="292608"/>
          </a:xfrm>
          <a:prstGeom prst="line">
            <a:avLst/>
          </a:prstGeom>
          <a:noFill/>
          <a:ln w="15875">
            <a:solidFill>
              <a:srgbClr val="1A1A1A"/>
            </a:solidFill>
            <a:prstDash val="solid"/>
          </a:ln>
        </p:spPr>
      </p:sp>
      <p:sp>
        <p:nvSpPr>
          <p:cNvPr id="15" name="Shape 12"/>
          <p:cNvSpPr/>
          <p:nvPr/>
        </p:nvSpPr>
        <p:spPr>
          <a:xfrm flipV="1">
            <a:off x="7059168" y="1143000"/>
            <a:ext cx="237744" cy="182880"/>
          </a:xfrm>
          <a:prstGeom prst="triangle">
            <a:avLst/>
          </a:prstGeom>
          <a:solidFill>
            <a:srgbClr val="FFFFFF"/>
          </a:solidFill>
          <a:ln w="15875">
            <a:solidFill>
              <a:srgbClr val="1A1A1A"/>
            </a:solidFill>
            <a:prstDash val="solid"/>
          </a:ln>
        </p:spPr>
      </p:sp>
      <p:sp>
        <p:nvSpPr>
          <p:cNvPr id="16" name="Shape 13"/>
          <p:cNvSpPr/>
          <p:nvPr/>
        </p:nvSpPr>
        <p:spPr>
          <a:xfrm flipV="1">
            <a:off x="4480560" y="2377440"/>
            <a:ext cx="1097280" cy="137160"/>
          </a:xfrm>
          <a:prstGeom prst="line">
            <a:avLst/>
          </a:prstGeom>
          <a:noFill/>
          <a:ln w="38100">
            <a:solidFill>
              <a:srgbClr val="1F3A5F"/>
            </a:solidFill>
            <a:prstDash val="solid"/>
            <a:headEnd type="triangle"/>
            <a:tailEnd type="triangle"/>
          </a:ln>
        </p:spPr>
      </p:sp>
      <p:sp>
        <p:nvSpPr>
          <p:cNvPr id="17" name="Shape 14"/>
          <p:cNvSpPr/>
          <p:nvPr/>
        </p:nvSpPr>
        <p:spPr>
          <a:xfrm>
            <a:off x="5577840" y="2103120"/>
            <a:ext cx="1371600" cy="548640"/>
          </a:xfrm>
          <a:prstGeom prst="rect">
            <a:avLst/>
          </a:prstGeom>
          <a:solidFill>
            <a:srgbClr val="FFFFFF"/>
          </a:solidFill>
          <a:ln w="12700">
            <a:solidFill>
              <a:srgbClr val="AEB6C2"/>
            </a:solidFill>
            <a:prstDash val="solid"/>
          </a:ln>
        </p:spPr>
      </p:sp>
      <p:sp>
        <p:nvSpPr>
          <p:cNvPr id="18" name="Text 15"/>
          <p:cNvSpPr txBox="1"/>
          <p:nvPr/>
        </p:nvSpPr>
        <p:spPr>
          <a:xfrm>
            <a:off x="5577840" y="2103120"/>
            <a:ext cx="1371600"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Fiber-fed remote unit</a:t>
            </a:r>
            <a:endParaRPr lang="en-US" sz="1000" dirty="0"/>
          </a:p>
        </p:txBody>
      </p:sp>
      <p:sp>
        <p:nvSpPr>
          <p:cNvPr id="19" name="Shape 16"/>
          <p:cNvSpPr/>
          <p:nvPr/>
        </p:nvSpPr>
        <p:spPr>
          <a:xfrm>
            <a:off x="6949440" y="2377440"/>
            <a:ext cx="228600" cy="0"/>
          </a:xfrm>
          <a:prstGeom prst="line">
            <a:avLst/>
          </a:prstGeom>
          <a:noFill/>
          <a:ln w="15875">
            <a:solidFill>
              <a:srgbClr val="1A1A1A"/>
            </a:solidFill>
            <a:prstDash val="solid"/>
          </a:ln>
        </p:spPr>
      </p:sp>
      <p:sp>
        <p:nvSpPr>
          <p:cNvPr id="20" name="Shape 17"/>
          <p:cNvSpPr/>
          <p:nvPr/>
        </p:nvSpPr>
        <p:spPr>
          <a:xfrm>
            <a:off x="7178040" y="2084832"/>
            <a:ext cx="0" cy="292608"/>
          </a:xfrm>
          <a:prstGeom prst="line">
            <a:avLst/>
          </a:prstGeom>
          <a:noFill/>
          <a:ln w="15875">
            <a:solidFill>
              <a:srgbClr val="1A1A1A"/>
            </a:solidFill>
            <a:prstDash val="solid"/>
          </a:ln>
        </p:spPr>
      </p:sp>
      <p:sp>
        <p:nvSpPr>
          <p:cNvPr id="21" name="Shape 18"/>
          <p:cNvSpPr/>
          <p:nvPr/>
        </p:nvSpPr>
        <p:spPr>
          <a:xfrm flipV="1">
            <a:off x="7059168" y="1920240"/>
            <a:ext cx="237744" cy="182880"/>
          </a:xfrm>
          <a:prstGeom prst="triangle">
            <a:avLst/>
          </a:prstGeom>
          <a:solidFill>
            <a:srgbClr val="FFFFFF"/>
          </a:solidFill>
          <a:ln w="15875">
            <a:solidFill>
              <a:srgbClr val="1A1A1A"/>
            </a:solidFill>
            <a:prstDash val="solid"/>
          </a:ln>
        </p:spPr>
      </p:sp>
      <p:sp>
        <p:nvSpPr>
          <p:cNvPr id="22" name="Shape 19"/>
          <p:cNvSpPr/>
          <p:nvPr/>
        </p:nvSpPr>
        <p:spPr>
          <a:xfrm>
            <a:off x="4480560" y="2514600"/>
            <a:ext cx="1097280" cy="640080"/>
          </a:xfrm>
          <a:prstGeom prst="line">
            <a:avLst/>
          </a:prstGeom>
          <a:noFill/>
          <a:ln w="38100">
            <a:solidFill>
              <a:srgbClr val="1F3A5F"/>
            </a:solidFill>
            <a:prstDash val="solid"/>
            <a:headEnd type="triangle"/>
            <a:tailEnd type="triangle"/>
          </a:ln>
        </p:spPr>
      </p:sp>
      <p:sp>
        <p:nvSpPr>
          <p:cNvPr id="23" name="Shape 20"/>
          <p:cNvSpPr/>
          <p:nvPr/>
        </p:nvSpPr>
        <p:spPr>
          <a:xfrm>
            <a:off x="5577840" y="2880360"/>
            <a:ext cx="1371600" cy="548640"/>
          </a:xfrm>
          <a:prstGeom prst="rect">
            <a:avLst/>
          </a:prstGeom>
          <a:solidFill>
            <a:srgbClr val="FFFFFF"/>
          </a:solidFill>
          <a:ln w="12700">
            <a:solidFill>
              <a:srgbClr val="AEB6C2"/>
            </a:solidFill>
            <a:prstDash val="solid"/>
          </a:ln>
        </p:spPr>
      </p:sp>
      <p:sp>
        <p:nvSpPr>
          <p:cNvPr id="24" name="Text 21"/>
          <p:cNvSpPr txBox="1"/>
          <p:nvPr/>
        </p:nvSpPr>
        <p:spPr>
          <a:xfrm>
            <a:off x="5577840" y="2880360"/>
            <a:ext cx="1371600"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Fiber-fed remote unit</a:t>
            </a:r>
            <a:endParaRPr lang="en-US" sz="1000" dirty="0"/>
          </a:p>
        </p:txBody>
      </p:sp>
      <p:sp>
        <p:nvSpPr>
          <p:cNvPr id="25" name="Shape 22"/>
          <p:cNvSpPr/>
          <p:nvPr/>
        </p:nvSpPr>
        <p:spPr>
          <a:xfrm>
            <a:off x="6949440" y="3154680"/>
            <a:ext cx="228600" cy="0"/>
          </a:xfrm>
          <a:prstGeom prst="line">
            <a:avLst/>
          </a:prstGeom>
          <a:noFill/>
          <a:ln w="15875">
            <a:solidFill>
              <a:srgbClr val="1A1A1A"/>
            </a:solidFill>
            <a:prstDash val="solid"/>
          </a:ln>
        </p:spPr>
      </p:sp>
      <p:sp>
        <p:nvSpPr>
          <p:cNvPr id="26" name="Shape 23"/>
          <p:cNvSpPr/>
          <p:nvPr/>
        </p:nvSpPr>
        <p:spPr>
          <a:xfrm>
            <a:off x="7178040" y="2862072"/>
            <a:ext cx="0" cy="292608"/>
          </a:xfrm>
          <a:prstGeom prst="line">
            <a:avLst/>
          </a:prstGeom>
          <a:noFill/>
          <a:ln w="15875">
            <a:solidFill>
              <a:srgbClr val="1A1A1A"/>
            </a:solidFill>
            <a:prstDash val="solid"/>
          </a:ln>
        </p:spPr>
      </p:sp>
      <p:sp>
        <p:nvSpPr>
          <p:cNvPr id="27" name="Shape 24"/>
          <p:cNvSpPr/>
          <p:nvPr/>
        </p:nvSpPr>
        <p:spPr>
          <a:xfrm flipV="1">
            <a:off x="7059168" y="2697480"/>
            <a:ext cx="237744" cy="182880"/>
          </a:xfrm>
          <a:prstGeom prst="triangle">
            <a:avLst/>
          </a:prstGeom>
          <a:solidFill>
            <a:srgbClr val="FFFFFF"/>
          </a:solidFill>
          <a:ln w="15875">
            <a:solidFill>
              <a:srgbClr val="1A1A1A"/>
            </a:solidFill>
            <a:prstDash val="solid"/>
          </a:ln>
        </p:spPr>
      </p:sp>
      <p:sp>
        <p:nvSpPr>
          <p:cNvPr id="28" name="Text 25"/>
          <p:cNvSpPr txBox="1"/>
          <p:nvPr/>
        </p:nvSpPr>
        <p:spPr>
          <a:xfrm>
            <a:off x="2926080" y="3429000"/>
            <a:ext cx="2743200" cy="457200"/>
          </a:xfrm>
          <a:prstGeom prst="rect">
            <a:avLst/>
          </a:prstGeom>
          <a:noFill/>
          <a:ln/>
        </p:spPr>
        <p:txBody>
          <a:bodyPr wrap="square" lIns="0" tIns="0" rIns="0" bIns="0" rtlCol="0" anchor="t"/>
          <a:lstStyle/>
          <a:p>
            <a:pPr indent="0" marL="0">
              <a:buNone/>
            </a:pPr>
            <a:r>
              <a:rPr lang="en-US" sz="1000" i="1" dirty="0">
                <a:solidFill>
                  <a:srgbClr val="1F3A5F"/>
                </a:solidFill>
                <a:latin typeface="Calibri" pitchFamily="34" charset="0"/>
                <a:ea typeface="Calibri" pitchFamily="34" charset="-122"/>
                <a:cs typeface="Calibri" pitchFamily="34" charset="-120"/>
              </a:rPr>
              <a:t>Fiber (hybrid fiber + DC power cable at Maracanã)</a:t>
            </a:r>
            <a:endParaRPr lang="en-US" sz="1000" dirty="0"/>
          </a:p>
        </p:txBody>
      </p:sp>
      <p:sp>
        <p:nvSpPr>
          <p:cNvPr id="29" name="Text 26"/>
          <p:cNvSpPr txBox="1"/>
          <p:nvPr/>
        </p:nvSpPr>
        <p:spPr>
          <a:xfrm>
            <a:off x="5486400" y="3703320"/>
            <a:ext cx="2103120" cy="274320"/>
          </a:xfrm>
          <a:prstGeom prst="rect">
            <a:avLst/>
          </a:prstGeom>
          <a:noFill/>
          <a:ln/>
        </p:spPr>
        <p:txBody>
          <a:bodyPr wrap="square" lIns="0" tIns="0" rIns="0" bIns="0" rtlCol="0" anchor="t"/>
          <a:lstStyle/>
          <a:p>
            <a:pPr indent="0" marL="0">
              <a:buNone/>
            </a:pPr>
            <a:r>
              <a:rPr lang="en-US" sz="1000" i="1" dirty="0">
                <a:solidFill>
                  <a:srgbClr val="6E7781"/>
                </a:solidFill>
                <a:latin typeface="Calibri" pitchFamily="34" charset="0"/>
                <a:ea typeface="Calibri" pitchFamily="34" charset="-122"/>
                <a:cs typeface="Calibri" pitchFamily="34" charset="-120"/>
              </a:rPr>
              <a:t>Stands, concourses, public areas</a:t>
            </a:r>
            <a:endParaRPr lang="en-US" sz="1000" dirty="0"/>
          </a:p>
        </p:txBody>
      </p:sp>
      <p:sp>
        <p:nvSpPr>
          <p:cNvPr id="30" name="Shape 27"/>
          <p:cNvSpPr/>
          <p:nvPr/>
        </p:nvSpPr>
        <p:spPr>
          <a:xfrm>
            <a:off x="548640" y="4325112"/>
            <a:ext cx="457200" cy="0"/>
          </a:xfrm>
          <a:prstGeom prst="line">
            <a:avLst/>
          </a:prstGeom>
          <a:noFill/>
          <a:ln w="15875">
            <a:solidFill>
              <a:srgbClr val="1A1A1A"/>
            </a:solidFill>
            <a:prstDash val="solid"/>
          </a:ln>
        </p:spPr>
      </p:sp>
      <p:sp>
        <p:nvSpPr>
          <p:cNvPr id="31" name="Text 28"/>
          <p:cNvSpPr txBox="1"/>
          <p:nvPr/>
        </p:nvSpPr>
        <p:spPr>
          <a:xfrm>
            <a:off x="1097280" y="420624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Electrical (RF / IF / digital)</a:t>
            </a:r>
            <a:endParaRPr lang="en-US" sz="1000" dirty="0"/>
          </a:p>
        </p:txBody>
      </p:sp>
      <p:sp>
        <p:nvSpPr>
          <p:cNvPr id="32" name="Shape 29"/>
          <p:cNvSpPr/>
          <p:nvPr/>
        </p:nvSpPr>
        <p:spPr>
          <a:xfrm>
            <a:off x="3383280" y="4325112"/>
            <a:ext cx="457200" cy="0"/>
          </a:xfrm>
          <a:prstGeom prst="line">
            <a:avLst/>
          </a:prstGeom>
          <a:noFill/>
          <a:ln w="38100">
            <a:solidFill>
              <a:srgbClr val="1F3A5F"/>
            </a:solidFill>
            <a:prstDash val="solid"/>
          </a:ln>
        </p:spPr>
      </p:sp>
      <p:sp>
        <p:nvSpPr>
          <p:cNvPr id="33" name="Text 30"/>
          <p:cNvSpPr txBox="1"/>
          <p:nvPr/>
        </p:nvSpPr>
        <p:spPr>
          <a:xfrm>
            <a:off x="3931920" y="420624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Optical (fiber)</a:t>
            </a:r>
            <a:endParaRPr lang="en-US" sz="1000" dirty="0"/>
          </a:p>
        </p:txBody>
      </p:sp>
      <p:sp>
        <p:nvSpPr>
          <p:cNvPr id="34" name="Text 31"/>
          <p:cNvSpPr txBox="1"/>
          <p:nvPr/>
        </p:nvSpPr>
        <p:spPr>
          <a:xfrm>
            <a:off x="7863840" y="1234440"/>
            <a:ext cx="3749040" cy="274320"/>
          </a:xfrm>
          <a:prstGeom prst="rect">
            <a:avLst/>
          </a:prstGeom>
          <a:noFill/>
          <a:ln/>
        </p:spPr>
        <p:txBody>
          <a:bodyPr wrap="square" lIns="0" tIns="0" rIns="0" bIns="0" rtlCol="0" anchor="t"/>
          <a:lstStyle/>
          <a:p>
            <a:pPr indent="0" marL="0">
              <a:buNone/>
            </a:pPr>
            <a:r>
              <a:rPr lang="en-US" sz="1500" b="1" dirty="0">
                <a:solidFill>
                  <a:srgbClr val="1F3A5F"/>
                </a:solidFill>
                <a:latin typeface="Calibri" pitchFamily="34" charset="0"/>
                <a:ea typeface="Calibri" pitchFamily="34" charset="-122"/>
                <a:cs typeface="Calibri" pitchFamily="34" charset="-120"/>
              </a:rPr>
              <a:t>Reported</a:t>
            </a:r>
            <a:endParaRPr lang="en-US" sz="1500" dirty="0"/>
          </a:p>
        </p:txBody>
      </p:sp>
      <p:sp>
        <p:nvSpPr>
          <p:cNvPr id="35" name="Text 32"/>
          <p:cNvSpPr txBox="1"/>
          <p:nvPr/>
        </p:nvSpPr>
        <p:spPr>
          <a:xfrm>
            <a:off x="7863840" y="1554480"/>
            <a:ext cx="374904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Optical DAS for five mobile operators, 2G / 3G / 4G; combined stadium capacity over 141,000 (Axell Wireless, June 2014).</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Maracanã: hybrid fiber + DC power cable feeding remote radio units; 2G, 3G, 4G and iDEN (RFS, 10 June 2014).</a:t>
            </a:r>
            <a:endParaRPr lang="en-US" sz="1200" dirty="0"/>
          </a:p>
        </p:txBody>
      </p:sp>
      <p:sp>
        <p:nvSpPr>
          <p:cNvPr id="36" name="Text 33"/>
          <p:cNvSpPr txBox="1"/>
          <p:nvPr/>
        </p:nvSpPr>
        <p:spPr>
          <a:xfrm>
            <a:off x="7863840" y="3520440"/>
            <a:ext cx="3749040" cy="274320"/>
          </a:xfrm>
          <a:prstGeom prst="rect">
            <a:avLst/>
          </a:prstGeom>
          <a:noFill/>
          <a:ln/>
        </p:spPr>
        <p:txBody>
          <a:bodyPr wrap="square" lIns="0" tIns="0" rIns="0" bIns="0" rtlCol="0" anchor="t"/>
          <a:lstStyle/>
          <a:p>
            <a:pPr indent="0" marL="0">
              <a:buNone/>
            </a:pPr>
            <a:r>
              <a:rPr lang="en-US" sz="1500" b="1" dirty="0">
                <a:solidFill>
                  <a:srgbClr val="1F3A5F"/>
                </a:solidFill>
                <a:latin typeface="Calibri" pitchFamily="34" charset="0"/>
                <a:ea typeface="Calibri" pitchFamily="34" charset="-122"/>
                <a:cs typeface="Calibri" pitchFamily="34" charset="-120"/>
              </a:rPr>
              <a:t>Not reported</a:t>
            </a:r>
            <a:endParaRPr lang="en-US" sz="1500" dirty="0"/>
          </a:p>
        </p:txBody>
      </p:sp>
      <p:sp>
        <p:nvSpPr>
          <p:cNvPr id="37" name="Text 34"/>
          <p:cNvSpPr txBox="1"/>
          <p:nvPr/>
        </p:nvSpPr>
        <p:spPr>
          <a:xfrm>
            <a:off x="7863840" y="3840480"/>
            <a:ext cx="3749040" cy="1097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Link budgets, noise figure, measured capacity, cost against alternatives.</a:t>
            </a:r>
            <a:endParaRPr lang="en-US" sz="1200" dirty="0"/>
          </a:p>
          <a:p>
            <a:pPr marL="342900" indent="-342900">
              <a:spcAft>
                <a:spcPts val="600"/>
              </a:spcAft>
              <a:buSzPct val="100000"/>
              <a:buChar char="•"/>
            </a:pPr>
            <a:r>
              <a:rPr lang="en-US" sz="1200" dirty="0">
                <a:solidFill>
                  <a:srgbClr val="1A1A1A"/>
                </a:solidFill>
                <a:latin typeface="Calibri" pitchFamily="34" charset="0"/>
                <a:ea typeface="Calibri" pitchFamily="34" charset="-122"/>
                <a:cs typeface="Calibri" pitchFamily="34" charset="-120"/>
              </a:rPr>
              <a:t>Transport format per subsystem (analog RF or digital).</a:t>
            </a:r>
            <a:endParaRPr lang="en-US" sz="1200" dirty="0"/>
          </a:p>
        </p:txBody>
      </p:sp>
      <p:sp>
        <p:nvSpPr>
          <p:cNvPr id="38" name="Shape 35"/>
          <p:cNvSpPr/>
          <p:nvPr/>
        </p:nvSpPr>
        <p:spPr>
          <a:xfrm>
            <a:off x="548640" y="4892040"/>
            <a:ext cx="11064240" cy="777240"/>
          </a:xfrm>
          <a:prstGeom prst="rect">
            <a:avLst/>
          </a:prstGeom>
          <a:solidFill>
            <a:srgbClr val="F3F5F8"/>
          </a:solidFill>
          <a:ln w="12700">
            <a:solidFill>
              <a:srgbClr val="F3F5F8"/>
            </a:solidFill>
            <a:prstDash val="solid"/>
          </a:ln>
        </p:spPr>
      </p:sp>
      <p:sp>
        <p:nvSpPr>
          <p:cNvPr id="39" name="Text 36"/>
          <p:cNvSpPr txBox="1"/>
          <p:nvPr/>
        </p:nvSpPr>
        <p:spPr>
          <a:xfrm>
            <a:off x="685800" y="4937760"/>
            <a:ext cx="10789920" cy="685800"/>
          </a:xfrm>
          <a:prstGeom prst="rect">
            <a:avLst/>
          </a:prstGeom>
          <a:noFill/>
          <a:ln/>
        </p:spPr>
        <p:txBody>
          <a:bodyPr wrap="square" lIns="0" tIns="0" rIns="0" bIns="0" rtlCol="0" anchor="ctr"/>
          <a:lstStyle/>
          <a:p>
            <a:pPr indent="0" marL="0">
              <a:buNone/>
            </a:pPr>
            <a:r>
              <a:rPr lang="en-US" sz="1300" b="1" dirty="0">
                <a:solidFill>
                  <a:srgbClr val="1F3A5F"/>
                </a:solidFill>
                <a:latin typeface="Calibri" pitchFamily="34" charset="0"/>
                <a:ea typeface="Calibri" pitchFamily="34" charset="-122"/>
                <a:cs typeface="Calibri" pitchFamily="34" charset="-120"/>
              </a:rPr>
              <a:t>What the case supports: </a:t>
            </a:r>
            <a:pPr indent="0" marL="0">
              <a:buNone/>
            </a:pPr>
            <a:r>
              <a:rPr lang="en-US" sz="1300" dirty="0">
                <a:solidFill>
                  <a:srgbClr val="1A1A1A"/>
                </a:solidFill>
                <a:latin typeface="Calibri" pitchFamily="34" charset="0"/>
                <a:ea typeface="Calibri" pitchFamily="34" charset="-122"/>
                <a:cs typeface="Calibri" pitchFamily="34" charset="-120"/>
              </a:rPr>
              <a:t>feasibility of a multi-operator, multi-technology fiber-fed DAS in large venues. It does not support quantitative performance or cost claims.</a:t>
            </a:r>
            <a:endParaRPr lang="en-US" sz="1300" dirty="0"/>
          </a:p>
        </p:txBody>
      </p:sp>
      <p:sp>
        <p:nvSpPr>
          <p:cNvPr id="40" name="Text 37"/>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Sources: Axell Wireless press release, June 2014 (prnewswire.co.uk); RFS press release, 10 June 2014 (globenewswire.com); PBE Axell case study "Brazilian Sports Stadiums" (equipment names: verification required).</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Conclusions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57200"/>
                <a:gridCol w="9052560"/>
                <a:gridCol w="1554480"/>
              </a:tblGrid>
              <a:tr h="685800">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Conclusion</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r>
              <a:tr h="6858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RoF transports an existing radio signal. It does not add spectrum or air-interface capacity.</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Slide 3</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6858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Against passive coax at 2.5 GHz, unamplified RFoF has lower RF loss only beyond a break-even length set by conversion loss (≈ 90–180 m under the stated assumptions).</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Slide 7</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6858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Against digital fronthaul, analog RoF needs far less fiber capacity and no DAC/ADC at the remote unit, at the cost of noise, distortion, dispersion and weaker monitoring.</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Slides 8, 10</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6858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Documented deployments include multi-operator fiber-fed DAS in large venues; vendor sources support feasibility, not performance.</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Slide 11</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68580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Selection criteria: fiber availability, link length, number of bands and operators, required noise figure and dynamic range, remote power, monitoring needs.</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Slides 7–10</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Questions</a:t>
            </a:r>
            <a:endParaRPr lang="en-US" sz="2800" dirty="0"/>
          </a:p>
        </p:txBody>
      </p:sp>
      <p:sp>
        <p:nvSpPr>
          <p:cNvPr id="4" name="Text 1"/>
          <p:cNvSpPr txBox="1"/>
          <p:nvPr/>
        </p:nvSpPr>
        <p:spPr>
          <a:xfrm>
            <a:off x="548640" y="1371600"/>
            <a:ext cx="11064240" cy="36576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Reference material in the appendix:</a:t>
            </a:r>
            <a:endParaRPr lang="en-US" sz="1600" dirty="0"/>
          </a:p>
        </p:txBody>
      </p:sp>
      <p:sp>
        <p:nvSpPr>
          <p:cNvPr id="5" name="Text 2"/>
          <p:cNvSpPr txBox="1"/>
          <p:nvPr/>
        </p:nvSpPr>
        <p:spPr>
          <a:xfrm>
            <a:off x="548640" y="1828800"/>
            <a:ext cx="11064240" cy="3840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A1 Glossary</a:t>
            </a:r>
            <a:endParaRPr lang="en-US" sz="1500" dirty="0"/>
          </a:p>
          <a:p>
            <a:pPr marL="342900" indent="-342900">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A2 Loss figures at 100 m, 1 km and 10 km</a:t>
            </a:r>
            <a:endParaRPr lang="en-US" sz="1500" dirty="0"/>
          </a:p>
          <a:p>
            <a:pPr marL="342900" indent="-342900">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A3 Remote antenna unit types (BBoF, IFoF, RFoF)</a:t>
            </a:r>
            <a:endParaRPr lang="en-US" sz="1500" dirty="0"/>
          </a:p>
          <a:p>
            <a:pPr marL="342900" indent="-342900">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A4 Measured BER versus carrier-to-sideband ratio</a:t>
            </a:r>
            <a:endParaRPr lang="en-US" sz="1500" dirty="0"/>
          </a:p>
          <a:p>
            <a:pPr marL="342900" indent="-342900">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A5 Research demonstration: 5G-NR and a candidate 6G signal on one fiber</a:t>
            </a:r>
            <a:endParaRPr lang="en-US" sz="1500" dirty="0"/>
          </a:p>
          <a:p>
            <a:pPr marL="342900" indent="-342900">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A6 Fronthaul bit-rate calculation and reported analog vs digital comparison</a:t>
            </a:r>
            <a:endParaRPr lang="en-US" sz="1500" dirty="0"/>
          </a:p>
          <a:p>
            <a:pPr marL="342900" indent="-342900">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A7 Standards and specifications</a:t>
            </a:r>
            <a:endParaRPr lang="en-US" sz="1500" dirty="0"/>
          </a:p>
          <a:p>
            <a:pPr marL="342900" indent="-342900">
              <a:spcAft>
                <a:spcPts val="400"/>
              </a:spcAft>
              <a:buSzPct val="100000"/>
              <a:buChar char="•"/>
            </a:pPr>
            <a:r>
              <a:rPr lang="en-US" sz="1500" dirty="0">
                <a:solidFill>
                  <a:srgbClr val="1A1A1A"/>
                </a:solidFill>
                <a:latin typeface="Calibri" pitchFamily="34" charset="0"/>
                <a:ea typeface="Calibri" pitchFamily="34" charset="-122"/>
                <a:cs typeface="Calibri" pitchFamily="34" charset="-120"/>
              </a:rPr>
              <a:t>A8 References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A1 Glossary</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440680" cy="914400"/>
        </p:xfrm>
        <a:graphic>
          <a:graphicData uri="http://schemas.openxmlformats.org/drawingml/2006/table">
            <a:tbl>
              <a:tblPr/>
              <a:tblGrid>
                <a:gridCol w="1143000"/>
                <a:gridCol w="4297680"/>
              </a:tblGrid>
              <a:tr h="0">
                <a:tc>
                  <a:txBody>
                    <a:bodyPr/>
                    <a:lstStyle/>
                    <a:p>
                      <a:pPr indent="0" marL="0">
                        <a:buNone/>
                      </a:pPr>
                      <a:r>
                        <a:rPr lang="en-US" sz="1200" b="1" dirty="0">
                          <a:solidFill>
                            <a:srgbClr val="1F3A5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200" b="1" dirty="0">
                          <a:solidFill>
                            <a:srgbClr val="1F3A5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BBU</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Baseband unit: PHY / MAC processing at the central site</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RRH / RRU</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Remote radio head / unit: DAC/ADC, frequency conversion, PA/LNA; fed by digital fronthaul</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RAU</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Remote antenna unit of an analog RoF link: O/E, E/O, RF amplifiers, filters</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DAS</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Distributed antenna system: one signal source, many antenna points</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WDM</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Wavelength-division multiplexing: several wavelengths on one fiber</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MZM</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Mach-Zehnder modulator: external intensity modulator</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IM/DD</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Intensity modulation, direct detection</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LO</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Local oscillator, used for frequency conversion</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SMF</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Single-mode fiber (ITU-T G.652 family)</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bl>
          </a:graphicData>
        </a:graphic>
      </p:graphicFrame>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172200" y="1234440"/>
          <a:ext cx="5440680" cy="914400"/>
        </p:xfrm>
        <a:graphic>
          <a:graphicData uri="http://schemas.openxmlformats.org/drawingml/2006/table">
            <a:tbl>
              <a:tblPr/>
              <a:tblGrid>
                <a:gridCol w="1325880"/>
                <a:gridCol w="4114800"/>
              </a:tblGrid>
              <a:tr h="0">
                <a:tc>
                  <a:txBody>
                    <a:bodyPr/>
                    <a:lstStyle/>
                    <a:p>
                      <a:pPr indent="0" marL="0">
                        <a:buNone/>
                      </a:pPr>
                      <a:r>
                        <a:rPr lang="en-US" sz="1200" b="1" dirty="0">
                          <a:solidFill>
                            <a:srgbClr val="1F3A5F"/>
                          </a:solidFill>
                          <a:latin typeface="Calibri" pitchFamily="34" charset="0"/>
                          <a:ea typeface="Calibri" pitchFamily="34" charset="-122"/>
                          <a:cs typeface="Calibri" pitchFamily="34" charset="-120"/>
                        </a:rPr>
                        <a:t>Term</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200" b="1" dirty="0">
                          <a:solidFill>
                            <a:srgbClr val="1F3A5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TIA / PA / LNA</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Transimpedance / power / low-noise amplifier</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RIN</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Relative intensity noise of the laser</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SFDR</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Spurious-free dynamic range</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CSR</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Optical carrier-to-sideband power ratio</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BER</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Bit error ratio</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EVM</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Error vector magnitude; 3GPP limit for 256-QAM: 3.5 %</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CPRI</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Common Public Radio Interface: serial digital I/Q fronthaul</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eCPRI</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Packet-based fronthaul; supports intra-PHY splits</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C-RAN</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Centralized RAN: baseband pooled at a central site</a:t>
                      </a:r>
                      <a:endParaRPr lang="en-US" sz="12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bl>
          </a:graphicData>
        </a:graphic>
      </p:graphicFrame>
      <p:sp>
        <p:nvSpPr>
          <p:cNvPr id="6" name="Text 1"/>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EVM limit: 3GPP TS 38.104, base-station transmitter EVM requirements.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A2 Loss figures at 100 m, 1 km and 10 km (2.5 GHz)</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280160"/>
                <a:gridCol w="3566160"/>
                <a:gridCol w="2743200"/>
                <a:gridCol w="3474720"/>
              </a:tblGrid>
              <a:tr h="502920">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Length</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Coax, LMR-400 class (22.2 dB/100 m)</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Fiber, optical loss (0.25 dB/km)</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400" b="1" dirty="0">
                          <a:solidFill>
                            <a:srgbClr val="1F3A5F"/>
                          </a:solidFill>
                          <a:latin typeface="Calibri" pitchFamily="34" charset="0"/>
                          <a:ea typeface="Calibri" pitchFamily="34" charset="-122"/>
                          <a:cs typeface="Calibri" pitchFamily="34" charset="-120"/>
                        </a:rPr>
                        <a:t>RFoF, RF loss = Lc + 2 × optical loss</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r>
              <a:tr h="50292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100 m</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22.2 dB</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0.025 dB</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Lc + 0.05 dB</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50292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 km</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222 dB (extrapolated; not built passively)</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0.25 dB</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Lc + 0.5 dB</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502920">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10 km</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2,220 dB (extrapolated; not built passively)</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2.5 dB</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400" dirty="0">
                          <a:solidFill>
                            <a:srgbClr val="1A1A1A"/>
                          </a:solidFill>
                          <a:latin typeface="Calibri" pitchFamily="34" charset="0"/>
                          <a:ea typeface="Calibri" pitchFamily="34" charset="-122"/>
                          <a:cs typeface="Calibri" pitchFamily="34" charset="-120"/>
                        </a:rPr>
                        <a:t>Lc + 5 dB</a:t>
                      </a:r>
                      <a:endParaRPr lang="en-US" sz="14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bl>
          </a:graphicData>
        </a:graphic>
      </p:graphicFrame>
      <p:sp>
        <p:nvSpPr>
          <p:cNvPr id="5" name="Text 1"/>
          <p:cNvSpPr txBox="1"/>
          <p:nvPr/>
        </p:nvSpPr>
        <p:spPr>
          <a:xfrm>
            <a:off x="548640" y="3657600"/>
            <a:ext cx="11064240" cy="18288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Lc: fixed RF-to-RF conversion loss of the unamplified RoF link; device-specific. Verification required against equipment datasheets.</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Optical-to-RF factor of 2 applies to intensity modulation with direct detection (square-law photodetection).</a:t>
            </a:r>
            <a:endParaRPr lang="en-US" sz="1400" dirty="0"/>
          </a:p>
          <a:p>
            <a:pPr marL="342900" indent="-342900">
              <a:spcAft>
                <a:spcPts val="600"/>
              </a:spcAft>
              <a:buSzPct val="100000"/>
              <a:buChar char="•"/>
            </a:pPr>
            <a:r>
              <a:rPr lang="en-US" sz="1400" dirty="0">
                <a:solidFill>
                  <a:srgbClr val="1A1A1A"/>
                </a:solidFill>
                <a:latin typeface="Calibri" pitchFamily="34" charset="0"/>
                <a:ea typeface="Calibri" pitchFamily="34" charset="-122"/>
                <a:cs typeface="Calibri" pitchFamily="34" charset="-120"/>
              </a:rPr>
              <a:t>Splice and connector losses are excluded from both columns.</a:t>
            </a:r>
            <a:endParaRPr lang="en-US" sz="1400" dirty="0"/>
          </a:p>
        </p:txBody>
      </p:sp>
      <p:sp>
        <p:nvSpPr>
          <p:cNvPr id="6" name="Text 2"/>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Sources: Times Microwave LMR-400 datasheet; G.652.D cable datasheets; C. H. Cox III, Analog Optical Links, 2004.</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A3 Remote antenna unit types: BBoF, IFoF, RFoF</a:t>
            </a:r>
            <a:endParaRPr lang="en-US" sz="2800" dirty="0"/>
          </a:p>
        </p:txBody>
      </p:sp>
      <p:sp>
        <p:nvSpPr>
          <p:cNvPr id="4" name="Text 1"/>
          <p:cNvSpPr txBox="1"/>
          <p:nvPr/>
        </p:nvSpPr>
        <p:spPr>
          <a:xfrm>
            <a:off x="2377440" y="1234440"/>
            <a:ext cx="4480560" cy="274320"/>
          </a:xfrm>
          <a:prstGeom prst="rect">
            <a:avLst/>
          </a:prstGeom>
          <a:noFill/>
          <a:ln/>
        </p:spPr>
        <p:txBody>
          <a:bodyPr wrap="square" lIns="0" tIns="0" rIns="0" bIns="0" rtlCol="0" anchor="t"/>
          <a:lstStyle/>
          <a:p>
            <a:pPr algn="ctr" indent="0" marL="0">
              <a:buNone/>
            </a:pPr>
            <a:r>
              <a:rPr lang="en-US" sz="1200" b="1" dirty="0">
                <a:solidFill>
                  <a:srgbClr val="1F3A5F"/>
                </a:solidFill>
                <a:latin typeface="Calibri" pitchFamily="34" charset="0"/>
                <a:ea typeface="Calibri" pitchFamily="34" charset="-122"/>
                <a:cs typeface="Calibri" pitchFamily="34" charset="-120"/>
              </a:rPr>
              <a:t>Downlink: fiber → antenna</a:t>
            </a:r>
            <a:endParaRPr lang="en-US" sz="1200" dirty="0"/>
          </a:p>
        </p:txBody>
      </p:sp>
      <p:sp>
        <p:nvSpPr>
          <p:cNvPr id="5" name="Text 2"/>
          <p:cNvSpPr txBox="1"/>
          <p:nvPr/>
        </p:nvSpPr>
        <p:spPr>
          <a:xfrm>
            <a:off x="7132320" y="1234440"/>
            <a:ext cx="4480560" cy="274320"/>
          </a:xfrm>
          <a:prstGeom prst="rect">
            <a:avLst/>
          </a:prstGeom>
          <a:noFill/>
          <a:ln/>
        </p:spPr>
        <p:txBody>
          <a:bodyPr wrap="square" lIns="0" tIns="0" rIns="0" bIns="0" rtlCol="0" anchor="t"/>
          <a:lstStyle/>
          <a:p>
            <a:pPr algn="ctr" indent="0" marL="0">
              <a:buNone/>
            </a:pPr>
            <a:r>
              <a:rPr lang="en-US" sz="1200" b="1" dirty="0">
                <a:solidFill>
                  <a:srgbClr val="1F3A5F"/>
                </a:solidFill>
                <a:latin typeface="Calibri" pitchFamily="34" charset="0"/>
                <a:ea typeface="Calibri" pitchFamily="34" charset="-122"/>
                <a:cs typeface="Calibri" pitchFamily="34" charset="-120"/>
              </a:rPr>
              <a:t>Uplink: antenna → fiber</a:t>
            </a:r>
            <a:endParaRPr lang="en-US" sz="1200" dirty="0"/>
          </a:p>
        </p:txBody>
      </p:sp>
      <p:sp>
        <p:nvSpPr>
          <p:cNvPr id="6" name="Text 3"/>
          <p:cNvSpPr txBox="1"/>
          <p:nvPr/>
        </p:nvSpPr>
        <p:spPr>
          <a:xfrm>
            <a:off x="548640" y="1645920"/>
            <a:ext cx="1645920" cy="5486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BBoF</a:t>
            </a:r>
            <a:endParaRPr lang="en-US" sz="1400" dirty="0"/>
          </a:p>
          <a:p>
            <a:pPr indent="0" marL="0">
              <a:buNone/>
            </a:pPr>
            <a:r>
              <a:rPr lang="en-US" sz="1000" dirty="0">
                <a:solidFill>
                  <a:srgbClr val="5F6670"/>
                </a:solidFill>
                <a:latin typeface="Calibri" pitchFamily="34" charset="0"/>
                <a:ea typeface="Calibri" pitchFamily="34" charset="-122"/>
                <a:cs typeface="Calibri" pitchFamily="34" charset="-120"/>
              </a:rPr>
              <a:t>On fiber: Baseband</a:t>
            </a:r>
            <a:endParaRPr lang="en-US" sz="1400" dirty="0"/>
          </a:p>
        </p:txBody>
      </p:sp>
      <p:sp>
        <p:nvSpPr>
          <p:cNvPr id="7" name="Shape 4"/>
          <p:cNvSpPr/>
          <p:nvPr/>
        </p:nvSpPr>
        <p:spPr>
          <a:xfrm>
            <a:off x="2377440" y="1645920"/>
            <a:ext cx="749808" cy="548640"/>
          </a:xfrm>
          <a:prstGeom prst="rect">
            <a:avLst/>
          </a:prstGeom>
          <a:solidFill>
            <a:srgbClr val="DCE6F2"/>
          </a:solidFill>
          <a:ln w="12700">
            <a:solidFill>
              <a:srgbClr val="AEB6C2"/>
            </a:solidFill>
            <a:prstDash val="solid"/>
          </a:ln>
        </p:spPr>
      </p:sp>
      <p:sp>
        <p:nvSpPr>
          <p:cNvPr id="8" name="Text 5"/>
          <p:cNvSpPr txBox="1"/>
          <p:nvPr/>
        </p:nvSpPr>
        <p:spPr>
          <a:xfrm>
            <a:off x="2377440" y="1645920"/>
            <a:ext cx="749808" cy="548640"/>
          </a:xfrm>
          <a:prstGeom prst="rect">
            <a:avLst/>
          </a:prstGeom>
          <a:noFill/>
          <a:ln/>
        </p:spPr>
        <p:txBody>
          <a:bodyPr wrap="square" lIns="38100" tIns="38100" rIns="38100" bIns="3810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PD</a:t>
            </a:r>
            <a:endParaRPr lang="en-US" sz="1000" dirty="0"/>
          </a:p>
        </p:txBody>
      </p:sp>
      <p:sp>
        <p:nvSpPr>
          <p:cNvPr id="9" name="Shape 6"/>
          <p:cNvSpPr/>
          <p:nvPr/>
        </p:nvSpPr>
        <p:spPr>
          <a:xfrm>
            <a:off x="3127248" y="1920240"/>
            <a:ext cx="182880" cy="0"/>
          </a:xfrm>
          <a:prstGeom prst="line">
            <a:avLst/>
          </a:prstGeom>
          <a:noFill/>
          <a:ln w="15875">
            <a:solidFill>
              <a:srgbClr val="1A1A1A"/>
            </a:solidFill>
            <a:prstDash val="solid"/>
            <a:tailEnd type="triangle"/>
          </a:ln>
        </p:spPr>
      </p:sp>
      <p:sp>
        <p:nvSpPr>
          <p:cNvPr id="10" name="Shape 7"/>
          <p:cNvSpPr/>
          <p:nvPr/>
        </p:nvSpPr>
        <p:spPr>
          <a:xfrm>
            <a:off x="3310128" y="1645920"/>
            <a:ext cx="749808" cy="548640"/>
          </a:xfrm>
          <a:prstGeom prst="rect">
            <a:avLst/>
          </a:prstGeom>
          <a:solidFill>
            <a:srgbClr val="FFFFFF"/>
          </a:solidFill>
          <a:ln w="12700">
            <a:solidFill>
              <a:srgbClr val="AEB6C2"/>
            </a:solidFill>
            <a:prstDash val="solid"/>
          </a:ln>
        </p:spPr>
      </p:sp>
      <p:sp>
        <p:nvSpPr>
          <p:cNvPr id="11" name="Text 8"/>
          <p:cNvSpPr txBox="1"/>
          <p:nvPr/>
        </p:nvSpPr>
        <p:spPr>
          <a:xfrm>
            <a:off x="3310128" y="164592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TIA</a:t>
            </a:r>
            <a:endParaRPr lang="en-US" sz="1000" dirty="0"/>
          </a:p>
        </p:txBody>
      </p:sp>
      <p:sp>
        <p:nvSpPr>
          <p:cNvPr id="12" name="Shape 9"/>
          <p:cNvSpPr/>
          <p:nvPr/>
        </p:nvSpPr>
        <p:spPr>
          <a:xfrm>
            <a:off x="4059936" y="1920240"/>
            <a:ext cx="182880" cy="0"/>
          </a:xfrm>
          <a:prstGeom prst="line">
            <a:avLst/>
          </a:prstGeom>
          <a:noFill/>
          <a:ln w="15875">
            <a:solidFill>
              <a:srgbClr val="1A1A1A"/>
            </a:solidFill>
            <a:prstDash val="solid"/>
            <a:tailEnd type="triangle"/>
          </a:ln>
        </p:spPr>
      </p:sp>
      <p:sp>
        <p:nvSpPr>
          <p:cNvPr id="13" name="Shape 10"/>
          <p:cNvSpPr/>
          <p:nvPr/>
        </p:nvSpPr>
        <p:spPr>
          <a:xfrm>
            <a:off x="4242816" y="1645920"/>
            <a:ext cx="749808" cy="548640"/>
          </a:xfrm>
          <a:prstGeom prst="rect">
            <a:avLst/>
          </a:prstGeom>
          <a:solidFill>
            <a:srgbClr val="FFFFFF"/>
          </a:solidFill>
          <a:ln w="12700">
            <a:solidFill>
              <a:srgbClr val="AEB6C2"/>
            </a:solidFill>
            <a:prstDash val="solid"/>
          </a:ln>
        </p:spPr>
      </p:sp>
      <p:sp>
        <p:nvSpPr>
          <p:cNvPr id="14" name="Text 11"/>
          <p:cNvSpPr txBox="1"/>
          <p:nvPr/>
        </p:nvSpPr>
        <p:spPr>
          <a:xfrm>
            <a:off x="4242816" y="164592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MOD</a:t>
            </a:r>
            <a:endParaRPr lang="en-US" sz="1000" dirty="0"/>
          </a:p>
        </p:txBody>
      </p:sp>
      <p:sp>
        <p:nvSpPr>
          <p:cNvPr id="15" name="Shape 12"/>
          <p:cNvSpPr/>
          <p:nvPr/>
        </p:nvSpPr>
        <p:spPr>
          <a:xfrm>
            <a:off x="4992624" y="1920240"/>
            <a:ext cx="182880" cy="0"/>
          </a:xfrm>
          <a:prstGeom prst="line">
            <a:avLst/>
          </a:prstGeom>
          <a:noFill/>
          <a:ln w="15875">
            <a:solidFill>
              <a:srgbClr val="1A1A1A"/>
            </a:solidFill>
            <a:prstDash val="solid"/>
            <a:tailEnd type="triangle"/>
          </a:ln>
        </p:spPr>
      </p:sp>
      <p:sp>
        <p:nvSpPr>
          <p:cNvPr id="16" name="Shape 13"/>
          <p:cNvSpPr/>
          <p:nvPr/>
        </p:nvSpPr>
        <p:spPr>
          <a:xfrm>
            <a:off x="5175504" y="1645920"/>
            <a:ext cx="749808" cy="548640"/>
          </a:xfrm>
          <a:prstGeom prst="rect">
            <a:avLst/>
          </a:prstGeom>
          <a:solidFill>
            <a:srgbClr val="FFFFFF"/>
          </a:solidFill>
          <a:ln w="12700">
            <a:solidFill>
              <a:srgbClr val="AEB6C2"/>
            </a:solidFill>
            <a:prstDash val="solid"/>
          </a:ln>
        </p:spPr>
      </p:sp>
      <p:sp>
        <p:nvSpPr>
          <p:cNvPr id="17" name="Text 14"/>
          <p:cNvSpPr txBox="1"/>
          <p:nvPr/>
        </p:nvSpPr>
        <p:spPr>
          <a:xfrm>
            <a:off x="5175504" y="164592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Mixer + LO</a:t>
            </a:r>
            <a:endParaRPr lang="en-US" sz="1000" dirty="0"/>
          </a:p>
        </p:txBody>
      </p:sp>
      <p:sp>
        <p:nvSpPr>
          <p:cNvPr id="18" name="Shape 15"/>
          <p:cNvSpPr/>
          <p:nvPr/>
        </p:nvSpPr>
        <p:spPr>
          <a:xfrm>
            <a:off x="5925312" y="1920240"/>
            <a:ext cx="182880" cy="0"/>
          </a:xfrm>
          <a:prstGeom prst="line">
            <a:avLst/>
          </a:prstGeom>
          <a:noFill/>
          <a:ln w="15875">
            <a:solidFill>
              <a:srgbClr val="1A1A1A"/>
            </a:solidFill>
            <a:prstDash val="solid"/>
            <a:tailEnd type="triangle"/>
          </a:ln>
        </p:spPr>
      </p:sp>
      <p:sp>
        <p:nvSpPr>
          <p:cNvPr id="19" name="Shape 16"/>
          <p:cNvSpPr/>
          <p:nvPr/>
        </p:nvSpPr>
        <p:spPr>
          <a:xfrm>
            <a:off x="6108192" y="1645920"/>
            <a:ext cx="749808" cy="548640"/>
          </a:xfrm>
          <a:prstGeom prst="rect">
            <a:avLst/>
          </a:prstGeom>
          <a:solidFill>
            <a:srgbClr val="FFFFFF"/>
          </a:solidFill>
          <a:ln w="12700">
            <a:solidFill>
              <a:srgbClr val="AEB6C2"/>
            </a:solidFill>
            <a:prstDash val="solid"/>
          </a:ln>
        </p:spPr>
      </p:sp>
      <p:sp>
        <p:nvSpPr>
          <p:cNvPr id="20" name="Text 17"/>
          <p:cNvSpPr txBox="1"/>
          <p:nvPr/>
        </p:nvSpPr>
        <p:spPr>
          <a:xfrm>
            <a:off x="6108192" y="164592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PA</a:t>
            </a:r>
            <a:endParaRPr lang="en-US" sz="1000" dirty="0"/>
          </a:p>
        </p:txBody>
      </p:sp>
      <p:sp>
        <p:nvSpPr>
          <p:cNvPr id="21" name="Shape 18"/>
          <p:cNvSpPr/>
          <p:nvPr/>
        </p:nvSpPr>
        <p:spPr>
          <a:xfrm>
            <a:off x="7132320" y="1645920"/>
            <a:ext cx="749808" cy="548640"/>
          </a:xfrm>
          <a:prstGeom prst="rect">
            <a:avLst/>
          </a:prstGeom>
          <a:solidFill>
            <a:srgbClr val="DCE6F2"/>
          </a:solidFill>
          <a:ln w="12700">
            <a:solidFill>
              <a:srgbClr val="AEB6C2"/>
            </a:solidFill>
            <a:prstDash val="solid"/>
          </a:ln>
        </p:spPr>
      </p:sp>
      <p:sp>
        <p:nvSpPr>
          <p:cNvPr id="22" name="Text 19"/>
          <p:cNvSpPr txBox="1"/>
          <p:nvPr/>
        </p:nvSpPr>
        <p:spPr>
          <a:xfrm>
            <a:off x="7132320" y="1645920"/>
            <a:ext cx="749808" cy="548640"/>
          </a:xfrm>
          <a:prstGeom prst="rect">
            <a:avLst/>
          </a:prstGeom>
          <a:noFill/>
          <a:ln/>
        </p:spPr>
        <p:txBody>
          <a:bodyPr wrap="square" lIns="38100" tIns="38100" rIns="38100" bIns="3810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LD</a:t>
            </a:r>
            <a:endParaRPr lang="en-US" sz="1000" dirty="0"/>
          </a:p>
        </p:txBody>
      </p:sp>
      <p:sp>
        <p:nvSpPr>
          <p:cNvPr id="23" name="Shape 20"/>
          <p:cNvSpPr/>
          <p:nvPr/>
        </p:nvSpPr>
        <p:spPr>
          <a:xfrm flipH="1">
            <a:off x="7882128" y="1920240"/>
            <a:ext cx="182880" cy="0"/>
          </a:xfrm>
          <a:prstGeom prst="line">
            <a:avLst/>
          </a:prstGeom>
          <a:noFill/>
          <a:ln w="15875">
            <a:solidFill>
              <a:srgbClr val="1A1A1A"/>
            </a:solidFill>
            <a:prstDash val="solid"/>
            <a:tailEnd type="triangle"/>
          </a:ln>
        </p:spPr>
      </p:sp>
      <p:sp>
        <p:nvSpPr>
          <p:cNvPr id="24" name="Shape 21"/>
          <p:cNvSpPr/>
          <p:nvPr/>
        </p:nvSpPr>
        <p:spPr>
          <a:xfrm>
            <a:off x="8065008" y="1645920"/>
            <a:ext cx="749808" cy="548640"/>
          </a:xfrm>
          <a:prstGeom prst="rect">
            <a:avLst/>
          </a:prstGeom>
          <a:solidFill>
            <a:srgbClr val="FFFFFF"/>
          </a:solidFill>
          <a:ln w="12700">
            <a:solidFill>
              <a:srgbClr val="AEB6C2"/>
            </a:solidFill>
            <a:prstDash val="solid"/>
          </a:ln>
        </p:spPr>
      </p:sp>
      <p:sp>
        <p:nvSpPr>
          <p:cNvPr id="25" name="Text 22"/>
          <p:cNvSpPr txBox="1"/>
          <p:nvPr/>
        </p:nvSpPr>
        <p:spPr>
          <a:xfrm>
            <a:off x="8065008" y="164592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DEMOD</a:t>
            </a:r>
            <a:endParaRPr lang="en-US" sz="1000" dirty="0"/>
          </a:p>
        </p:txBody>
      </p:sp>
      <p:sp>
        <p:nvSpPr>
          <p:cNvPr id="26" name="Shape 23"/>
          <p:cNvSpPr/>
          <p:nvPr/>
        </p:nvSpPr>
        <p:spPr>
          <a:xfrm flipH="1">
            <a:off x="8814816" y="1920240"/>
            <a:ext cx="182880" cy="0"/>
          </a:xfrm>
          <a:prstGeom prst="line">
            <a:avLst/>
          </a:prstGeom>
          <a:noFill/>
          <a:ln w="15875">
            <a:solidFill>
              <a:srgbClr val="1A1A1A"/>
            </a:solidFill>
            <a:prstDash val="solid"/>
            <a:tailEnd type="triangle"/>
          </a:ln>
        </p:spPr>
      </p:sp>
      <p:sp>
        <p:nvSpPr>
          <p:cNvPr id="27" name="Shape 24"/>
          <p:cNvSpPr/>
          <p:nvPr/>
        </p:nvSpPr>
        <p:spPr>
          <a:xfrm>
            <a:off x="8997696" y="1645920"/>
            <a:ext cx="749808" cy="548640"/>
          </a:xfrm>
          <a:prstGeom prst="rect">
            <a:avLst/>
          </a:prstGeom>
          <a:solidFill>
            <a:srgbClr val="FFFFFF"/>
          </a:solidFill>
          <a:ln w="12700">
            <a:solidFill>
              <a:srgbClr val="AEB6C2"/>
            </a:solidFill>
            <a:prstDash val="solid"/>
          </a:ln>
        </p:spPr>
      </p:sp>
      <p:sp>
        <p:nvSpPr>
          <p:cNvPr id="28" name="Text 25"/>
          <p:cNvSpPr txBox="1"/>
          <p:nvPr/>
        </p:nvSpPr>
        <p:spPr>
          <a:xfrm>
            <a:off x="8997696" y="164592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Mixer + LO</a:t>
            </a:r>
            <a:endParaRPr lang="en-US" sz="1000" dirty="0"/>
          </a:p>
        </p:txBody>
      </p:sp>
      <p:sp>
        <p:nvSpPr>
          <p:cNvPr id="29" name="Shape 26"/>
          <p:cNvSpPr/>
          <p:nvPr/>
        </p:nvSpPr>
        <p:spPr>
          <a:xfrm flipH="1">
            <a:off x="9747504" y="1920240"/>
            <a:ext cx="182880" cy="0"/>
          </a:xfrm>
          <a:prstGeom prst="line">
            <a:avLst/>
          </a:prstGeom>
          <a:noFill/>
          <a:ln w="15875">
            <a:solidFill>
              <a:srgbClr val="1A1A1A"/>
            </a:solidFill>
            <a:prstDash val="solid"/>
            <a:tailEnd type="triangle"/>
          </a:ln>
        </p:spPr>
      </p:sp>
      <p:sp>
        <p:nvSpPr>
          <p:cNvPr id="30" name="Shape 27"/>
          <p:cNvSpPr/>
          <p:nvPr/>
        </p:nvSpPr>
        <p:spPr>
          <a:xfrm>
            <a:off x="9930384" y="1645920"/>
            <a:ext cx="749808" cy="548640"/>
          </a:xfrm>
          <a:prstGeom prst="rect">
            <a:avLst/>
          </a:prstGeom>
          <a:solidFill>
            <a:srgbClr val="FFFFFF"/>
          </a:solidFill>
          <a:ln w="12700">
            <a:solidFill>
              <a:srgbClr val="AEB6C2"/>
            </a:solidFill>
            <a:prstDash val="solid"/>
          </a:ln>
        </p:spPr>
      </p:sp>
      <p:sp>
        <p:nvSpPr>
          <p:cNvPr id="31" name="Text 28"/>
          <p:cNvSpPr txBox="1"/>
          <p:nvPr/>
        </p:nvSpPr>
        <p:spPr>
          <a:xfrm>
            <a:off x="9930384" y="164592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LNA</a:t>
            </a:r>
            <a:endParaRPr lang="en-US" sz="1000" dirty="0"/>
          </a:p>
        </p:txBody>
      </p:sp>
      <p:sp>
        <p:nvSpPr>
          <p:cNvPr id="32" name="Shape 29"/>
          <p:cNvSpPr/>
          <p:nvPr/>
        </p:nvSpPr>
        <p:spPr>
          <a:xfrm>
            <a:off x="548640" y="2606040"/>
            <a:ext cx="11064240" cy="0"/>
          </a:xfrm>
          <a:prstGeom prst="line">
            <a:avLst/>
          </a:prstGeom>
          <a:noFill/>
          <a:ln w="9525">
            <a:solidFill>
              <a:srgbClr val="E3E7ED"/>
            </a:solidFill>
            <a:prstDash val="solid"/>
          </a:ln>
        </p:spPr>
      </p:sp>
      <p:sp>
        <p:nvSpPr>
          <p:cNvPr id="33" name="Text 30"/>
          <p:cNvSpPr txBox="1"/>
          <p:nvPr/>
        </p:nvSpPr>
        <p:spPr>
          <a:xfrm>
            <a:off x="548640" y="2971800"/>
            <a:ext cx="1645920" cy="5486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IFoF</a:t>
            </a:r>
            <a:endParaRPr lang="en-US" sz="1400" dirty="0"/>
          </a:p>
          <a:p>
            <a:pPr indent="0" marL="0">
              <a:buNone/>
            </a:pPr>
            <a:r>
              <a:rPr lang="en-US" sz="1000" dirty="0">
                <a:solidFill>
                  <a:srgbClr val="5F6670"/>
                </a:solidFill>
                <a:latin typeface="Calibri" pitchFamily="34" charset="0"/>
                <a:ea typeface="Calibri" pitchFamily="34" charset="-122"/>
                <a:cs typeface="Calibri" pitchFamily="34" charset="-120"/>
              </a:rPr>
              <a:t>On fiber: IF</a:t>
            </a:r>
            <a:endParaRPr lang="en-US" sz="1400" dirty="0"/>
          </a:p>
        </p:txBody>
      </p:sp>
      <p:sp>
        <p:nvSpPr>
          <p:cNvPr id="34" name="Shape 31"/>
          <p:cNvSpPr/>
          <p:nvPr/>
        </p:nvSpPr>
        <p:spPr>
          <a:xfrm>
            <a:off x="2377440" y="2971800"/>
            <a:ext cx="749808" cy="548640"/>
          </a:xfrm>
          <a:prstGeom prst="rect">
            <a:avLst/>
          </a:prstGeom>
          <a:solidFill>
            <a:srgbClr val="DCE6F2"/>
          </a:solidFill>
          <a:ln w="12700">
            <a:solidFill>
              <a:srgbClr val="AEB6C2"/>
            </a:solidFill>
            <a:prstDash val="solid"/>
          </a:ln>
        </p:spPr>
      </p:sp>
      <p:sp>
        <p:nvSpPr>
          <p:cNvPr id="35" name="Text 32"/>
          <p:cNvSpPr txBox="1"/>
          <p:nvPr/>
        </p:nvSpPr>
        <p:spPr>
          <a:xfrm>
            <a:off x="2377440" y="2971800"/>
            <a:ext cx="749808" cy="548640"/>
          </a:xfrm>
          <a:prstGeom prst="rect">
            <a:avLst/>
          </a:prstGeom>
          <a:noFill/>
          <a:ln/>
        </p:spPr>
        <p:txBody>
          <a:bodyPr wrap="square" lIns="38100" tIns="38100" rIns="38100" bIns="3810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PD</a:t>
            </a:r>
            <a:endParaRPr lang="en-US" sz="1000" dirty="0"/>
          </a:p>
        </p:txBody>
      </p:sp>
      <p:sp>
        <p:nvSpPr>
          <p:cNvPr id="36" name="Shape 33"/>
          <p:cNvSpPr/>
          <p:nvPr/>
        </p:nvSpPr>
        <p:spPr>
          <a:xfrm>
            <a:off x="3127248" y="3246120"/>
            <a:ext cx="182880" cy="0"/>
          </a:xfrm>
          <a:prstGeom prst="line">
            <a:avLst/>
          </a:prstGeom>
          <a:noFill/>
          <a:ln w="15875">
            <a:solidFill>
              <a:srgbClr val="1A1A1A"/>
            </a:solidFill>
            <a:prstDash val="solid"/>
            <a:tailEnd type="triangle"/>
          </a:ln>
        </p:spPr>
      </p:sp>
      <p:sp>
        <p:nvSpPr>
          <p:cNvPr id="37" name="Shape 34"/>
          <p:cNvSpPr/>
          <p:nvPr/>
        </p:nvSpPr>
        <p:spPr>
          <a:xfrm>
            <a:off x="3310128" y="2971800"/>
            <a:ext cx="749808" cy="548640"/>
          </a:xfrm>
          <a:prstGeom prst="rect">
            <a:avLst/>
          </a:prstGeom>
          <a:solidFill>
            <a:srgbClr val="FFFFFF"/>
          </a:solidFill>
          <a:ln w="12700">
            <a:solidFill>
              <a:srgbClr val="AEB6C2"/>
            </a:solidFill>
            <a:prstDash val="solid"/>
          </a:ln>
        </p:spPr>
      </p:sp>
      <p:sp>
        <p:nvSpPr>
          <p:cNvPr id="38" name="Text 35"/>
          <p:cNvSpPr txBox="1"/>
          <p:nvPr/>
        </p:nvSpPr>
        <p:spPr>
          <a:xfrm>
            <a:off x="3310128" y="297180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TIA</a:t>
            </a:r>
            <a:endParaRPr lang="en-US" sz="1000" dirty="0"/>
          </a:p>
        </p:txBody>
      </p:sp>
      <p:sp>
        <p:nvSpPr>
          <p:cNvPr id="39" name="Shape 36"/>
          <p:cNvSpPr/>
          <p:nvPr/>
        </p:nvSpPr>
        <p:spPr>
          <a:xfrm>
            <a:off x="4059936" y="3246120"/>
            <a:ext cx="182880" cy="0"/>
          </a:xfrm>
          <a:prstGeom prst="line">
            <a:avLst/>
          </a:prstGeom>
          <a:noFill/>
          <a:ln w="15875">
            <a:solidFill>
              <a:srgbClr val="1A1A1A"/>
            </a:solidFill>
            <a:prstDash val="solid"/>
            <a:tailEnd type="triangle"/>
          </a:ln>
        </p:spPr>
      </p:sp>
      <p:sp>
        <p:nvSpPr>
          <p:cNvPr id="40" name="Shape 37"/>
          <p:cNvSpPr/>
          <p:nvPr/>
        </p:nvSpPr>
        <p:spPr>
          <a:xfrm>
            <a:off x="4242816" y="2971800"/>
            <a:ext cx="749808" cy="548640"/>
          </a:xfrm>
          <a:prstGeom prst="rect">
            <a:avLst/>
          </a:prstGeom>
          <a:solidFill>
            <a:srgbClr val="FFFFFF"/>
          </a:solidFill>
          <a:ln w="12700">
            <a:solidFill>
              <a:srgbClr val="AEB6C2"/>
            </a:solidFill>
            <a:prstDash val="solid"/>
          </a:ln>
        </p:spPr>
      </p:sp>
      <p:sp>
        <p:nvSpPr>
          <p:cNvPr id="41" name="Text 38"/>
          <p:cNvSpPr txBox="1"/>
          <p:nvPr/>
        </p:nvSpPr>
        <p:spPr>
          <a:xfrm>
            <a:off x="4242816" y="297180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Mixer + LO</a:t>
            </a:r>
            <a:endParaRPr lang="en-US" sz="1000" dirty="0"/>
          </a:p>
        </p:txBody>
      </p:sp>
      <p:sp>
        <p:nvSpPr>
          <p:cNvPr id="42" name="Shape 39"/>
          <p:cNvSpPr/>
          <p:nvPr/>
        </p:nvSpPr>
        <p:spPr>
          <a:xfrm>
            <a:off x="4992624" y="3246120"/>
            <a:ext cx="182880" cy="0"/>
          </a:xfrm>
          <a:prstGeom prst="line">
            <a:avLst/>
          </a:prstGeom>
          <a:noFill/>
          <a:ln w="15875">
            <a:solidFill>
              <a:srgbClr val="1A1A1A"/>
            </a:solidFill>
            <a:prstDash val="solid"/>
            <a:tailEnd type="triangle"/>
          </a:ln>
        </p:spPr>
      </p:sp>
      <p:sp>
        <p:nvSpPr>
          <p:cNvPr id="43" name="Shape 40"/>
          <p:cNvSpPr/>
          <p:nvPr/>
        </p:nvSpPr>
        <p:spPr>
          <a:xfrm>
            <a:off x="5175504" y="2971800"/>
            <a:ext cx="749808" cy="548640"/>
          </a:xfrm>
          <a:prstGeom prst="rect">
            <a:avLst/>
          </a:prstGeom>
          <a:solidFill>
            <a:srgbClr val="FFFFFF"/>
          </a:solidFill>
          <a:ln w="12700">
            <a:solidFill>
              <a:srgbClr val="AEB6C2"/>
            </a:solidFill>
            <a:prstDash val="solid"/>
          </a:ln>
        </p:spPr>
      </p:sp>
      <p:sp>
        <p:nvSpPr>
          <p:cNvPr id="44" name="Text 41"/>
          <p:cNvSpPr txBox="1"/>
          <p:nvPr/>
        </p:nvSpPr>
        <p:spPr>
          <a:xfrm>
            <a:off x="5175504" y="297180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PA</a:t>
            </a:r>
            <a:endParaRPr lang="en-US" sz="1000" dirty="0"/>
          </a:p>
        </p:txBody>
      </p:sp>
      <p:sp>
        <p:nvSpPr>
          <p:cNvPr id="45" name="Shape 42"/>
          <p:cNvSpPr/>
          <p:nvPr/>
        </p:nvSpPr>
        <p:spPr>
          <a:xfrm>
            <a:off x="7132320" y="2971800"/>
            <a:ext cx="749808" cy="548640"/>
          </a:xfrm>
          <a:prstGeom prst="rect">
            <a:avLst/>
          </a:prstGeom>
          <a:solidFill>
            <a:srgbClr val="DCE6F2"/>
          </a:solidFill>
          <a:ln w="12700">
            <a:solidFill>
              <a:srgbClr val="AEB6C2"/>
            </a:solidFill>
            <a:prstDash val="solid"/>
          </a:ln>
        </p:spPr>
      </p:sp>
      <p:sp>
        <p:nvSpPr>
          <p:cNvPr id="46" name="Text 43"/>
          <p:cNvSpPr txBox="1"/>
          <p:nvPr/>
        </p:nvSpPr>
        <p:spPr>
          <a:xfrm>
            <a:off x="7132320" y="2971800"/>
            <a:ext cx="749808" cy="548640"/>
          </a:xfrm>
          <a:prstGeom prst="rect">
            <a:avLst/>
          </a:prstGeom>
          <a:noFill/>
          <a:ln/>
        </p:spPr>
        <p:txBody>
          <a:bodyPr wrap="square" lIns="38100" tIns="38100" rIns="38100" bIns="3810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LD</a:t>
            </a:r>
            <a:endParaRPr lang="en-US" sz="1000" dirty="0"/>
          </a:p>
        </p:txBody>
      </p:sp>
      <p:sp>
        <p:nvSpPr>
          <p:cNvPr id="47" name="Shape 44"/>
          <p:cNvSpPr/>
          <p:nvPr/>
        </p:nvSpPr>
        <p:spPr>
          <a:xfrm flipH="1">
            <a:off x="7882128" y="3246120"/>
            <a:ext cx="182880" cy="0"/>
          </a:xfrm>
          <a:prstGeom prst="line">
            <a:avLst/>
          </a:prstGeom>
          <a:noFill/>
          <a:ln w="15875">
            <a:solidFill>
              <a:srgbClr val="1A1A1A"/>
            </a:solidFill>
            <a:prstDash val="solid"/>
            <a:tailEnd type="triangle"/>
          </a:ln>
        </p:spPr>
      </p:sp>
      <p:sp>
        <p:nvSpPr>
          <p:cNvPr id="48" name="Shape 45"/>
          <p:cNvSpPr/>
          <p:nvPr/>
        </p:nvSpPr>
        <p:spPr>
          <a:xfrm>
            <a:off x="8065008" y="2971800"/>
            <a:ext cx="749808" cy="548640"/>
          </a:xfrm>
          <a:prstGeom prst="rect">
            <a:avLst/>
          </a:prstGeom>
          <a:solidFill>
            <a:srgbClr val="FFFFFF"/>
          </a:solidFill>
          <a:ln w="12700">
            <a:solidFill>
              <a:srgbClr val="AEB6C2"/>
            </a:solidFill>
            <a:prstDash val="solid"/>
          </a:ln>
        </p:spPr>
      </p:sp>
      <p:sp>
        <p:nvSpPr>
          <p:cNvPr id="49" name="Text 46"/>
          <p:cNvSpPr txBox="1"/>
          <p:nvPr/>
        </p:nvSpPr>
        <p:spPr>
          <a:xfrm>
            <a:off x="8065008" y="297180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Mixer + LO</a:t>
            </a:r>
            <a:endParaRPr lang="en-US" sz="1000" dirty="0"/>
          </a:p>
        </p:txBody>
      </p:sp>
      <p:sp>
        <p:nvSpPr>
          <p:cNvPr id="50" name="Shape 47"/>
          <p:cNvSpPr/>
          <p:nvPr/>
        </p:nvSpPr>
        <p:spPr>
          <a:xfrm flipH="1">
            <a:off x="8814816" y="3246120"/>
            <a:ext cx="182880" cy="0"/>
          </a:xfrm>
          <a:prstGeom prst="line">
            <a:avLst/>
          </a:prstGeom>
          <a:noFill/>
          <a:ln w="15875">
            <a:solidFill>
              <a:srgbClr val="1A1A1A"/>
            </a:solidFill>
            <a:prstDash val="solid"/>
            <a:tailEnd type="triangle"/>
          </a:ln>
        </p:spPr>
      </p:sp>
      <p:sp>
        <p:nvSpPr>
          <p:cNvPr id="51" name="Shape 48"/>
          <p:cNvSpPr/>
          <p:nvPr/>
        </p:nvSpPr>
        <p:spPr>
          <a:xfrm>
            <a:off x="8997696" y="2971800"/>
            <a:ext cx="749808" cy="548640"/>
          </a:xfrm>
          <a:prstGeom prst="rect">
            <a:avLst/>
          </a:prstGeom>
          <a:solidFill>
            <a:srgbClr val="FFFFFF"/>
          </a:solidFill>
          <a:ln w="12700">
            <a:solidFill>
              <a:srgbClr val="AEB6C2"/>
            </a:solidFill>
            <a:prstDash val="solid"/>
          </a:ln>
        </p:spPr>
      </p:sp>
      <p:sp>
        <p:nvSpPr>
          <p:cNvPr id="52" name="Text 49"/>
          <p:cNvSpPr txBox="1"/>
          <p:nvPr/>
        </p:nvSpPr>
        <p:spPr>
          <a:xfrm>
            <a:off x="8997696" y="297180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LNA</a:t>
            </a:r>
            <a:endParaRPr lang="en-US" sz="1000" dirty="0"/>
          </a:p>
        </p:txBody>
      </p:sp>
      <p:sp>
        <p:nvSpPr>
          <p:cNvPr id="53" name="Shape 50"/>
          <p:cNvSpPr/>
          <p:nvPr/>
        </p:nvSpPr>
        <p:spPr>
          <a:xfrm>
            <a:off x="548640" y="3931920"/>
            <a:ext cx="11064240" cy="0"/>
          </a:xfrm>
          <a:prstGeom prst="line">
            <a:avLst/>
          </a:prstGeom>
          <a:noFill/>
          <a:ln w="9525">
            <a:solidFill>
              <a:srgbClr val="E3E7ED"/>
            </a:solidFill>
            <a:prstDash val="solid"/>
          </a:ln>
        </p:spPr>
      </p:sp>
      <p:sp>
        <p:nvSpPr>
          <p:cNvPr id="54" name="Text 51"/>
          <p:cNvSpPr txBox="1"/>
          <p:nvPr/>
        </p:nvSpPr>
        <p:spPr>
          <a:xfrm>
            <a:off x="548640" y="4297680"/>
            <a:ext cx="1645920" cy="5486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RFoF</a:t>
            </a:r>
            <a:endParaRPr lang="en-US" sz="1400" dirty="0"/>
          </a:p>
          <a:p>
            <a:pPr indent="0" marL="0">
              <a:buNone/>
            </a:pPr>
            <a:r>
              <a:rPr lang="en-US" sz="1000" dirty="0">
                <a:solidFill>
                  <a:srgbClr val="5F6670"/>
                </a:solidFill>
                <a:latin typeface="Calibri" pitchFamily="34" charset="0"/>
                <a:ea typeface="Calibri" pitchFamily="34" charset="-122"/>
                <a:cs typeface="Calibri" pitchFamily="34" charset="-120"/>
              </a:rPr>
              <a:t>On fiber: RF</a:t>
            </a:r>
            <a:endParaRPr lang="en-US" sz="1400" dirty="0"/>
          </a:p>
        </p:txBody>
      </p:sp>
      <p:sp>
        <p:nvSpPr>
          <p:cNvPr id="55" name="Shape 52"/>
          <p:cNvSpPr/>
          <p:nvPr/>
        </p:nvSpPr>
        <p:spPr>
          <a:xfrm>
            <a:off x="2377440" y="4297680"/>
            <a:ext cx="749808" cy="548640"/>
          </a:xfrm>
          <a:prstGeom prst="rect">
            <a:avLst/>
          </a:prstGeom>
          <a:solidFill>
            <a:srgbClr val="DCE6F2"/>
          </a:solidFill>
          <a:ln w="12700">
            <a:solidFill>
              <a:srgbClr val="AEB6C2"/>
            </a:solidFill>
            <a:prstDash val="solid"/>
          </a:ln>
        </p:spPr>
      </p:sp>
      <p:sp>
        <p:nvSpPr>
          <p:cNvPr id="56" name="Text 53"/>
          <p:cNvSpPr txBox="1"/>
          <p:nvPr/>
        </p:nvSpPr>
        <p:spPr>
          <a:xfrm>
            <a:off x="2377440" y="4297680"/>
            <a:ext cx="749808" cy="548640"/>
          </a:xfrm>
          <a:prstGeom prst="rect">
            <a:avLst/>
          </a:prstGeom>
          <a:noFill/>
          <a:ln/>
        </p:spPr>
        <p:txBody>
          <a:bodyPr wrap="square" lIns="38100" tIns="38100" rIns="38100" bIns="3810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PD</a:t>
            </a:r>
            <a:endParaRPr lang="en-US" sz="1000" dirty="0"/>
          </a:p>
        </p:txBody>
      </p:sp>
      <p:sp>
        <p:nvSpPr>
          <p:cNvPr id="57" name="Shape 54"/>
          <p:cNvSpPr/>
          <p:nvPr/>
        </p:nvSpPr>
        <p:spPr>
          <a:xfrm>
            <a:off x="3127248" y="4572000"/>
            <a:ext cx="182880" cy="0"/>
          </a:xfrm>
          <a:prstGeom prst="line">
            <a:avLst/>
          </a:prstGeom>
          <a:noFill/>
          <a:ln w="15875">
            <a:solidFill>
              <a:srgbClr val="1A1A1A"/>
            </a:solidFill>
            <a:prstDash val="solid"/>
            <a:tailEnd type="triangle"/>
          </a:ln>
        </p:spPr>
      </p:sp>
      <p:sp>
        <p:nvSpPr>
          <p:cNvPr id="58" name="Shape 55"/>
          <p:cNvSpPr/>
          <p:nvPr/>
        </p:nvSpPr>
        <p:spPr>
          <a:xfrm>
            <a:off x="3310128" y="4297680"/>
            <a:ext cx="749808" cy="548640"/>
          </a:xfrm>
          <a:prstGeom prst="rect">
            <a:avLst/>
          </a:prstGeom>
          <a:solidFill>
            <a:srgbClr val="FFFFFF"/>
          </a:solidFill>
          <a:ln w="12700">
            <a:solidFill>
              <a:srgbClr val="AEB6C2"/>
            </a:solidFill>
            <a:prstDash val="solid"/>
          </a:ln>
        </p:spPr>
      </p:sp>
      <p:sp>
        <p:nvSpPr>
          <p:cNvPr id="59" name="Text 56"/>
          <p:cNvSpPr txBox="1"/>
          <p:nvPr/>
        </p:nvSpPr>
        <p:spPr>
          <a:xfrm>
            <a:off x="3310128" y="429768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TIA</a:t>
            </a:r>
            <a:endParaRPr lang="en-US" sz="1000" dirty="0"/>
          </a:p>
        </p:txBody>
      </p:sp>
      <p:sp>
        <p:nvSpPr>
          <p:cNvPr id="60" name="Shape 57"/>
          <p:cNvSpPr/>
          <p:nvPr/>
        </p:nvSpPr>
        <p:spPr>
          <a:xfrm>
            <a:off x="4059936" y="4572000"/>
            <a:ext cx="182880" cy="0"/>
          </a:xfrm>
          <a:prstGeom prst="line">
            <a:avLst/>
          </a:prstGeom>
          <a:noFill/>
          <a:ln w="15875">
            <a:solidFill>
              <a:srgbClr val="1A1A1A"/>
            </a:solidFill>
            <a:prstDash val="solid"/>
            <a:tailEnd type="triangle"/>
          </a:ln>
        </p:spPr>
      </p:sp>
      <p:sp>
        <p:nvSpPr>
          <p:cNvPr id="61" name="Shape 58"/>
          <p:cNvSpPr/>
          <p:nvPr/>
        </p:nvSpPr>
        <p:spPr>
          <a:xfrm>
            <a:off x="4242816" y="4297680"/>
            <a:ext cx="749808" cy="548640"/>
          </a:xfrm>
          <a:prstGeom prst="rect">
            <a:avLst/>
          </a:prstGeom>
          <a:solidFill>
            <a:srgbClr val="FFFFFF"/>
          </a:solidFill>
          <a:ln w="12700">
            <a:solidFill>
              <a:srgbClr val="AEB6C2"/>
            </a:solidFill>
            <a:prstDash val="solid"/>
          </a:ln>
        </p:spPr>
      </p:sp>
      <p:sp>
        <p:nvSpPr>
          <p:cNvPr id="62" name="Text 59"/>
          <p:cNvSpPr txBox="1"/>
          <p:nvPr/>
        </p:nvSpPr>
        <p:spPr>
          <a:xfrm>
            <a:off x="4242816" y="429768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PA</a:t>
            </a:r>
            <a:endParaRPr lang="en-US" sz="1000" dirty="0"/>
          </a:p>
        </p:txBody>
      </p:sp>
      <p:sp>
        <p:nvSpPr>
          <p:cNvPr id="63" name="Shape 60"/>
          <p:cNvSpPr/>
          <p:nvPr/>
        </p:nvSpPr>
        <p:spPr>
          <a:xfrm>
            <a:off x="7132320" y="4297680"/>
            <a:ext cx="749808" cy="548640"/>
          </a:xfrm>
          <a:prstGeom prst="rect">
            <a:avLst/>
          </a:prstGeom>
          <a:solidFill>
            <a:srgbClr val="DCE6F2"/>
          </a:solidFill>
          <a:ln w="12700">
            <a:solidFill>
              <a:srgbClr val="AEB6C2"/>
            </a:solidFill>
            <a:prstDash val="solid"/>
          </a:ln>
        </p:spPr>
      </p:sp>
      <p:sp>
        <p:nvSpPr>
          <p:cNvPr id="64" name="Text 61"/>
          <p:cNvSpPr txBox="1"/>
          <p:nvPr/>
        </p:nvSpPr>
        <p:spPr>
          <a:xfrm>
            <a:off x="7132320" y="4297680"/>
            <a:ext cx="749808" cy="548640"/>
          </a:xfrm>
          <a:prstGeom prst="rect">
            <a:avLst/>
          </a:prstGeom>
          <a:noFill/>
          <a:ln/>
        </p:spPr>
        <p:txBody>
          <a:bodyPr wrap="square" lIns="38100" tIns="38100" rIns="38100" bIns="3810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LD</a:t>
            </a:r>
            <a:endParaRPr lang="en-US" sz="1000" dirty="0"/>
          </a:p>
        </p:txBody>
      </p:sp>
      <p:sp>
        <p:nvSpPr>
          <p:cNvPr id="65" name="Shape 62"/>
          <p:cNvSpPr/>
          <p:nvPr/>
        </p:nvSpPr>
        <p:spPr>
          <a:xfrm flipH="1">
            <a:off x="7882128" y="4572000"/>
            <a:ext cx="182880" cy="0"/>
          </a:xfrm>
          <a:prstGeom prst="line">
            <a:avLst/>
          </a:prstGeom>
          <a:noFill/>
          <a:ln w="15875">
            <a:solidFill>
              <a:srgbClr val="1A1A1A"/>
            </a:solidFill>
            <a:prstDash val="solid"/>
            <a:tailEnd type="triangle"/>
          </a:ln>
        </p:spPr>
      </p:sp>
      <p:sp>
        <p:nvSpPr>
          <p:cNvPr id="66" name="Shape 63"/>
          <p:cNvSpPr/>
          <p:nvPr/>
        </p:nvSpPr>
        <p:spPr>
          <a:xfrm>
            <a:off x="8065008" y="4297680"/>
            <a:ext cx="749808" cy="548640"/>
          </a:xfrm>
          <a:prstGeom prst="rect">
            <a:avLst/>
          </a:prstGeom>
          <a:solidFill>
            <a:srgbClr val="FFFFFF"/>
          </a:solidFill>
          <a:ln w="12700">
            <a:solidFill>
              <a:srgbClr val="AEB6C2"/>
            </a:solidFill>
            <a:prstDash val="solid"/>
          </a:ln>
        </p:spPr>
      </p:sp>
      <p:sp>
        <p:nvSpPr>
          <p:cNvPr id="67" name="Text 64"/>
          <p:cNvSpPr txBox="1"/>
          <p:nvPr/>
        </p:nvSpPr>
        <p:spPr>
          <a:xfrm>
            <a:off x="8065008" y="4297680"/>
            <a:ext cx="749808" cy="54864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LNA</a:t>
            </a:r>
            <a:endParaRPr lang="en-US" sz="1000" dirty="0"/>
          </a:p>
        </p:txBody>
      </p:sp>
      <p:sp>
        <p:nvSpPr>
          <p:cNvPr id="68" name="Text 65"/>
          <p:cNvSpPr txBox="1"/>
          <p:nvPr/>
        </p:nvSpPr>
        <p:spPr>
          <a:xfrm>
            <a:off x="548640" y="5486400"/>
            <a:ext cx="11064240" cy="411480"/>
          </a:xfrm>
          <a:prstGeom prst="rect">
            <a:avLst/>
          </a:prstGeom>
          <a:noFill/>
          <a:ln/>
        </p:spPr>
        <p:txBody>
          <a:bodyPr wrap="square" lIns="0" tIns="0" rIns="0" bIns="0" rtlCol="0" anchor="t"/>
          <a:lstStyle/>
          <a:p>
            <a:pPr indent="0" marL="0">
              <a:buNone/>
            </a:pPr>
            <a:r>
              <a:rPr lang="en-US" sz="1100" dirty="0">
                <a:solidFill>
                  <a:srgbClr val="5F6670"/>
                </a:solidFill>
                <a:latin typeface="Calibri" pitchFamily="34" charset="0"/>
                <a:ea typeface="Calibri" pitchFamily="34" charset="-122"/>
                <a:cs typeface="Calibri" pitchFamily="34" charset="-120"/>
              </a:rPr>
              <a:t>PD: photodiode · TIA: transimpedance amplifier · MOD / DEMOD: modulator / demodulator · LO: local oscillator · PA: power amplifier · LNA: low-noise amplifier · LD: laser diode. Shaded blocks are O/E (downlink) and E/O (uplink).</a:t>
            </a:r>
            <a:endParaRPr lang="en-US" sz="1100" dirty="0"/>
          </a:p>
        </p:txBody>
      </p:sp>
      <p:sp>
        <p:nvSpPr>
          <p:cNvPr id="69" name="Text 66"/>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Redrawn from: "Radio over Fiber: An Alternative Broadband Network Technology for IoT," Electronics 9(11), 1785 (2020), Fig. 3. DOI: 10.3390/electronics9111785.</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A4 Measured BER versus carrier-to-sideband ratio (one experimental link)</a:t>
            </a:r>
            <a:endParaRPr lang="en-US" sz="2800" dirty="0"/>
          </a:p>
        </p:txBody>
      </p:sp>
      <p:graphicFrame>
        <p:nvGraphicFramePr>
          <p:cNvPr id="4" name="Chart 0" descr=""/>
          <p:cNvGraphicFramePr/>
          <p:nvPr/>
        </p:nvGraphicFramePr>
        <p:xfrm>
          <a:off x="548640" y="123444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7589520" y="1371600"/>
            <a:ext cx="4023360" cy="4206240"/>
          </a:xfrm>
          <a:prstGeom prst="rect">
            <a:avLst/>
          </a:prstGeom>
          <a:noFill/>
          <a:ln/>
        </p:spPr>
        <p:txBody>
          <a:bodyPr wrap="square" lIns="0" tIns="0" rIns="0" bIns="0" rtlCol="0" anchor="t"/>
          <a:lstStyle/>
          <a:p>
            <a:pPr marL="342900" indent="-342900">
              <a:spcAft>
                <a:spcPts val="800"/>
              </a:spcAft>
              <a:buSzPct val="100000"/>
              <a:buChar char="•"/>
            </a:pPr>
            <a:r>
              <a:rPr lang="en-US" sz="1300" b="1" dirty="0">
                <a:solidFill>
                  <a:srgbClr val="1A1A1A"/>
                </a:solidFill>
                <a:latin typeface="Calibri" pitchFamily="34" charset="0"/>
                <a:ea typeface="Calibri" pitchFamily="34" charset="-122"/>
                <a:cs typeface="Calibri" pitchFamily="34" charset="-120"/>
              </a:rPr>
              <a:t>Setup: </a:t>
            </a:r>
            <a:pPr indent="0" marL="0">
              <a:buNone/>
            </a:pPr>
            <a:r>
              <a:rPr lang="en-US" sz="1300" dirty="0">
                <a:solidFill>
                  <a:srgbClr val="1A1A1A"/>
                </a:solidFill>
                <a:latin typeface="Calibri" pitchFamily="34" charset="0"/>
                <a:ea typeface="Calibri" pitchFamily="34" charset="-122"/>
                <a:cs typeface="Calibri" pitchFamily="34" charset="-120"/>
              </a:rPr>
              <a:t>10 km SMF plus 3 m wireless link (as reported).</a:t>
            </a:r>
            <a:endParaRPr lang="en-US" sz="1300" dirty="0"/>
          </a:p>
          <a:p>
            <a:pPr marL="342900" indent="-342900">
              <a:spcAft>
                <a:spcPts val="800"/>
              </a:spcAft>
              <a:buSzPct val="100000"/>
              <a:buChar char="•"/>
            </a:pPr>
            <a:r>
              <a:rPr lang="en-US" sz="1300" b="1" dirty="0">
                <a:solidFill>
                  <a:srgbClr val="1A1A1A"/>
                </a:solidFill>
                <a:latin typeface="Calibri" pitchFamily="34" charset="0"/>
                <a:ea typeface="Calibri" pitchFamily="34" charset="-122"/>
                <a:cs typeface="Calibri" pitchFamily="34" charset="-120"/>
              </a:rPr>
              <a:t>Trend: </a:t>
            </a:r>
            <a:pPr indent="0" marL="0">
              <a:buNone/>
            </a:pPr>
            <a:r>
              <a:rPr lang="en-US" sz="1300" dirty="0">
                <a:solidFill>
                  <a:srgbClr val="1A1A1A"/>
                </a:solidFill>
                <a:latin typeface="Calibri" pitchFamily="34" charset="0"/>
                <a:ea typeface="Calibri" pitchFamily="34" charset="-122"/>
                <a:cs typeface="Calibri" pitchFamily="34" charset="-120"/>
              </a:rPr>
              <a:t>BER improves up to CSR ≈ 25 dB, then degrades at 30 dB.</a:t>
            </a:r>
            <a:endParaRPr lang="en-US" sz="1300" dirty="0"/>
          </a:p>
          <a:p>
            <a:pPr marL="342900" indent="-342900">
              <a:spcAft>
                <a:spcPts val="800"/>
              </a:spcAft>
              <a:buSzPct val="100000"/>
              <a:buChar char="•"/>
            </a:pPr>
            <a:r>
              <a:rPr lang="en-US" sz="1300" b="1" dirty="0">
                <a:solidFill>
                  <a:srgbClr val="1A1A1A"/>
                </a:solidFill>
                <a:latin typeface="Calibri" pitchFamily="34" charset="0"/>
                <a:ea typeface="Calibri" pitchFamily="34" charset="-122"/>
                <a:cs typeface="Calibri" pitchFamily="34" charset="-120"/>
              </a:rPr>
              <a:t>Mechanism: </a:t>
            </a:r>
            <a:pPr indent="0" marL="0">
              <a:buNone/>
            </a:pPr>
            <a:r>
              <a:rPr lang="en-US" sz="1300" dirty="0">
                <a:solidFill>
                  <a:srgbClr val="1A1A1A"/>
                </a:solidFill>
                <a:latin typeface="Calibri" pitchFamily="34" charset="0"/>
                <a:ea typeface="Calibri" pitchFamily="34" charset="-122"/>
                <a:cs typeface="Calibri" pitchFamily="34" charset="-120"/>
              </a:rPr>
              <a:t>distortion dominates at low CSR; noise dominates at high CSR.</a:t>
            </a:r>
            <a:endParaRPr lang="en-US" sz="1300" dirty="0"/>
          </a:p>
          <a:p>
            <a:pPr marL="342900" indent="-342900">
              <a:spcAft>
                <a:spcPts val="800"/>
              </a:spcAft>
              <a:buSzPct val="100000"/>
              <a:buChar char="•"/>
            </a:pPr>
            <a:r>
              <a:rPr lang="en-US" sz="1300" b="1" dirty="0">
                <a:solidFill>
                  <a:srgbClr val="1A1A1A"/>
                </a:solidFill>
                <a:latin typeface="Calibri" pitchFamily="34" charset="0"/>
                <a:ea typeface="Calibri" pitchFamily="34" charset="-122"/>
                <a:cs typeface="Calibri" pitchFamily="34" charset="-120"/>
              </a:rPr>
              <a:t>Limit: </a:t>
            </a:r>
            <a:pPr indent="0" marL="0">
              <a:buNone/>
            </a:pPr>
            <a:r>
              <a:rPr lang="en-US" sz="1300" dirty="0">
                <a:solidFill>
                  <a:srgbClr val="1A1A1A"/>
                </a:solidFill>
                <a:latin typeface="Calibri" pitchFamily="34" charset="0"/>
                <a:ea typeface="Calibri" pitchFamily="34" charset="-122"/>
                <a:cs typeface="Calibri" pitchFamily="34" charset="-120"/>
              </a:rPr>
              <a:t>result applies to the tested link only.</a:t>
            </a:r>
            <a:endParaRPr lang="en-US" sz="1300" dirty="0"/>
          </a:p>
          <a:p>
            <a:pPr marL="342900" indent="-342900">
              <a:spcAft>
                <a:spcPts val="800"/>
              </a:spcAft>
              <a:buSzPct val="100000"/>
              <a:buChar char="•"/>
            </a:pPr>
            <a:r>
              <a:rPr lang="en-US" sz="1300" b="1" dirty="0">
                <a:solidFill>
                  <a:srgbClr val="1A1A1A"/>
                </a:solidFill>
                <a:latin typeface="Calibri" pitchFamily="34" charset="0"/>
                <a:ea typeface="Calibri" pitchFamily="34" charset="-122"/>
                <a:cs typeface="Calibri" pitchFamily="34" charset="-120"/>
              </a:rPr>
              <a:t>Status: </a:t>
            </a:r>
            <a:pPr indent="0" marL="0">
              <a:buNone/>
            </a:pPr>
            <a:r>
              <a:rPr lang="en-US" sz="1300" dirty="0">
                <a:solidFill>
                  <a:srgbClr val="1A1A1A"/>
                </a:solidFill>
                <a:latin typeface="Calibri" pitchFamily="34" charset="0"/>
                <a:ea typeface="Calibri" pitchFamily="34" charset="-122"/>
                <a:cs typeface="Calibri" pitchFamily="34" charset="-120"/>
              </a:rPr>
              <a:t>values read from the published plot; verification required.</a:t>
            </a:r>
            <a:endParaRPr lang="en-US" sz="1300" dirty="0"/>
          </a:p>
        </p:txBody>
      </p:sp>
      <p:sp>
        <p:nvSpPr>
          <p:cNvPr id="6" name="Text 2"/>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Redrawn from: M. U. Hadi and G. Murtaza, "Fibre Wireless Distributed Antenna Systems for 5G and 6G Services," Electronics 12(1), 64 (2023), Fig. 6. DOI: 10.3390/electronics12010064.</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A5 Research demonstration: 5G-NR and a candidate 6G signal on one fiber</a:t>
            </a:r>
            <a:endParaRPr lang="en-US" sz="2800" dirty="0"/>
          </a:p>
        </p:txBody>
      </p:sp>
      <p:sp>
        <p:nvSpPr>
          <p:cNvPr id="4" name="Shape 1"/>
          <p:cNvSpPr/>
          <p:nvPr/>
        </p:nvSpPr>
        <p:spPr>
          <a:xfrm>
            <a:off x="548640" y="1554480"/>
            <a:ext cx="1737360" cy="731520"/>
          </a:xfrm>
          <a:prstGeom prst="rect">
            <a:avLst/>
          </a:prstGeom>
          <a:solidFill>
            <a:srgbClr val="FFFFFF"/>
          </a:solidFill>
          <a:ln w="12700">
            <a:solidFill>
              <a:srgbClr val="AEB6C2"/>
            </a:solidFill>
            <a:prstDash val="solid"/>
          </a:ln>
        </p:spPr>
      </p:sp>
      <p:sp>
        <p:nvSpPr>
          <p:cNvPr id="5" name="Text 2"/>
          <p:cNvSpPr txBox="1"/>
          <p:nvPr/>
        </p:nvSpPr>
        <p:spPr>
          <a:xfrm>
            <a:off x="548640" y="1554480"/>
            <a:ext cx="1737360"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5G-NR: 5 × 50 MHz at IF1 = 1.14 GHz</a:t>
            </a:r>
            <a:endParaRPr lang="en-US" sz="1100" dirty="0"/>
          </a:p>
        </p:txBody>
      </p:sp>
      <p:sp>
        <p:nvSpPr>
          <p:cNvPr id="6" name="Shape 3"/>
          <p:cNvSpPr/>
          <p:nvPr/>
        </p:nvSpPr>
        <p:spPr>
          <a:xfrm>
            <a:off x="548640" y="2651760"/>
            <a:ext cx="1737360" cy="731520"/>
          </a:xfrm>
          <a:prstGeom prst="rect">
            <a:avLst/>
          </a:prstGeom>
          <a:solidFill>
            <a:srgbClr val="FFFFFF"/>
          </a:solidFill>
          <a:ln w="12700">
            <a:solidFill>
              <a:srgbClr val="AEB6C2"/>
            </a:solidFill>
            <a:prstDash val="solid"/>
          </a:ln>
        </p:spPr>
      </p:sp>
      <p:sp>
        <p:nvSpPr>
          <p:cNvPr id="7" name="Text 4"/>
          <p:cNvSpPr txBox="1"/>
          <p:nvPr/>
        </p:nvSpPr>
        <p:spPr>
          <a:xfrm>
            <a:off x="548640" y="2651760"/>
            <a:ext cx="1737360"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Candidate 6G at IF2 = 12 GHz</a:t>
            </a:r>
            <a:endParaRPr lang="en-US" sz="1100" dirty="0"/>
          </a:p>
        </p:txBody>
      </p:sp>
      <p:sp>
        <p:nvSpPr>
          <p:cNvPr id="8" name="Shape 5"/>
          <p:cNvSpPr/>
          <p:nvPr/>
        </p:nvSpPr>
        <p:spPr>
          <a:xfrm>
            <a:off x="2286000" y="1920240"/>
            <a:ext cx="365760" cy="411480"/>
          </a:xfrm>
          <a:prstGeom prst="line">
            <a:avLst/>
          </a:prstGeom>
          <a:noFill/>
          <a:ln w="15875">
            <a:solidFill>
              <a:srgbClr val="1A1A1A"/>
            </a:solidFill>
            <a:prstDash val="solid"/>
            <a:tailEnd type="triangle"/>
          </a:ln>
        </p:spPr>
      </p:sp>
      <p:sp>
        <p:nvSpPr>
          <p:cNvPr id="9" name="Shape 6"/>
          <p:cNvSpPr/>
          <p:nvPr/>
        </p:nvSpPr>
        <p:spPr>
          <a:xfrm flipV="1">
            <a:off x="2286000" y="2514600"/>
            <a:ext cx="365760" cy="502920"/>
          </a:xfrm>
          <a:prstGeom prst="line">
            <a:avLst/>
          </a:prstGeom>
          <a:noFill/>
          <a:ln w="15875">
            <a:solidFill>
              <a:srgbClr val="1A1A1A"/>
            </a:solidFill>
            <a:prstDash val="solid"/>
            <a:tailEnd type="triangle"/>
          </a:ln>
        </p:spPr>
      </p:sp>
      <p:sp>
        <p:nvSpPr>
          <p:cNvPr id="10" name="Shape 7"/>
          <p:cNvSpPr/>
          <p:nvPr/>
        </p:nvSpPr>
        <p:spPr>
          <a:xfrm>
            <a:off x="2651760" y="2057400"/>
            <a:ext cx="1097280" cy="731520"/>
          </a:xfrm>
          <a:prstGeom prst="rect">
            <a:avLst/>
          </a:prstGeom>
          <a:solidFill>
            <a:srgbClr val="DCE6F2"/>
          </a:solidFill>
          <a:ln w="12700">
            <a:solidFill>
              <a:srgbClr val="AEB6C2"/>
            </a:solidFill>
            <a:prstDash val="solid"/>
          </a:ln>
        </p:spPr>
      </p:sp>
      <p:sp>
        <p:nvSpPr>
          <p:cNvPr id="11" name="Text 8"/>
          <p:cNvSpPr txBox="1"/>
          <p:nvPr/>
        </p:nvSpPr>
        <p:spPr>
          <a:xfrm>
            <a:off x="2651760" y="2057400"/>
            <a:ext cx="1097280" cy="731520"/>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Tx (E/O)</a:t>
            </a:r>
            <a:endParaRPr lang="en-US" sz="1100" dirty="0"/>
          </a:p>
        </p:txBody>
      </p:sp>
      <p:sp>
        <p:nvSpPr>
          <p:cNvPr id="12" name="Shape 9"/>
          <p:cNvSpPr/>
          <p:nvPr/>
        </p:nvSpPr>
        <p:spPr>
          <a:xfrm>
            <a:off x="3749040" y="2423160"/>
            <a:ext cx="1188720" cy="0"/>
          </a:xfrm>
          <a:prstGeom prst="line">
            <a:avLst/>
          </a:prstGeom>
          <a:noFill/>
          <a:ln w="38100">
            <a:solidFill>
              <a:srgbClr val="1F3A5F"/>
            </a:solidFill>
            <a:prstDash val="solid"/>
            <a:tailEnd type="triangle"/>
          </a:ln>
        </p:spPr>
      </p:sp>
      <p:sp>
        <p:nvSpPr>
          <p:cNvPr id="13" name="Text 10"/>
          <p:cNvSpPr txBox="1"/>
          <p:nvPr/>
        </p:nvSpPr>
        <p:spPr>
          <a:xfrm>
            <a:off x="3749040" y="2130552"/>
            <a:ext cx="1188720" cy="246888"/>
          </a:xfrm>
          <a:prstGeom prst="rect">
            <a:avLst/>
          </a:prstGeom>
          <a:noFill/>
          <a:ln/>
        </p:spPr>
        <p:txBody>
          <a:bodyPr wrap="square" lIns="0" tIns="0" rIns="0" bIns="0" rtlCol="0" anchor="b"/>
          <a:lstStyle/>
          <a:p>
            <a:pPr algn="ctr" indent="0" marL="0">
              <a:buNone/>
            </a:pPr>
            <a:r>
              <a:rPr lang="en-US" sz="1000" i="1" dirty="0">
                <a:solidFill>
                  <a:srgbClr val="1F3A5F"/>
                </a:solidFill>
                <a:latin typeface="Calibri" pitchFamily="34" charset="0"/>
                <a:ea typeface="Calibri" pitchFamily="34" charset="-122"/>
                <a:cs typeface="Calibri" pitchFamily="34" charset="-120"/>
              </a:rPr>
              <a:t>fiber</a:t>
            </a:r>
            <a:endParaRPr lang="en-US" sz="1000" dirty="0"/>
          </a:p>
        </p:txBody>
      </p:sp>
      <p:sp>
        <p:nvSpPr>
          <p:cNvPr id="14" name="Shape 11"/>
          <p:cNvSpPr/>
          <p:nvPr/>
        </p:nvSpPr>
        <p:spPr>
          <a:xfrm>
            <a:off x="4937760" y="2057400"/>
            <a:ext cx="1188720" cy="731520"/>
          </a:xfrm>
          <a:prstGeom prst="rect">
            <a:avLst/>
          </a:prstGeom>
          <a:solidFill>
            <a:srgbClr val="FFFFFF"/>
          </a:solidFill>
          <a:ln w="12700">
            <a:solidFill>
              <a:srgbClr val="AEB6C2"/>
            </a:solidFill>
            <a:prstDash val="solid"/>
          </a:ln>
        </p:spPr>
      </p:sp>
      <p:sp>
        <p:nvSpPr>
          <p:cNvPr id="15" name="Text 12"/>
          <p:cNvSpPr txBox="1"/>
          <p:nvPr/>
        </p:nvSpPr>
        <p:spPr>
          <a:xfrm>
            <a:off x="4937760" y="2057400"/>
            <a:ext cx="1188720" cy="73152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Optical coupler</a:t>
            </a:r>
            <a:endParaRPr lang="en-US" sz="1100" dirty="0"/>
          </a:p>
        </p:txBody>
      </p:sp>
      <p:sp>
        <p:nvSpPr>
          <p:cNvPr id="16" name="Shape 13"/>
          <p:cNvSpPr/>
          <p:nvPr/>
        </p:nvSpPr>
        <p:spPr>
          <a:xfrm flipV="1">
            <a:off x="6126480" y="1645920"/>
            <a:ext cx="548640" cy="594360"/>
          </a:xfrm>
          <a:prstGeom prst="line">
            <a:avLst/>
          </a:prstGeom>
          <a:noFill/>
          <a:ln w="38100">
            <a:solidFill>
              <a:srgbClr val="1F3A5F"/>
            </a:solidFill>
            <a:prstDash val="solid"/>
            <a:tailEnd type="triangle"/>
          </a:ln>
        </p:spPr>
      </p:sp>
      <p:sp>
        <p:nvSpPr>
          <p:cNvPr id="17" name="Shape 14"/>
          <p:cNvSpPr/>
          <p:nvPr/>
        </p:nvSpPr>
        <p:spPr>
          <a:xfrm>
            <a:off x="6675120" y="1325880"/>
            <a:ext cx="1280160" cy="640080"/>
          </a:xfrm>
          <a:prstGeom prst="rect">
            <a:avLst/>
          </a:prstGeom>
          <a:solidFill>
            <a:srgbClr val="DCE6F2"/>
          </a:solidFill>
          <a:ln w="12700">
            <a:solidFill>
              <a:srgbClr val="AEB6C2"/>
            </a:solidFill>
            <a:prstDash val="solid"/>
          </a:ln>
        </p:spPr>
      </p:sp>
      <p:sp>
        <p:nvSpPr>
          <p:cNvPr id="18" name="Text 15"/>
          <p:cNvSpPr txBox="1"/>
          <p:nvPr/>
        </p:nvSpPr>
        <p:spPr>
          <a:xfrm>
            <a:off x="6675120" y="1325880"/>
            <a:ext cx="1280160" cy="640080"/>
          </a:xfrm>
          <a:prstGeom prst="rect">
            <a:avLst/>
          </a:prstGeom>
          <a:noFill/>
          <a:ln/>
        </p:spPr>
        <p:txBody>
          <a:bodyPr wrap="square" lIns="38100" tIns="38100" rIns="38100" bIns="3810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PIN photodiode (O/E)</a:t>
            </a:r>
            <a:endParaRPr lang="en-US" sz="1000" dirty="0"/>
          </a:p>
        </p:txBody>
      </p:sp>
      <p:sp>
        <p:nvSpPr>
          <p:cNvPr id="19" name="Shape 16"/>
          <p:cNvSpPr/>
          <p:nvPr/>
        </p:nvSpPr>
        <p:spPr>
          <a:xfrm>
            <a:off x="7955280" y="1645920"/>
            <a:ext cx="365760" cy="0"/>
          </a:xfrm>
          <a:prstGeom prst="line">
            <a:avLst/>
          </a:prstGeom>
          <a:noFill/>
          <a:ln w="15875">
            <a:solidFill>
              <a:srgbClr val="1A1A1A"/>
            </a:solidFill>
            <a:prstDash val="solid"/>
            <a:tailEnd type="triangle"/>
          </a:ln>
        </p:spPr>
      </p:sp>
      <p:sp>
        <p:nvSpPr>
          <p:cNvPr id="20" name="Shape 17"/>
          <p:cNvSpPr/>
          <p:nvPr/>
        </p:nvSpPr>
        <p:spPr>
          <a:xfrm>
            <a:off x="8321040" y="1325880"/>
            <a:ext cx="822960" cy="640080"/>
          </a:xfrm>
          <a:prstGeom prst="rect">
            <a:avLst/>
          </a:prstGeom>
          <a:solidFill>
            <a:srgbClr val="FFFFFF"/>
          </a:solidFill>
          <a:ln w="12700">
            <a:solidFill>
              <a:srgbClr val="AEB6C2"/>
            </a:solidFill>
            <a:prstDash val="solid"/>
          </a:ln>
        </p:spPr>
      </p:sp>
      <p:sp>
        <p:nvSpPr>
          <p:cNvPr id="21" name="Text 18"/>
          <p:cNvSpPr txBox="1"/>
          <p:nvPr/>
        </p:nvSpPr>
        <p:spPr>
          <a:xfrm>
            <a:off x="8321040" y="1325880"/>
            <a:ext cx="822960" cy="6400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LPF</a:t>
            </a:r>
            <a:endParaRPr lang="en-US" sz="1100" dirty="0"/>
          </a:p>
        </p:txBody>
      </p:sp>
      <p:sp>
        <p:nvSpPr>
          <p:cNvPr id="22" name="Shape 19"/>
          <p:cNvSpPr/>
          <p:nvPr/>
        </p:nvSpPr>
        <p:spPr>
          <a:xfrm>
            <a:off x="9144000" y="1645920"/>
            <a:ext cx="365760" cy="0"/>
          </a:xfrm>
          <a:prstGeom prst="line">
            <a:avLst/>
          </a:prstGeom>
          <a:noFill/>
          <a:ln w="15875">
            <a:solidFill>
              <a:srgbClr val="1A1A1A"/>
            </a:solidFill>
            <a:prstDash val="solid"/>
            <a:tailEnd type="triangle"/>
          </a:ln>
        </p:spPr>
      </p:sp>
      <p:sp>
        <p:nvSpPr>
          <p:cNvPr id="23" name="Shape 20"/>
          <p:cNvSpPr/>
          <p:nvPr/>
        </p:nvSpPr>
        <p:spPr>
          <a:xfrm>
            <a:off x="9509760" y="1325880"/>
            <a:ext cx="2103120" cy="640080"/>
          </a:xfrm>
          <a:prstGeom prst="rect">
            <a:avLst/>
          </a:prstGeom>
          <a:solidFill>
            <a:srgbClr val="FFFFFF"/>
          </a:solidFill>
          <a:ln w="12700">
            <a:solidFill>
              <a:srgbClr val="AEB6C2"/>
            </a:solidFill>
            <a:prstDash val="solid"/>
          </a:ln>
        </p:spPr>
      </p:sp>
      <p:sp>
        <p:nvSpPr>
          <p:cNvPr id="24" name="Text 21"/>
          <p:cNvSpPr txBox="1"/>
          <p:nvPr/>
        </p:nvSpPr>
        <p:spPr>
          <a:xfrm>
            <a:off x="9509760" y="1325880"/>
            <a:ext cx="2103120" cy="640080"/>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libri" pitchFamily="34" charset="0"/>
                <a:ea typeface="Calibri" pitchFamily="34" charset="-122"/>
                <a:cs typeface="Calibri" pitchFamily="34" charset="-120"/>
              </a:rPr>
              <a:t>5G RAU (antenna side)</a:t>
            </a:r>
            <a:endParaRPr lang="en-US" sz="1100" dirty="0"/>
          </a:p>
        </p:txBody>
      </p:sp>
      <p:sp>
        <p:nvSpPr>
          <p:cNvPr id="25" name="Shape 22"/>
          <p:cNvSpPr/>
          <p:nvPr/>
        </p:nvSpPr>
        <p:spPr>
          <a:xfrm>
            <a:off x="6126480" y="2606040"/>
            <a:ext cx="548640" cy="868680"/>
          </a:xfrm>
          <a:prstGeom prst="line">
            <a:avLst/>
          </a:prstGeom>
          <a:noFill/>
          <a:ln w="38100">
            <a:solidFill>
              <a:srgbClr val="1F3A5F"/>
            </a:solidFill>
            <a:prstDash val="solid"/>
            <a:tailEnd type="triangle"/>
          </a:ln>
        </p:spPr>
      </p:sp>
      <p:sp>
        <p:nvSpPr>
          <p:cNvPr id="26" name="Shape 23"/>
          <p:cNvSpPr/>
          <p:nvPr/>
        </p:nvSpPr>
        <p:spPr>
          <a:xfrm>
            <a:off x="6675120" y="3154680"/>
            <a:ext cx="822960" cy="640080"/>
          </a:xfrm>
          <a:prstGeom prst="rect">
            <a:avLst/>
          </a:prstGeom>
          <a:solidFill>
            <a:srgbClr val="FFFFFF"/>
          </a:solidFill>
          <a:ln w="12700">
            <a:solidFill>
              <a:srgbClr val="AEB6C2"/>
            </a:solidFill>
            <a:prstDash val="solid"/>
          </a:ln>
        </p:spPr>
      </p:sp>
      <p:sp>
        <p:nvSpPr>
          <p:cNvPr id="27" name="Text 24"/>
          <p:cNvSpPr txBox="1"/>
          <p:nvPr/>
        </p:nvSpPr>
        <p:spPr>
          <a:xfrm>
            <a:off x="6675120" y="3154680"/>
            <a:ext cx="822960" cy="64008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BPF (optical)</a:t>
            </a:r>
            <a:endParaRPr lang="en-US" sz="1000" dirty="0"/>
          </a:p>
        </p:txBody>
      </p:sp>
      <p:sp>
        <p:nvSpPr>
          <p:cNvPr id="28" name="Shape 25"/>
          <p:cNvSpPr/>
          <p:nvPr/>
        </p:nvSpPr>
        <p:spPr>
          <a:xfrm>
            <a:off x="7498080" y="3474720"/>
            <a:ext cx="365760" cy="0"/>
          </a:xfrm>
          <a:prstGeom prst="line">
            <a:avLst/>
          </a:prstGeom>
          <a:noFill/>
          <a:ln w="38100">
            <a:solidFill>
              <a:srgbClr val="1F3A5F"/>
            </a:solidFill>
            <a:prstDash val="solid"/>
            <a:tailEnd type="triangle"/>
          </a:ln>
        </p:spPr>
      </p:sp>
      <p:sp>
        <p:nvSpPr>
          <p:cNvPr id="29" name="Shape 26"/>
          <p:cNvSpPr/>
          <p:nvPr/>
        </p:nvSpPr>
        <p:spPr>
          <a:xfrm>
            <a:off x="7863840" y="3154680"/>
            <a:ext cx="1097280" cy="640080"/>
          </a:xfrm>
          <a:prstGeom prst="rect">
            <a:avLst/>
          </a:prstGeom>
          <a:solidFill>
            <a:srgbClr val="FFFFFF"/>
          </a:solidFill>
          <a:ln w="12700">
            <a:solidFill>
              <a:srgbClr val="AEB6C2"/>
            </a:solidFill>
            <a:prstDash val="solid"/>
          </a:ln>
        </p:spPr>
      </p:sp>
      <p:sp>
        <p:nvSpPr>
          <p:cNvPr id="30" name="Text 27"/>
          <p:cNvSpPr txBox="1"/>
          <p:nvPr/>
        </p:nvSpPr>
        <p:spPr>
          <a:xfrm>
            <a:off x="7863840" y="3154680"/>
            <a:ext cx="1097280" cy="64008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Optical coupler</a:t>
            </a:r>
            <a:endParaRPr lang="en-US" sz="1000" dirty="0"/>
          </a:p>
        </p:txBody>
      </p:sp>
      <p:sp>
        <p:nvSpPr>
          <p:cNvPr id="31" name="Shape 28"/>
          <p:cNvSpPr/>
          <p:nvPr/>
        </p:nvSpPr>
        <p:spPr>
          <a:xfrm>
            <a:off x="7863840" y="4206240"/>
            <a:ext cx="1097280" cy="548640"/>
          </a:xfrm>
          <a:prstGeom prst="rect">
            <a:avLst/>
          </a:prstGeom>
          <a:solidFill>
            <a:srgbClr val="DCE6F2"/>
          </a:solidFill>
          <a:ln w="12700">
            <a:solidFill>
              <a:srgbClr val="AEB6C2"/>
            </a:solidFill>
            <a:prstDash val="solid"/>
          </a:ln>
        </p:spPr>
      </p:sp>
      <p:sp>
        <p:nvSpPr>
          <p:cNvPr id="32" name="Text 29"/>
          <p:cNvSpPr txBox="1"/>
          <p:nvPr/>
        </p:nvSpPr>
        <p:spPr>
          <a:xfrm>
            <a:off x="7863840" y="4206240"/>
            <a:ext cx="1097280" cy="548640"/>
          </a:xfrm>
          <a:prstGeom prst="rect">
            <a:avLst/>
          </a:prstGeom>
          <a:noFill/>
          <a:ln/>
        </p:spPr>
        <p:txBody>
          <a:bodyPr wrap="square" lIns="38100" tIns="38100" rIns="38100" bIns="3810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Laser λ2</a:t>
            </a:r>
            <a:endParaRPr lang="en-US" sz="1000" dirty="0"/>
          </a:p>
        </p:txBody>
      </p:sp>
      <p:sp>
        <p:nvSpPr>
          <p:cNvPr id="33" name="Shape 30"/>
          <p:cNvSpPr/>
          <p:nvPr/>
        </p:nvSpPr>
        <p:spPr>
          <a:xfrm flipV="1">
            <a:off x="8412480" y="3794760"/>
            <a:ext cx="0" cy="411480"/>
          </a:xfrm>
          <a:prstGeom prst="line">
            <a:avLst/>
          </a:prstGeom>
          <a:noFill/>
          <a:ln w="38100">
            <a:solidFill>
              <a:srgbClr val="1F3A5F"/>
            </a:solidFill>
            <a:prstDash val="solid"/>
            <a:tailEnd type="triangle"/>
          </a:ln>
        </p:spPr>
      </p:sp>
      <p:sp>
        <p:nvSpPr>
          <p:cNvPr id="34" name="Shape 31"/>
          <p:cNvSpPr/>
          <p:nvPr/>
        </p:nvSpPr>
        <p:spPr>
          <a:xfrm>
            <a:off x="8961120" y="3474720"/>
            <a:ext cx="365760" cy="0"/>
          </a:xfrm>
          <a:prstGeom prst="line">
            <a:avLst/>
          </a:prstGeom>
          <a:noFill/>
          <a:ln w="38100">
            <a:solidFill>
              <a:srgbClr val="1F3A5F"/>
            </a:solidFill>
            <a:prstDash val="solid"/>
            <a:tailEnd type="triangle"/>
          </a:ln>
        </p:spPr>
      </p:sp>
      <p:sp>
        <p:nvSpPr>
          <p:cNvPr id="35" name="Shape 32"/>
          <p:cNvSpPr/>
          <p:nvPr/>
        </p:nvSpPr>
        <p:spPr>
          <a:xfrm>
            <a:off x="9326880" y="3154680"/>
            <a:ext cx="914400" cy="640080"/>
          </a:xfrm>
          <a:prstGeom prst="rect">
            <a:avLst/>
          </a:prstGeom>
          <a:solidFill>
            <a:srgbClr val="DCE6F2"/>
          </a:solidFill>
          <a:ln w="12700">
            <a:solidFill>
              <a:srgbClr val="AEB6C2"/>
            </a:solidFill>
            <a:prstDash val="solid"/>
          </a:ln>
        </p:spPr>
      </p:sp>
      <p:sp>
        <p:nvSpPr>
          <p:cNvPr id="36" name="Text 33"/>
          <p:cNvSpPr txBox="1"/>
          <p:nvPr/>
        </p:nvSpPr>
        <p:spPr>
          <a:xfrm>
            <a:off x="9326880" y="3154680"/>
            <a:ext cx="914400" cy="640080"/>
          </a:xfrm>
          <a:prstGeom prst="rect">
            <a:avLst/>
          </a:prstGeom>
          <a:noFill/>
          <a:ln/>
        </p:spPr>
        <p:txBody>
          <a:bodyPr wrap="square" lIns="38100" tIns="38100" rIns="38100" bIns="38100" rtlCol="0" anchor="ctr"/>
          <a:lstStyle/>
          <a:p>
            <a:pPr algn="ctr" indent="0" marL="0">
              <a:buNone/>
            </a:pPr>
            <a:r>
              <a:rPr lang="en-US" sz="1000" b="1" dirty="0">
                <a:solidFill>
                  <a:srgbClr val="1A1A1A"/>
                </a:solidFill>
                <a:latin typeface="Calibri" pitchFamily="34" charset="0"/>
                <a:ea typeface="Calibri" pitchFamily="34" charset="-122"/>
                <a:cs typeface="Calibri" pitchFamily="34" charset="-120"/>
              </a:rPr>
              <a:t>UTC-PD (O/E)</a:t>
            </a:r>
            <a:endParaRPr lang="en-US" sz="1000" dirty="0"/>
          </a:p>
        </p:txBody>
      </p:sp>
      <p:sp>
        <p:nvSpPr>
          <p:cNvPr id="37" name="Shape 34"/>
          <p:cNvSpPr/>
          <p:nvPr/>
        </p:nvSpPr>
        <p:spPr>
          <a:xfrm>
            <a:off x="10241280" y="3474720"/>
            <a:ext cx="274320" cy="0"/>
          </a:xfrm>
          <a:prstGeom prst="line">
            <a:avLst/>
          </a:prstGeom>
          <a:noFill/>
          <a:ln w="15875">
            <a:solidFill>
              <a:srgbClr val="1A1A1A"/>
            </a:solidFill>
            <a:prstDash val="solid"/>
            <a:tailEnd type="triangle"/>
          </a:ln>
        </p:spPr>
      </p:sp>
      <p:sp>
        <p:nvSpPr>
          <p:cNvPr id="38" name="Shape 35"/>
          <p:cNvSpPr/>
          <p:nvPr/>
        </p:nvSpPr>
        <p:spPr>
          <a:xfrm>
            <a:off x="10515600" y="3154680"/>
            <a:ext cx="1097280" cy="640080"/>
          </a:xfrm>
          <a:prstGeom prst="rect">
            <a:avLst/>
          </a:prstGeom>
          <a:solidFill>
            <a:srgbClr val="FFFFFF"/>
          </a:solidFill>
          <a:ln w="12700">
            <a:solidFill>
              <a:srgbClr val="AEB6C2"/>
            </a:solidFill>
            <a:prstDash val="solid"/>
          </a:ln>
        </p:spPr>
      </p:sp>
      <p:sp>
        <p:nvSpPr>
          <p:cNvPr id="39" name="Text 36"/>
          <p:cNvSpPr txBox="1"/>
          <p:nvPr/>
        </p:nvSpPr>
        <p:spPr>
          <a:xfrm>
            <a:off x="10515600" y="3154680"/>
            <a:ext cx="1097280" cy="640080"/>
          </a:xfrm>
          <a:prstGeom prst="rect">
            <a:avLst/>
          </a:prstGeom>
          <a:noFill/>
          <a:ln/>
        </p:spPr>
        <p:txBody>
          <a:bodyPr wrap="square" lIns="38100" tIns="38100" rIns="38100" bIns="38100" rtlCol="0" anchor="ctr"/>
          <a:lstStyle/>
          <a:p>
            <a:pPr algn="ctr" indent="0" marL="0">
              <a:buNone/>
            </a:pPr>
            <a:r>
              <a:rPr lang="en-US" sz="1000" dirty="0">
                <a:solidFill>
                  <a:srgbClr val="1A1A1A"/>
                </a:solidFill>
                <a:latin typeface="Calibri" pitchFamily="34" charset="0"/>
                <a:ea typeface="Calibri" pitchFamily="34" charset="-122"/>
                <a:cs typeface="Calibri" pitchFamily="34" charset="-120"/>
              </a:rPr>
              <a:t>6G RAU: THz output (f_THz)</a:t>
            </a:r>
            <a:endParaRPr lang="en-US" sz="1000" dirty="0"/>
          </a:p>
        </p:txBody>
      </p:sp>
      <p:sp>
        <p:nvSpPr>
          <p:cNvPr id="40" name="Text 37"/>
          <p:cNvSpPr txBox="1"/>
          <p:nvPr/>
        </p:nvSpPr>
        <p:spPr>
          <a:xfrm>
            <a:off x="9052560" y="3886200"/>
            <a:ext cx="2560320" cy="274320"/>
          </a:xfrm>
          <a:prstGeom prst="rect">
            <a:avLst/>
          </a:prstGeom>
          <a:noFill/>
          <a:ln/>
        </p:spPr>
        <p:txBody>
          <a:bodyPr wrap="square" lIns="0" tIns="0" rIns="0" bIns="0" rtlCol="0" anchor="t"/>
          <a:lstStyle/>
          <a:p>
            <a:pPr indent="0" marL="0">
              <a:buNone/>
            </a:pPr>
            <a:r>
              <a:rPr lang="en-US" sz="1000" i="1" dirty="0">
                <a:solidFill>
                  <a:srgbClr val="5F6670"/>
                </a:solidFill>
                <a:latin typeface="Calibri" pitchFamily="34" charset="0"/>
                <a:ea typeface="Calibri" pitchFamily="34" charset="-122"/>
                <a:cs typeface="Calibri" pitchFamily="34" charset="-120"/>
              </a:rPr>
              <a:t>Beat of λ1 sideband and λ2 → f_THz</a:t>
            </a:r>
            <a:endParaRPr lang="en-US" sz="1000" dirty="0"/>
          </a:p>
        </p:txBody>
      </p:sp>
      <p:sp>
        <p:nvSpPr>
          <p:cNvPr id="41" name="Shape 38"/>
          <p:cNvSpPr/>
          <p:nvPr/>
        </p:nvSpPr>
        <p:spPr>
          <a:xfrm>
            <a:off x="548640" y="5148072"/>
            <a:ext cx="457200" cy="0"/>
          </a:xfrm>
          <a:prstGeom prst="line">
            <a:avLst/>
          </a:prstGeom>
          <a:noFill/>
          <a:ln w="15875">
            <a:solidFill>
              <a:srgbClr val="1A1A1A"/>
            </a:solidFill>
            <a:prstDash val="solid"/>
          </a:ln>
        </p:spPr>
      </p:sp>
      <p:sp>
        <p:nvSpPr>
          <p:cNvPr id="42" name="Text 39"/>
          <p:cNvSpPr txBox="1"/>
          <p:nvPr/>
        </p:nvSpPr>
        <p:spPr>
          <a:xfrm>
            <a:off x="1097280" y="502920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Electrical (RF / IF / digital)</a:t>
            </a:r>
            <a:endParaRPr lang="en-US" sz="1000" dirty="0"/>
          </a:p>
        </p:txBody>
      </p:sp>
      <p:sp>
        <p:nvSpPr>
          <p:cNvPr id="43" name="Shape 40"/>
          <p:cNvSpPr/>
          <p:nvPr/>
        </p:nvSpPr>
        <p:spPr>
          <a:xfrm>
            <a:off x="3383280" y="5148072"/>
            <a:ext cx="457200" cy="0"/>
          </a:xfrm>
          <a:prstGeom prst="line">
            <a:avLst/>
          </a:prstGeom>
          <a:noFill/>
          <a:ln w="38100">
            <a:solidFill>
              <a:srgbClr val="1F3A5F"/>
            </a:solidFill>
            <a:prstDash val="solid"/>
          </a:ln>
        </p:spPr>
      </p:sp>
      <p:sp>
        <p:nvSpPr>
          <p:cNvPr id="44" name="Text 41"/>
          <p:cNvSpPr txBox="1"/>
          <p:nvPr/>
        </p:nvSpPr>
        <p:spPr>
          <a:xfrm>
            <a:off x="3931920" y="5029200"/>
            <a:ext cx="2377440" cy="237744"/>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Optical (fiber)</a:t>
            </a:r>
            <a:endParaRPr lang="en-US" sz="1000" dirty="0"/>
          </a:p>
        </p:txBody>
      </p:sp>
      <p:sp>
        <p:nvSpPr>
          <p:cNvPr id="45" name="Text 42"/>
          <p:cNvSpPr txBox="1"/>
          <p:nvPr/>
        </p:nvSpPr>
        <p:spPr>
          <a:xfrm>
            <a:off x="548640" y="5394960"/>
            <a:ext cx="11064240" cy="320040"/>
          </a:xfrm>
          <a:prstGeom prst="rect">
            <a:avLst/>
          </a:prstGeom>
          <a:noFill/>
          <a:ln/>
        </p:spPr>
        <p:txBody>
          <a:bodyPr wrap="square" lIns="0" tIns="0" rIns="0" bIns="0" rtlCol="0" anchor="t"/>
          <a:lstStyle/>
          <a:p>
            <a:pPr indent="0" marL="0">
              <a:buNone/>
            </a:pPr>
            <a:r>
              <a:rPr lang="en-US" sz="1300" b="1" dirty="0">
                <a:solidFill>
                  <a:srgbClr val="1F3A5F"/>
                </a:solidFill>
                <a:latin typeface="Calibri" pitchFamily="34" charset="0"/>
                <a:ea typeface="Calibri" pitchFamily="34" charset="-122"/>
                <a:cs typeface="Calibri" pitchFamily="34" charset="-120"/>
              </a:rPr>
              <a:t>Research demonstration of simultaneous transport. No deployment, cost or capacity conclusion follows from it.</a:t>
            </a:r>
            <a:endParaRPr lang="en-US" sz="1300" dirty="0"/>
          </a:p>
        </p:txBody>
      </p:sp>
      <p:sp>
        <p:nvSpPr>
          <p:cNvPr id="46" name="Text 43"/>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Redrawn and simplified from: M. U. Hadi and G. Murtaza, Electronics 12(1), 64 (2023), Fig. 2. DOI: 10.3390/electronics12010064.</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A6 Fronthaul bit-rate calculation and reported analog vs digital comparison</a:t>
            </a:r>
            <a:endParaRPr lang="en-US" sz="2800" dirty="0"/>
          </a:p>
        </p:txBody>
      </p:sp>
      <p:sp>
        <p:nvSpPr>
          <p:cNvPr id="4" name="Text 1"/>
          <p:cNvSpPr txBox="1"/>
          <p:nvPr/>
        </p:nvSpPr>
        <p:spPr>
          <a:xfrm>
            <a:off x="548640" y="1234440"/>
            <a:ext cx="5486400" cy="3200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CPRI-type rate per antenna-carrier</a:t>
            </a:r>
            <a:endParaRPr lang="en-US" sz="1600" dirty="0"/>
          </a:p>
        </p:txBody>
      </p:sp>
      <p:sp>
        <p:nvSpPr>
          <p:cNvPr id="5" name="Shape 2"/>
          <p:cNvSpPr/>
          <p:nvPr/>
        </p:nvSpPr>
        <p:spPr>
          <a:xfrm>
            <a:off x="548640" y="1645920"/>
            <a:ext cx="11064240" cy="548640"/>
          </a:xfrm>
          <a:prstGeom prst="rect">
            <a:avLst/>
          </a:prstGeom>
          <a:solidFill>
            <a:srgbClr val="F3F5F8"/>
          </a:solidFill>
          <a:ln w="12700">
            <a:solidFill>
              <a:srgbClr val="F3F5F8"/>
            </a:solidFill>
            <a:prstDash val="solid"/>
          </a:ln>
        </p:spPr>
      </p:sp>
      <p:sp>
        <p:nvSpPr>
          <p:cNvPr id="6" name="Text 3"/>
          <p:cNvSpPr txBox="1"/>
          <p:nvPr/>
        </p:nvSpPr>
        <p:spPr>
          <a:xfrm>
            <a:off x="548640" y="1645920"/>
            <a:ext cx="11064240" cy="548640"/>
          </a:xfrm>
          <a:prstGeom prst="rect">
            <a:avLst/>
          </a:prstGeom>
          <a:noFill/>
          <a:ln/>
        </p:spPr>
        <p:txBody>
          <a:bodyPr wrap="square" lIns="38100" tIns="38100" rIns="38100" bIns="3810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R = fs × 2 (I, Q) × N bits × 16/15 (control words) × line-code factor (10/8 for 8B/10B)</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64240" cy="914400"/>
        </p:xfrm>
        <a:graphic>
          <a:graphicData uri="http://schemas.openxmlformats.org/drawingml/2006/table">
            <a:tbl>
              <a:tblPr/>
              <a:tblGrid>
                <a:gridCol w="1737360"/>
                <a:gridCol w="1920240"/>
                <a:gridCol w="731520"/>
                <a:gridCol w="1188720"/>
                <a:gridCol w="5486400"/>
              </a:tblGrid>
              <a:tr h="0">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Case</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fs</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Antennas</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r>
              <a:tr h="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LTE 20 MHz</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30.72 Msample/s</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1228.8 Mb/s with 8B/10B (CPRI option 2)</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NR 100 MHz</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122.88 Msample/s</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3.93 Gb/s before line coding</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NR 100 MHz</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122.88 Msample/s</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 252 Gb/s before line coding</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bl>
          </a:graphicData>
        </a:graphic>
      </p:graphicFrame>
      <p:sp>
        <p:nvSpPr>
          <p:cNvPr id="8" name="Text 4"/>
          <p:cNvSpPr txBox="1"/>
          <p:nvPr/>
        </p:nvSpPr>
        <p:spPr>
          <a:xfrm>
            <a:off x="548640" y="3977640"/>
            <a:ext cx="10972800" cy="320040"/>
          </a:xfrm>
          <a:prstGeom prst="rect">
            <a:avLst/>
          </a:prstGeom>
          <a:noFill/>
          <a:ln/>
        </p:spPr>
        <p:txBody>
          <a:bodyPr wrap="square" lIns="0" tIns="0" rIns="0" bIns="0" rtlCol="0" anchor="t"/>
          <a:lstStyle/>
          <a:p>
            <a:pPr indent="0" marL="0">
              <a:buNone/>
            </a:pPr>
            <a:r>
              <a:rPr lang="en-US" sz="1600" b="1" dirty="0">
                <a:solidFill>
                  <a:srgbClr val="1F3A5F"/>
                </a:solidFill>
                <a:latin typeface="Calibri" pitchFamily="34" charset="0"/>
                <a:ea typeface="Calibri" pitchFamily="34" charset="-122"/>
                <a:cs typeface="Calibri" pitchFamily="34" charset="-120"/>
              </a:rPr>
              <a:t>Reported modeled comparison (Li et al., 2021)</a:t>
            </a:r>
            <a:endParaRPr lang="en-US" sz="1600" dirty="0"/>
          </a:p>
        </p:txBody>
      </p:sp>
      <p:sp>
        <p:nvSpPr>
          <p:cNvPr id="9" name="Text 5"/>
          <p:cNvSpPr txBox="1"/>
          <p:nvPr/>
        </p:nvSpPr>
        <p:spPr>
          <a:xfrm>
            <a:off x="548640" y="4343400"/>
            <a:ext cx="11064240" cy="14630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A1A1A"/>
                </a:solidFill>
                <a:latin typeface="Calibri" pitchFamily="34" charset="0"/>
                <a:ea typeface="Calibri" pitchFamily="34" charset="-122"/>
                <a:cs typeface="Calibri" pitchFamily="34" charset="-120"/>
              </a:rPr>
              <a:t>Up to 40× lower fiber bandwidth for analog RoF than digital RoF in one modeled case: 16 × 16 MIMO, 28 GHz carrier, 256-QAM.</a:t>
            </a:r>
            <a:endParaRPr lang="en-US" sz="1300" dirty="0"/>
          </a:p>
          <a:p>
            <a:pPr marL="342900" indent="-342900">
              <a:spcAft>
                <a:spcPts val="500"/>
              </a:spcAft>
              <a:buSzPct val="100000"/>
              <a:buChar char="•"/>
            </a:pPr>
            <a:r>
              <a:rPr lang="en-US" sz="1300" dirty="0">
                <a:solidFill>
                  <a:srgbClr val="1A1A1A"/>
                </a:solidFill>
                <a:latin typeface="Calibri" pitchFamily="34" charset="0"/>
                <a:ea typeface="Calibri" pitchFamily="34" charset="-122"/>
                <a:cs typeface="Calibri" pitchFamily="34" charset="-120"/>
              </a:rPr>
              <a:t>In a modeled 256-QAM case, analog RoF EVM ≈ 8 % against the 3.5 % 3GPP limit; the digital case met the limit.</a:t>
            </a:r>
            <a:endParaRPr lang="en-US" sz="1300" dirty="0"/>
          </a:p>
          <a:p>
            <a:pPr marL="342900" indent="-342900">
              <a:spcAft>
                <a:spcPts val="500"/>
              </a:spcAft>
              <a:buSzPct val="100000"/>
              <a:buChar char="•"/>
            </a:pPr>
            <a:r>
              <a:rPr lang="en-US" sz="1300" dirty="0">
                <a:solidFill>
                  <a:srgbClr val="1A1A1A"/>
                </a:solidFill>
                <a:latin typeface="Calibri" pitchFamily="34" charset="0"/>
                <a:ea typeface="Calibri" pitchFamily="34" charset="-122"/>
                <a:cs typeface="Calibri" pitchFamily="34" charset="-120"/>
              </a:rPr>
              <a:t>Both results are scenario-specific. Values carried over from the original deck: verification against the paper required.</a:t>
            </a:r>
            <a:endParaRPr lang="en-US" sz="1300" dirty="0"/>
          </a:p>
        </p:txBody>
      </p:sp>
      <p:sp>
        <p:nvSpPr>
          <p:cNvPr id="10" name="Text 6"/>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Sources: CPRI Specification V7.0 (2015); 3GPP TS 38.104; Y. Li, Q. Xie, M. El-Hajjar, L. Hanzo, "Analogue Radio Over Fiber for Next-Generation RAN: Challenges and Opportunities," arXiv:2111.13851 (2021).</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A7 Standards and specifications</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291840"/>
                <a:gridCol w="2011680"/>
                <a:gridCol w="5760720"/>
              </a:tblGrid>
              <a:tr h="0">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Document</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Body</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c>
                  <a:txBody>
                    <a:bodyPr/>
                    <a:lstStyle/>
                    <a:p>
                      <a:pPr indent="0" marL="0">
                        <a:buNone/>
                      </a:pPr>
                      <a:r>
                        <a:rPr lang="en-US" sz="1300" b="1" dirty="0">
                          <a:solidFill>
                            <a:srgbClr val="1F3A5F"/>
                          </a:solidFill>
                          <a:latin typeface="Calibri" pitchFamily="34" charset="0"/>
                          <a:ea typeface="Calibri" pitchFamily="34" charset="-122"/>
                          <a:cs typeface="Calibri" pitchFamily="34" charset="-120"/>
                        </a:rPr>
                        <a:t>Scope relevant to this talk</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solidFill>
                      <a:srgbClr val="E6EBF2"/>
                    </a:solidFill>
                  </a:tcPr>
                </a:tc>
              </a:tr>
              <a:tr h="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G.9803 (2018), Amd. 1 (2019), Amd. 2 (2022)</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ITU-T</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Radio over fibre systems: system requirements; Amd. 2 covers RoF architectures and requirements for IMT-2020 mobile fronthaul</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G.Suppl.55 (10/2025)</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ITU-T</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Radio-over-fibre technologies and their applications; earlier editions 07/2015, 12/2021, 12/2023</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G.652</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ITU-T</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Characteristics of standard single-mode optical fibre and cable</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CPRI Specification V7.0 (2015)</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CPRI industry consortium</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Serial digital I/Q interface between baseband and radio equipment</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eCPRI Specification V2.0 (2019)</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CPRI industry consortium</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Packet-based fronthaul with intra-PHY functional splits</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O-RAN fronthaul (split 7.2x)</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O-RAN Alliance</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Multi-vendor control, user and synchronization plane specification</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r h="0">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TS 38.104</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3GPP</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c>
                  <a:txBody>
                    <a:bodyPr/>
                    <a:lstStyle/>
                    <a:p>
                      <a:pPr indent="0" marL="0">
                        <a:buNone/>
                      </a:pPr>
                      <a:r>
                        <a:rPr lang="en-US" sz="1300" dirty="0">
                          <a:solidFill>
                            <a:srgbClr val="1A1A1A"/>
                          </a:solidFill>
                          <a:latin typeface="Calibri" pitchFamily="34" charset="0"/>
                          <a:ea typeface="Calibri" pitchFamily="34" charset="-122"/>
                          <a:cs typeface="Calibri" pitchFamily="34" charset="-120"/>
                        </a:rPr>
                        <a:t>NR base-station RF requirements, including transmitter EVM limits</a:t>
                      </a:r>
                      <a:endParaRPr lang="en-US" sz="1300" dirty="0">
                        <a:latin typeface="Calibri" charset="0"/>
                        <a:ea typeface="Calibri" charset="0"/>
                        <a:cs typeface="Calibri" charset="0"/>
                      </a:endParaRPr>
                    </a:p>
                  </a:txBody>
                  <a:tcPr marL="73152" marR="73152" marT="36576" marB="36576" anchor="ctr">
                    <a:lnL w="9525" cap="flat" cmpd="sng" algn="ctr">
                      <a:solidFill>
                        <a:srgbClr val="AEB6C2"/>
                      </a:solidFill>
                      <a:prstDash val="solid"/>
                      <a:round/>
                      <a:headEnd type="none" w="med" len="med"/>
                      <a:tailEnd type="none" w="med" len="med"/>
                    </a:lnL>
                    <a:lnR w="9525" cap="flat" cmpd="sng" algn="ctr">
                      <a:solidFill>
                        <a:srgbClr val="AEB6C2"/>
                      </a:solidFill>
                      <a:prstDash val="solid"/>
                      <a:round/>
                      <a:headEnd type="none" w="med" len="med"/>
                      <a:tailEnd type="none" w="med" len="med"/>
                    </a:lnR>
                    <a:lnT w="9525" cap="flat" cmpd="sng" algn="ctr">
                      <a:solidFill>
                        <a:srgbClr val="AEB6C2"/>
                      </a:solidFill>
                      <a:prstDash val="solid"/>
                      <a:round/>
                      <a:headEnd type="none" w="med" len="med"/>
                      <a:tailEnd type="none" w="med" len="med"/>
                    </a:lnT>
                    <a:lnB w="9525" cap="flat" cmpd="sng" algn="ctr">
                      <a:solidFill>
                        <a:srgbClr val="AEB6C2"/>
                      </a:solidFill>
                      <a:prstDash val="solid"/>
                      <a:round/>
                      <a:headEnd type="none" w="med" len="med"/>
                      <a:tailEnd type="none" w="med" len="med"/>
                    </a:lnB>
                  </a:tcPr>
                </a:tc>
              </a:tr>
            </a:tbl>
          </a:graphicData>
        </a:graphic>
      </p:graphicFrame>
      <p:sp>
        <p:nvSpPr>
          <p:cNvPr id="5" name="Text 1"/>
          <p:cNvSpPr txBox="1"/>
          <p:nvPr/>
        </p:nvSpPr>
        <p:spPr>
          <a:xfrm>
            <a:off x="548640" y="5943600"/>
            <a:ext cx="11064240" cy="384048"/>
          </a:xfrm>
          <a:prstGeom prst="rect">
            <a:avLst/>
          </a:prstGeom>
          <a:noFill/>
          <a:ln/>
        </p:spPr>
        <p:txBody>
          <a:bodyPr wrap="square" lIns="0" tIns="0" rIns="0" bIns="0" rtlCol="0" anchor="b"/>
          <a:lstStyle/>
          <a:p>
            <a:pPr indent="0" marL="0">
              <a:buNone/>
            </a:pPr>
            <a:r>
              <a:rPr lang="en-US" sz="1000" dirty="0">
                <a:solidFill>
                  <a:srgbClr val="5F6670"/>
                </a:solidFill>
                <a:latin typeface="Calibri" pitchFamily="34" charset="0"/>
                <a:ea typeface="Calibri" pitchFamily="34" charset="-122"/>
                <a:cs typeface="Calibri" pitchFamily="34" charset="-120"/>
              </a:rPr>
              <a:t>Edition dates of G.Suppl.55 from the ITU-T recommendation page. Amendment content of G.9803 as cited in the original deck: verification against ITU-T text recommended.</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algn="l" indent="0" marL="0">
              <a:buNone/>
            </a:pPr>
            <a:r>
              <a:rPr lang="en-US" sz="2800" b="1" dirty="0">
                <a:solidFill>
                  <a:srgbClr val="1F3A5F"/>
                </a:solidFill>
                <a:latin typeface="Calibri" pitchFamily="34" charset="0"/>
                <a:ea typeface="Calibri" pitchFamily="34" charset="-122"/>
                <a:cs typeface="Calibri" pitchFamily="34" charset="-120"/>
              </a:rPr>
              <a:t>A8 References</a:t>
            </a:r>
            <a:endParaRPr lang="en-US" sz="2800" dirty="0"/>
          </a:p>
        </p:txBody>
      </p:sp>
      <p:sp>
        <p:nvSpPr>
          <p:cNvPr id="4" name="Text 1"/>
          <p:cNvSpPr txBox="1"/>
          <p:nvPr/>
        </p:nvSpPr>
        <p:spPr>
          <a:xfrm>
            <a:off x="548640" y="1188720"/>
            <a:ext cx="11064240" cy="507492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C. H. Cox III, Analog Optical Links: Theory and Practice, Cambridge University Press, 2004.</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U. Gliese, S. Nørskov, T. N. Nielsen, "Chromatic dispersion in fiber-optic microwave and millimeter-wave links," IEEE Trans. Microwave Theory Tech., 44(10), 1996.</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D. Wake, A. Nkansah, N. J. Gomes, "Radio over fiber link design for next generation wireless systems," J. Lightwave Technol., 28(16), 2010.</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ITU-T G.9803 (2018), Radio over fibre systems; Amendment 1 (2019); Amendment 2 (2022).</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ITU-T G-series Supplement 55 (10/2025), Radio-over-fibre (RoF) technologies and their applications.</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ITU-T G.652, Characteristics of a single-mode optical fibre and cable.</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CPRI Specification V7.0 (2015); eCPRI Specification V2.0 (2019).</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3GPP TS 38.104, NR; Base Station (BS) radio transmission and reception.</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Y. Li, Q. Xie, M. El-Hajjar, L. Hanzo, "Analogue Radio Over Fiber for Next-Generation RAN: Challenges and Opportunities," arXiv:2111.13851, 2021.</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"Radio over Fiber: An Alternative Broadband Network Technology for IoT," Electronics 9(11), 1785, 2020. DOI: 10.3390/electronics9111785.</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M. U. Hadi, G. Murtaza, "Fibre Wireless Distributed Antenna Systems for 5G and 6G Services," Electronics 12(1), 64, 2023. DOI: 10.3390/electronics12010064.</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Times Microwave Systems, LMR-400 coaxial cable datasheet.</a:t>
            </a:r>
            <a:endParaRPr lang="en-US" sz="1300" dirty="0"/>
          </a:p>
          <a:p>
            <a:pPr marL="342900" indent="-342900">
              <a:spcAft>
                <a:spcPts val="300"/>
              </a:spcAft>
              <a:buSzPct val="100000"/>
              <a:buFont typeface="+mj-lt"/>
              <a:buAutoNum type="arabicPeriod" startAt="1"/>
            </a:pPr>
            <a:r>
              <a:rPr lang="en-US" sz="1300" dirty="0">
                <a:solidFill>
                  <a:srgbClr val="1A1A1A"/>
                </a:solidFill>
                <a:latin typeface="Calibri" pitchFamily="34" charset="0"/>
                <a:ea typeface="Calibri" pitchFamily="34" charset="-122"/>
                <a:cs typeface="Calibri" pitchFamily="34" charset="-120"/>
              </a:rPr>
              <a:t>Axell Wireless press release on Brazilian stadium coverage, June 2014; RFS press release on Maracanã, 10 June 2014; PBE Axell case study "Brazilian Sports Stadiums".</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67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Radio over Fiber (RoF): Technical Review</dc:title>
  <dc:subject>Radio over Fiber transport: signal path, architectures, alternatives and limits</dc:subject>
  <dc:creator>PptxGenJS</dc:creator>
  <cp:lastModifiedBy>PptxGenJS</cp:lastModifiedBy>
  <cp:revision>1</cp:revision>
  <dcterms:created xsi:type="dcterms:W3CDTF">2026-10-28T20:19:33Z</dcterms:created>
  <dcterms:modified xsi:type="dcterms:W3CDTF">2026-10-28T20:19:33Z</dcterms:modified>
</cp:coreProperties>
</file>