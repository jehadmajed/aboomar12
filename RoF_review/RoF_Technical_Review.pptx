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eaker A" id="{a877707e-44c7-1d42-c263-8070d964cc10}">
          <p14:sldIdLst>
            <p14:sldId id="256"/>
            <p14:sldId id="257"/>
            <p14:sldId id="258"/>
            <p14:sldId id="259"/>
            <p14:sldId id="260"/>
            <p14:sldId id="261"/>
          </p14:sldIdLst>
        </p14:section>
        <p14:section name="Speaker B" id="{486409cd-7e38-b6c4-c94a-aa227e867401}">
          <p14:sldIdLst>
            <p14:sldId id="262"/>
            <p14:sldId id="263"/>
            <p14:sldId id="264"/>
            <p14:sldId id="265"/>
            <p14:sldId id="266"/>
            <p14:sldId id="267"/>
            <p14:sldId id="268"/>
            <p14:sldId id="269"/>
          </p14:sldIdLst>
        </p14:section>
        <p14:section name="Appendix" id="{eebf8637-96a8-dda5-be1c-1b15ff29009c}">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Speaker A. Introduce the topic and the split: Speaker A covers problem, definition, signal path, architecture and RoF types; Speaker B covers the comparisons, limits, the deployment case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Speaker A.
Outdoor macro signals are attenuated by walls and distance, so coverage inside tunnels, stadiums and large buildings is provided by many indoor antenna points.
The radio equipment is kept in one room (or a base-station hotel) to share power, cooling, maintenance and operator access.
The engineering question is therefore: how do we carry the radio signal from that room to each antenna point, over tens of metres to kilometres, within a loss, noise and distortion budget?
Scope: only this transport segment. Backhaul to the core network and air-interface design are out of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Speaker A.
Definition used in this talk: an optical link that carries an analog radio waveform, at RF or IF, with E/O conversion at one end and O/E at the other.
Read the spectra left to right: the RF signal at f_RF; after the laser, the optical carrier with two sidebands at ±f_RF; after the photodiode, the original RF signal again.
Key boundary: RoF transports a radio signal. It does not create spectrum or wireless capacity. Digitized I/Q transport (CPRI) is called digital fronthaul here, not RoF.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Speaker A.
Downlink: base-station RF output → E/O at the central site → fiber → O/E at the remote unit → power amplifier → duplexer → antenna.
Uplink: antenna → duplexer → LNA → E/O at the remote unit → fiber → O/E at the central site → base-station RF input.
Downlink and uplink use separate fibers or separate wavelengths. WDM is optional; it is only needed when several links share one fiber.
With intensity modulation and direct detection, 1 dB of optical loss costs 2 dB of RF loss (square-law detection, Cox 2004). We use this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Speaker A.
Operators' radios sit in a base-station hotel. The head-end combines their RF signals and converts them to optical (and back for the uplink).
Fibers run in a star to the remote antenna units (RAUs). The RAU is not passive: it contains photodiode, laser, amplifiers, filters and needs power.
Backhaul (base station to core) is a digital packet link and is not affected by the choice of RoF.
Because the analog link carries whatever RF is fed into it, several operators and bands can share it, within its bandwidth and dynamic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Speaker A. Hand over to Speaker B after this slide (about 7:00 elapsed).
RFoF: the fiber carries the radio signal at its final frequency. The remote unit only converts and amplifies. The optics must work at the carrier frequency.
IFoF: the fiber carries a lower intermediate frequency. The remote unit needs a mixer and local oscillator.
Digital fronthaul (CPRI): the fiber carries sampled I/Q bits. The remote unit is a complete radio with DAC, mixer and amplifier. This is not RoF, but it is the main alternative.
Trade-off: remote-unit complexity rises from top to bottom; fiber capacity requirement rises in the opposite direction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Speaker B.
Comparison defined: passive LMR-400-class coax versus an unamplified analog RFoF link, from the head-end RF port to the remote antenna port, downlink, 2.5 GHz.
Coax loss: 22.2 dB per 100 m (datasheet). Fiber: 0.25 dB/km optical, which is 0.5 dB/km in RF terms (panel a).
The RoF link also has a fixed RF-to-RF conversion loss. 20 dB and 40 dB are assumed values for illustration; the real value comes from the equipment datasheet.
Break-even length = conversion loss / (0.222 − 0.0005) dB/m: about 90 m and 180 m.
In practice both systems use amplifiers, so the deciding metrics become noise figure, dynamic range and power consumption, not loss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Speaker B.
CPRI rate = sample rate × 2 (I and Q) × 15 bits × 16/15 (control) × 10/8 (8B/10B line coding).
20 MHz LTE, one antenna: 30.72 Msps → 1228.8 Mb/s, which is CPRI option 2. 100 MHz NR at 122.88 Msps → 4.9 Gb/s per antenna, about 315 Gb/s for 64 antennas.
An analog link instead carries each antenna stream in roughly its radio bandwidth, so the fiber capacity needed is much smaller.
What analog gives up: quality degrades along the link (noise, distortion, dispersion), there is no bit-level monitoring, and interfaces are mostly vendor-specific. Digital links are robust and standardized (CPRI, eCPRI, O-RAN 7.2x).
eCPRI with split 7.2x reduces the digital rate; it scales with MIMO layers and traffic, not antenna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Speaker B.
Standard single-mode fiber (G.652.D): cabled maximum around 0.36 dB/km at 1310 nm and 0.22 dB/km at 1550 nm (vendor datasheets). The curve is an illustrative physical model, the squares are datasheet limits.
Conditions on each benefit:
– Low loss matters only above the break-even length (slide 7).
– The fiber is immune to electromagnetic pickup; the remote electronics and the radio link are not.
– Central equipment is easier to share and maintain, but the remote unit still needs power.
– Cost is site-specific and is not claimed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Speaker B.
With double-sideband intensity modulation, the two optical sidebands travel at slightly different speeds. After detection they interfere, and the RF power drops to zero at specific frequency–length combinations.
Computed with P ∝ cos²(π·L·D·λ²·f²/c), D = 17 ps/(nm·km). At 10 km the first null is near 19 GHz.
Mitigation: operate at 1310 nm (near-zero dispersion), use single-sideband modulation, or use IFoF.
This matters for mmWave over km-scale fiber, not for indoor sub-6 GHz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Speaker B.
Laser noise, photodiode shot noise and receiver thermal noise set a noise floor. Laser and modulator nonlinearity creates intermodulation, which rises 3 dB for every 1 dB of input.
The spurious-free dynamic range is the span between the two. It limits uplink sensitivity and how many carriers can share one link.
Other practical limits: one fiber pair or wavelength pair per remote unit, power needed at every remote unit, and no bit-level performance monitoring on an analog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Speaker B.
Reported by the vendors: Axell Wireless (June 2014) supplied optical DAS for stadiums including Maracanã and Mineirão, combined capacity over 141,000, five operators, 2G/3G/4G. RFS (10 June 2014) supplied HYBRIFLEX hybrid fiber and DC power cable at Maracanã.
Not reported: link budgets, noise figures, measured capacity, cost comparison, or whether each subsystem carried analog RF or digital fronthaul.
So the case shows feasibility of a multi-operator fiber DAS in a large venue. It does not support performance or cost claims.
The figure is a schematic, not the real floor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Speaker B.
Conclusions, each tied to a slide:
1. RoF transports an existing radio signal; it does not add spectrum or wireless capacity (slide 3).
2. Against passive coax, it has lower loss only beyond a break-even length (slide 7).
3. Against digital fronthaul, it needs far less fiber capacity and a simpler remote unit, at the cost of noise, distortion, dispersion and weaker monitoring (slides 8, 10, 11).
4. Documented use: multi-operator fiber DAS in large venues (slide 12).
The flow on the slide is the decision checklist that follows from these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slides cover RAU types, a measured BER curve, a 5G/6G research demo, and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BBoF here means analog baseband over fiber, as in the source figure. It is different from digital fronthaul.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are approximate readings from the published plot (verification against the paper required). At low CSR distortion dominates; at high CSR noise dominates. The result applies only to the tested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6G branch uses a second laser and a UTC photodiode to generate a THz signal by optical beating. '6G' is the authors'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000000"/>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11064240" cy="914400"/>
          </a:xfrm>
          <a:prstGeom prst="rect">
            <a:avLst/>
          </a:prstGeom>
          <a:noFill/>
          <a:ln/>
        </p:spPr>
        <p:txBody>
          <a:bodyPr wrap="square" lIns="0" tIns="0" rIns="0" bIns="0" rtlCol="0" anchor="t"/>
          <a:lstStyle/>
          <a:p>
            <a:pPr indent="0" marL="0">
              <a:buNone/>
            </a:pPr>
            <a:r>
              <a:rPr lang="en-US" sz="4400" b="1" dirty="0">
                <a:solidFill>
                  <a:srgbClr val="000000"/>
                </a:solidFill>
                <a:latin typeface="Arial" pitchFamily="34" charset="0"/>
                <a:ea typeface="Arial" pitchFamily="34" charset="-122"/>
                <a:cs typeface="Arial" pitchFamily="34" charset="-120"/>
              </a:rPr>
              <a:t>Radio over Fiber (RoF)</a:t>
            </a:r>
            <a:endParaRPr lang="en-US" sz="4400" dirty="0"/>
          </a:p>
        </p:txBody>
      </p:sp>
      <p:sp>
        <p:nvSpPr>
          <p:cNvPr id="3" name="Text 1"/>
          <p:cNvSpPr txBox="1"/>
          <p:nvPr/>
        </p:nvSpPr>
        <p:spPr>
          <a:xfrm>
            <a:off x="548640" y="2377440"/>
            <a:ext cx="11064240" cy="548640"/>
          </a:xfrm>
          <a:prstGeom prst="rect">
            <a:avLst/>
          </a:prstGeom>
          <a:noFill/>
          <a:ln/>
        </p:spPr>
        <p:txBody>
          <a:bodyPr wrap="square" lIns="0" tIns="0" rIns="0" bIns="0" rtlCol="0" anchor="t"/>
          <a:lstStyle/>
          <a:p>
            <a:pPr indent="0" marL="0">
              <a:buNone/>
            </a:pPr>
            <a:r>
              <a:rPr lang="en-US" sz="2200" dirty="0">
                <a:solidFill>
                  <a:srgbClr val="333333"/>
                </a:solidFill>
                <a:latin typeface="Arial" pitchFamily="34" charset="0"/>
                <a:ea typeface="Arial" pitchFamily="34" charset="-122"/>
                <a:cs typeface="Arial" pitchFamily="34" charset="-120"/>
              </a:rPr>
              <a:t>Carrying radio signals over optical fiber</a:t>
            </a:r>
            <a:endParaRPr lang="en-US" sz="2200" dirty="0"/>
          </a:p>
        </p:txBody>
      </p:sp>
      <p:sp>
        <p:nvSpPr>
          <p:cNvPr id="4" name="Text 2"/>
          <p:cNvSpPr txBox="1"/>
          <p:nvPr/>
        </p:nvSpPr>
        <p:spPr>
          <a:xfrm>
            <a:off x="548640" y="3017520"/>
            <a:ext cx="11064240" cy="365760"/>
          </a:xfrm>
          <a:prstGeom prst="rect">
            <a:avLst/>
          </a:prstGeom>
          <a:noFill/>
          <a:ln/>
        </p:spPr>
        <p:txBody>
          <a:bodyPr wrap="square" lIns="0" tIns="0" rIns="0" bIns="0" rtlCol="0" anchor="t"/>
          <a:lstStyle/>
          <a:p>
            <a:pPr indent="0" marL="0">
              <a:buNone/>
            </a:pPr>
            <a:r>
              <a:rPr lang="en-US" sz="1600" dirty="0">
                <a:solidFill>
                  <a:srgbClr val="707070"/>
                </a:solidFill>
                <a:latin typeface="Arial" pitchFamily="34" charset="0"/>
                <a:ea typeface="Arial" pitchFamily="34" charset="-122"/>
                <a:cs typeface="Arial" pitchFamily="34" charset="-120"/>
              </a:rPr>
              <a:t>Speaker A  ·  Speaker B  ·  15 minutes</a:t>
            </a:r>
            <a:endParaRPr lang="en-US" sz="1600" dirty="0"/>
          </a:p>
        </p:txBody>
      </p:sp>
      <p:pic>
        <p:nvPicPr>
          <p:cNvPr id="5" name="Image 0" descr="/tmp/claude-0/-home-user-AboOmar12/e9733a54-4f82-5489-a2a7-ad29d271dc42/scratchpad/figs/f01_title.png">    </p:cNvPr>
          <p:cNvPicPr>
            <a:picLocks noChangeAspect="1"/>
          </p:cNvPicPr>
          <p:nvPr/>
        </p:nvPicPr>
        <p:blipFill>
          <a:blip r:embed="rId1"/>
          <a:stretch>
            <a:fillRect/>
          </a:stretch>
        </p:blipFill>
        <p:spPr>
          <a:xfrm>
            <a:off x="594360" y="4206240"/>
            <a:ext cx="10972800" cy="2011680"/>
          </a:xfrm>
          <a:prstGeom prst="rect">
            <a:avLst/>
          </a:prstGeom>
        </p:spPr>
      </p:pic>
      <p:sp>
        <p:nvSpPr>
          <p:cNvPr id="7"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The problem</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Large buildings and venues need many antenna points, fed from one equipment room.</a:t>
            </a:r>
            <a:endParaRPr lang="en-US" sz="1800" dirty="0"/>
          </a:p>
        </p:txBody>
      </p:sp>
      <p:pic>
        <p:nvPicPr>
          <p:cNvPr id="4" name="Image 0" descr="/tmp/claude-0/-home-user-AboOmar12/e9733a54-4f82-5489-a2a7-ad29d271dc42/scratchpad/figs/f02_problem.png">    </p:cNvPr>
          <p:cNvPicPr>
            <a:picLocks noChangeAspect="1"/>
          </p:cNvPicPr>
          <p:nvPr/>
        </p:nvPicPr>
        <p:blipFill>
          <a:blip r:embed="rId1"/>
          <a:stretch>
            <a:fillRect/>
          </a:stretch>
        </p:blipFill>
        <p:spPr>
          <a:xfrm>
            <a:off x="548640" y="1810512"/>
            <a:ext cx="11064240" cy="4425696"/>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What RoF is</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The radio waveform modulates light. A photodiode turns it back into the same radio signal.</a:t>
            </a:r>
            <a:endParaRPr lang="en-US" sz="1800" dirty="0"/>
          </a:p>
        </p:txBody>
      </p:sp>
      <p:pic>
        <p:nvPicPr>
          <p:cNvPr id="4" name="Image 0" descr="/tmp/claude-0/-home-user-AboOmar12/e9733a54-4f82-5489-a2a7-ad29d271dc42/scratchpad/figs/f03_definition.png">    </p:cNvPr>
          <p:cNvPicPr>
            <a:picLocks noChangeAspect="1"/>
          </p:cNvPicPr>
          <p:nvPr/>
        </p:nvPicPr>
        <p:blipFill>
          <a:blip r:embed="rId1"/>
          <a:stretch>
            <a:fillRect/>
          </a:stretch>
        </p:blipFill>
        <p:spPr>
          <a:xfrm>
            <a:off x="548640" y="1742694"/>
            <a:ext cx="11064240" cy="4241292"/>
          </a:xfrm>
          <a:prstGeom prst="rect">
            <a:avLst/>
          </a:prstGeom>
        </p:spPr>
      </p:pic>
      <p:sp>
        <p:nvSpPr>
          <p:cNvPr id="5" name="Text 2"/>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Sources: ITU-T G.Suppl.55 (10/2025); ITU-T G.9803 (2018).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Signal path: downlink and uplink</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Four optical conversions in a two-way link. Each adds noise and distortion.</a:t>
            </a:r>
            <a:endParaRPr lang="en-US" sz="1800" dirty="0"/>
          </a:p>
        </p:txBody>
      </p:sp>
      <p:pic>
        <p:nvPicPr>
          <p:cNvPr id="4" name="Image 0" descr="/tmp/claude-0/-home-user-AboOmar12/e9733a54-4f82-5489-a2a7-ad29d271dc42/scratchpad/figs/f04_signal_path.png">    </p:cNvPr>
          <p:cNvPicPr>
            <a:picLocks noChangeAspect="1"/>
          </p:cNvPicPr>
          <p:nvPr/>
        </p:nvPicPr>
        <p:blipFill>
          <a:blip r:embed="rId1"/>
          <a:stretch>
            <a:fillRect/>
          </a:stretch>
        </p:blipFill>
        <p:spPr>
          <a:xfrm>
            <a:off x="548640" y="1742694"/>
            <a:ext cx="11064240" cy="4241292"/>
          </a:xfrm>
          <a:prstGeom prst="rect">
            <a:avLst/>
          </a:prstGeom>
        </p:spPr>
      </p:pic>
      <p:sp>
        <p:nvSpPr>
          <p:cNvPr id="5" name="Text 2"/>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Source: C. H. Cox III, Analog Optical Links, Cambridge University Press, 2004.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Where it sits in the network</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RoF is the fronthaul link from head-end to remote unit. Backhaul stays digital.</a:t>
            </a:r>
            <a:endParaRPr lang="en-US" sz="1800" dirty="0"/>
          </a:p>
        </p:txBody>
      </p:sp>
      <p:pic>
        <p:nvPicPr>
          <p:cNvPr id="4" name="Image 0" descr="/tmp/claude-0/-home-user-AboOmar12/e9733a54-4f82-5489-a2a7-ad29d271dc42/scratchpad/figs/f05_architecture.png">    </p:cNvPr>
          <p:cNvPicPr>
            <a:picLocks noChangeAspect="1"/>
          </p:cNvPicPr>
          <p:nvPr/>
        </p:nvPicPr>
        <p:blipFill>
          <a:blip r:embed="rId1"/>
          <a:stretch>
            <a:fillRect/>
          </a:stretch>
        </p:blipFill>
        <p:spPr>
          <a:xfrm>
            <a:off x="548640" y="1810512"/>
            <a:ext cx="11064240" cy="4425696"/>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Three ways to use the fiber</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Simpler remote unit means analog signal on the fiber. Digital needs a full radio at the remote end.</a:t>
            </a:r>
            <a:endParaRPr lang="en-US" sz="1800" dirty="0"/>
          </a:p>
        </p:txBody>
      </p:sp>
      <p:pic>
        <p:nvPicPr>
          <p:cNvPr id="4" name="Image 0" descr="/tmp/claude-0/-home-user-AboOmar12/e9733a54-4f82-5489-a2a7-ad29d271dc42/scratchpad/figs/f06_types.png">    </p:cNvPr>
          <p:cNvPicPr>
            <a:picLocks noChangeAspect="1"/>
          </p:cNvPicPr>
          <p:nvPr/>
        </p:nvPicPr>
        <p:blipFill>
          <a:blip r:embed="rId1"/>
          <a:stretch>
            <a:fillRect/>
          </a:stretch>
        </p:blipFill>
        <p:spPr>
          <a:xfrm>
            <a:off x="548640" y="1764411"/>
            <a:ext cx="11064240" cy="4517898"/>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Coax or fiber? It depends on length</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Fiber has lower RF loss only beyond a break-even length set by the conversion loss.</a:t>
            </a:r>
            <a:endParaRPr lang="en-US" sz="1800" dirty="0"/>
          </a:p>
        </p:txBody>
      </p:sp>
      <p:pic>
        <p:nvPicPr>
          <p:cNvPr id="4" name="Image 0" descr="/tmp/claude-0/-home-user-AboOmar12/e9733a54-4f82-5489-a2a7-ad29d271dc42/scratchpad/figs/f07_loss.png">    </p:cNvPr>
          <p:cNvPicPr>
            <a:picLocks noChangeAspect="1"/>
          </p:cNvPicPr>
          <p:nvPr/>
        </p:nvPicPr>
        <p:blipFill>
          <a:blip r:embed="rId1"/>
          <a:stretch>
            <a:fillRect/>
          </a:stretch>
        </p:blipFill>
        <p:spPr>
          <a:xfrm>
            <a:off x="548640" y="1742694"/>
            <a:ext cx="11064240" cy="4241292"/>
          </a:xfrm>
          <a:prstGeom prst="rect">
            <a:avLst/>
          </a:prstGeom>
        </p:spPr>
      </p:pic>
      <p:sp>
        <p:nvSpPr>
          <p:cNvPr id="5" name="Text 2"/>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Coax: Times Microwave LMR-400 datasheet (22.2 dB/100 m at 2500 MHz). Fiber: G.652.D cable datasheets. Conversion loss values are assumptions.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Analog RoF vs digital fronthaul</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Digital fronthaul line rate grows with every antenna and every MHz of bandwidth.</a:t>
            </a:r>
            <a:endParaRPr lang="en-US" sz="1800" dirty="0"/>
          </a:p>
        </p:txBody>
      </p:sp>
      <p:pic>
        <p:nvPicPr>
          <p:cNvPr id="4" name="Image 0" descr="/tmp/claude-0/-home-user-AboOmar12/e9733a54-4f82-5489-a2a7-ad29d271dc42/scratchpad/figs/f08_cpri.png">    </p:cNvPr>
          <p:cNvPicPr>
            <a:picLocks noChangeAspect="1"/>
          </p:cNvPicPr>
          <p:nvPr/>
        </p:nvPicPr>
        <p:blipFill>
          <a:blip r:embed="rId1"/>
          <a:stretch>
            <a:fillRect/>
          </a:stretch>
        </p:blipFill>
        <p:spPr>
          <a:xfrm>
            <a:off x="548640" y="1696593"/>
            <a:ext cx="11064240" cy="4333494"/>
          </a:xfrm>
          <a:prstGeom prst="rect">
            <a:avLst/>
          </a:prstGeom>
        </p:spPr>
      </p:pic>
      <p:sp>
        <p:nvSpPr>
          <p:cNvPr id="5" name="Text 2"/>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Source: CPRI Specification V7.0 (2015). Rates computed with the formula in the notes.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Benefit: low fiber loss</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Fiber loss is a fraction of a dB per km, and the fiber itself does not pick up interference.</a:t>
            </a:r>
            <a:endParaRPr lang="en-US" sz="1800" dirty="0"/>
          </a:p>
        </p:txBody>
      </p:sp>
      <p:pic>
        <p:nvPicPr>
          <p:cNvPr id="4" name="Image 0" descr="/tmp/claude-0/-home-user-AboOmar12/e9733a54-4f82-5489-a2a7-ad29d271dc42/scratchpad/figs/f09_attenuation.png">    </p:cNvPr>
          <p:cNvPicPr>
            <a:picLocks noChangeAspect="1"/>
          </p:cNvPicPr>
          <p:nvPr/>
        </p:nvPicPr>
        <p:blipFill>
          <a:blip r:embed="rId1"/>
          <a:stretch>
            <a:fillRect/>
          </a:stretch>
        </p:blipFill>
        <p:spPr>
          <a:xfrm>
            <a:off x="548640" y="1742694"/>
            <a:ext cx="11064240" cy="4241292"/>
          </a:xfrm>
          <a:prstGeom prst="rect">
            <a:avLst/>
          </a:prstGeom>
        </p:spPr>
      </p:pic>
      <p:sp>
        <p:nvSpPr>
          <p:cNvPr id="5" name="Text 2"/>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Datasheet points: Prysmian G.652.D cable. Model curve is illustrative (Rayleigh scattering and infrared absorption).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Limit 1: chromatic dispersion</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At 1550 nm the received RF power fades at certain frequencies. Sub-6 GHz bands are barely affected.</a:t>
            </a:r>
            <a:endParaRPr lang="en-US" sz="1800" dirty="0"/>
          </a:p>
        </p:txBody>
      </p:sp>
      <p:pic>
        <p:nvPicPr>
          <p:cNvPr id="4" name="Image 0" descr="/tmp/claude-0/-home-user-AboOmar12/e9733a54-4f82-5489-a2a7-ad29d271dc42/scratchpad/figs/f10_dispersion.png">    </p:cNvPr>
          <p:cNvPicPr>
            <a:picLocks noChangeAspect="1"/>
          </p:cNvPicPr>
          <p:nvPr/>
        </p:nvPicPr>
        <p:blipFill>
          <a:blip r:embed="rId1"/>
          <a:stretch>
            <a:fillRect/>
          </a:stretch>
        </p:blipFill>
        <p:spPr>
          <a:xfrm>
            <a:off x="548640" y="1742694"/>
            <a:ext cx="11064240" cy="4241292"/>
          </a:xfrm>
          <a:prstGeom prst="rect">
            <a:avLst/>
          </a:prstGeom>
        </p:spPr>
      </p:pic>
      <p:sp>
        <p:nvSpPr>
          <p:cNvPr id="5" name="Text 2"/>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Model: U. Gliese et al., IEEE Trans. Microwave Theory Tech. 44(10), 1996. Curves computed for standard SMF.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Limit 2: noise vs distortion</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An analog link has a limited usable power window.</a:t>
            </a:r>
            <a:endParaRPr lang="en-US" sz="1800" dirty="0"/>
          </a:p>
        </p:txBody>
      </p:sp>
      <p:pic>
        <p:nvPicPr>
          <p:cNvPr id="4" name="Image 0" descr="/tmp/claude-0/-home-user-AboOmar12/e9733a54-4f82-5489-a2a7-ad29d271dc42/scratchpad/figs/f11_sfdr.png">    </p:cNvPr>
          <p:cNvPicPr>
            <a:picLocks noChangeAspect="1"/>
          </p:cNvPicPr>
          <p:nvPr/>
        </p:nvPicPr>
        <p:blipFill>
          <a:blip r:embed="rId1"/>
          <a:stretch>
            <a:fillRect/>
          </a:stretch>
        </p:blipFill>
        <p:spPr>
          <a:xfrm>
            <a:off x="548640" y="1778508"/>
            <a:ext cx="6949440" cy="4169664"/>
          </a:xfrm>
          <a:prstGeom prst="rect">
            <a:avLst/>
          </a:prstGeom>
        </p:spPr>
      </p:pic>
      <p:sp>
        <p:nvSpPr>
          <p:cNvPr id="5" name="Text 2"/>
          <p:cNvSpPr txBox="1"/>
          <p:nvPr/>
        </p:nvSpPr>
        <p:spPr>
          <a:xfrm>
            <a:off x="7955280" y="2194560"/>
            <a:ext cx="3657600" cy="3291840"/>
          </a:xfrm>
          <a:prstGeom prst="rect">
            <a:avLst/>
          </a:prstGeom>
          <a:noFill/>
          <a:ln/>
        </p:spPr>
        <p:txBody>
          <a:bodyPr wrap="square" lIns="0" tIns="0" rIns="0" bIns="0" rtlCol="0" anchor="t"/>
          <a:lstStyle/>
          <a:p>
            <a:pPr indent="0" marL="0">
              <a:buNone/>
            </a:pPr>
            <a:r>
              <a:rPr lang="en-US" sz="1800" b="1" dirty="0">
                <a:solidFill>
                  <a:srgbClr val="333333"/>
                </a:solidFill>
                <a:latin typeface="Arial" pitchFamily="34" charset="0"/>
                <a:ea typeface="Arial" pitchFamily="34" charset="-122"/>
                <a:cs typeface="Arial" pitchFamily="34" charset="-120"/>
              </a:rPr>
              <a:t>Too little signal</a:t>
            </a:r>
            <a:endParaRPr lang="en-US" sz="1800" dirty="0"/>
          </a:p>
          <a:p>
            <a:pPr indent="0" marL="0">
              <a:buNone/>
            </a:pPr>
            <a:r>
              <a:rPr lang="en-US" sz="1800" dirty="0">
                <a:solidFill>
                  <a:srgbClr val="333333"/>
                </a:solidFill>
                <a:latin typeface="Arial" pitchFamily="34" charset="0"/>
                <a:ea typeface="Arial" pitchFamily="34" charset="-122"/>
                <a:cs typeface="Arial" pitchFamily="34" charset="-120"/>
              </a:rPr>
              <a:t>lost in noise</a:t>
            </a:r>
            <a:endParaRPr lang="en-US" sz="1800" dirty="0"/>
          </a:p>
          <a:p>
            <a:pPr indent="0" marL="0">
              <a:buNone/>
            </a:pPr>
            <a:r>
              <a:rPr lang="en-US" sz="1800" dirty="0">
                <a:solidFill>
                  <a:srgbClr val="333333"/>
                </a:solidFill>
                <a:latin typeface="Arial" pitchFamily="34" charset="0"/>
                <a:ea typeface="Arial" pitchFamily="34" charset="-122"/>
                <a:cs typeface="Arial" pitchFamily="34" charset="-120"/>
              </a:rPr>
              <a:t> </a:t>
            </a:r>
            <a:endParaRPr lang="en-US" sz="1800" dirty="0"/>
          </a:p>
          <a:p>
            <a:pPr indent="0" marL="0">
              <a:buNone/>
            </a:pPr>
            <a:r>
              <a:rPr lang="en-US" sz="1800" b="1" dirty="0">
                <a:solidFill>
                  <a:srgbClr val="333333"/>
                </a:solidFill>
                <a:latin typeface="Arial" pitchFamily="34" charset="0"/>
                <a:ea typeface="Arial" pitchFamily="34" charset="-122"/>
                <a:cs typeface="Arial" pitchFamily="34" charset="-120"/>
              </a:rPr>
              <a:t>Too much signal</a:t>
            </a:r>
            <a:endParaRPr lang="en-US" sz="1800" dirty="0"/>
          </a:p>
          <a:p>
            <a:pPr indent="0" marL="0">
              <a:buNone/>
            </a:pPr>
            <a:r>
              <a:rPr lang="en-US" sz="1800" dirty="0">
                <a:solidFill>
                  <a:srgbClr val="333333"/>
                </a:solidFill>
                <a:latin typeface="Arial" pitchFamily="34" charset="0"/>
                <a:ea typeface="Arial" pitchFamily="34" charset="-122"/>
                <a:cs typeface="Arial" pitchFamily="34" charset="-120"/>
              </a:rPr>
              <a:t>intermodulation appears</a:t>
            </a:r>
            <a:endParaRPr lang="en-US" sz="1800" dirty="0"/>
          </a:p>
          <a:p>
            <a:pPr indent="0" marL="0">
              <a:buNone/>
            </a:pPr>
            <a:r>
              <a:rPr lang="en-US" sz="1800" dirty="0">
                <a:solidFill>
                  <a:srgbClr val="333333"/>
                </a:solidFill>
                <a:latin typeface="Arial" pitchFamily="34" charset="0"/>
                <a:ea typeface="Arial" pitchFamily="34" charset="-122"/>
                <a:cs typeface="Arial" pitchFamily="34" charset="-120"/>
              </a:rPr>
              <a:t> </a:t>
            </a:r>
            <a:endParaRPr lang="en-US" sz="1800" dirty="0"/>
          </a:p>
          <a:p>
            <a:pPr indent="0" marL="0">
              <a:buNone/>
            </a:pPr>
            <a:r>
              <a:rPr lang="en-US" sz="1800" b="1" dirty="0">
                <a:solidFill>
                  <a:srgbClr val="333333"/>
                </a:solidFill>
                <a:latin typeface="Arial" pitchFamily="34" charset="0"/>
                <a:ea typeface="Arial" pitchFamily="34" charset="-122"/>
                <a:cs typeface="Arial" pitchFamily="34" charset="-120"/>
              </a:rPr>
              <a:t>SFDR</a:t>
            </a:r>
            <a:endParaRPr lang="en-US" sz="1800" dirty="0"/>
          </a:p>
          <a:p>
            <a:pPr indent="0" marL="0">
              <a:buNone/>
            </a:pPr>
            <a:r>
              <a:rPr lang="en-US" sz="1800" dirty="0">
                <a:solidFill>
                  <a:srgbClr val="333333"/>
                </a:solidFill>
                <a:latin typeface="Arial" pitchFamily="34" charset="0"/>
                <a:ea typeface="Arial" pitchFamily="34" charset="-122"/>
                <a:cs typeface="Arial" pitchFamily="34" charset="-120"/>
              </a:rPr>
              <a:t>the usable window between the two</a:t>
            </a:r>
            <a:endParaRPr lang="en-US" sz="1800" dirty="0"/>
          </a:p>
        </p:txBody>
      </p:sp>
      <p:sp>
        <p:nvSpPr>
          <p:cNvPr id="6" name="Text 3"/>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Illustrative, no values. Source: C. H. Cox III, Analog Optical Links, 2004.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Case: Maracanã and Mineirão (2014)</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Fiber-fed distributed antenna system for five operators, 2G / 3G / 4G.</a:t>
            </a:r>
            <a:endParaRPr lang="en-US" sz="1800" dirty="0"/>
          </a:p>
        </p:txBody>
      </p:sp>
      <p:pic>
        <p:nvPicPr>
          <p:cNvPr id="4" name="Image 0" descr="/tmp/claude-0/-home-user-AboOmar12/e9733a54-4f82-5489-a2a7-ad29d271dc42/scratchpad/figs/f12_stadium.png">    </p:cNvPr>
          <p:cNvPicPr>
            <a:picLocks noChangeAspect="1"/>
          </p:cNvPicPr>
          <p:nvPr/>
        </p:nvPicPr>
        <p:blipFill>
          <a:blip r:embed="rId1"/>
          <a:stretch>
            <a:fillRect/>
          </a:stretch>
        </p:blipFill>
        <p:spPr>
          <a:xfrm>
            <a:off x="651510" y="1691640"/>
            <a:ext cx="10858500" cy="4343400"/>
          </a:xfrm>
          <a:prstGeom prst="rect">
            <a:avLst/>
          </a:prstGeom>
        </p:spPr>
      </p:pic>
      <p:sp>
        <p:nvSpPr>
          <p:cNvPr id="5" name="Text 2"/>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Sources: Axell Wireless press release, June 2014; RFS press release, 10 June 2014. Schematic only.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When to choose analog RoF</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RoF moves the antenna point closer to users. It does not add spectrum.</a:t>
            </a:r>
            <a:endParaRPr lang="en-US" sz="1800" dirty="0"/>
          </a:p>
        </p:txBody>
      </p:sp>
      <p:pic>
        <p:nvPicPr>
          <p:cNvPr id="4" name="Image 0" descr="/tmp/claude-0/-home-user-AboOmar12/e9733a54-4f82-5489-a2a7-ad29d271dc42/scratchpad/figs/f13_decision.png">    </p:cNvPr>
          <p:cNvPicPr>
            <a:picLocks noChangeAspect="1"/>
          </p:cNvPicPr>
          <p:nvPr/>
        </p:nvPicPr>
        <p:blipFill>
          <a:blip r:embed="rId1"/>
          <a:stretch>
            <a:fillRect/>
          </a:stretch>
        </p:blipFill>
        <p:spPr>
          <a:xfrm>
            <a:off x="548640" y="1856613"/>
            <a:ext cx="11064240" cy="433349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828800"/>
            <a:ext cx="11064240" cy="914400"/>
          </a:xfrm>
          <a:prstGeom prst="rect">
            <a:avLst/>
          </a:prstGeom>
          <a:noFill/>
          <a:ln/>
        </p:spPr>
        <p:txBody>
          <a:bodyPr wrap="square" lIns="0" tIns="0" rIns="0" bIns="0" rtlCol="0" anchor="t"/>
          <a:lstStyle/>
          <a:p>
            <a:pPr indent="0" marL="0">
              <a:buNone/>
            </a:pPr>
            <a:r>
              <a:rPr lang="en-US" sz="4400" b="1" dirty="0">
                <a:solidFill>
                  <a:srgbClr val="000000"/>
                </a:solidFill>
                <a:latin typeface="Arial" pitchFamily="34" charset="0"/>
                <a:ea typeface="Arial" pitchFamily="34" charset="-122"/>
                <a:cs typeface="Arial" pitchFamily="34" charset="-120"/>
              </a:rPr>
              <a:t>Questions</a:t>
            </a:r>
            <a:endParaRPr lang="en-US" sz="4400" dirty="0"/>
          </a:p>
        </p:txBody>
      </p:sp>
      <p:pic>
        <p:nvPicPr>
          <p:cNvPr id="3" name="Image 0" descr="/tmp/claude-0/-home-user-AboOmar12/e9733a54-4f82-5489-a2a7-ad29d271dc42/scratchpad/figs/f01_title.png">    </p:cNvPr>
          <p:cNvPicPr>
            <a:picLocks noChangeAspect="1"/>
          </p:cNvPicPr>
          <p:nvPr/>
        </p:nvPicPr>
        <p:blipFill>
          <a:blip r:embed="rId1"/>
          <a:stretch>
            <a:fillRect/>
          </a:stretch>
        </p:blipFill>
        <p:spPr>
          <a:xfrm>
            <a:off x="594360" y="3840480"/>
            <a:ext cx="10972800" cy="2011680"/>
          </a:xfrm>
          <a:prstGeom prst="rect">
            <a:avLst/>
          </a:prstGeom>
        </p:spPr>
      </p:pic>
      <p:sp>
        <p:nvSpPr>
          <p:cNvPr id="5"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A1  Remote unit types</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What the remote unit must contain for each signal on the fiber.</a:t>
            </a:r>
            <a:endParaRPr lang="en-US" sz="1800" dirty="0"/>
          </a:p>
        </p:txBody>
      </p:sp>
      <p:pic>
        <p:nvPicPr>
          <p:cNvPr id="4" name="Image 0" descr="/tmp/claude-0/-home-user-AboOmar12/e9733a54-4f82-5489-a2a7-ad29d271dc42/scratchpad/figs/a_rau.png">    </p:cNvPr>
          <p:cNvPicPr>
            <a:picLocks noChangeAspect="1"/>
          </p:cNvPicPr>
          <p:nvPr/>
        </p:nvPicPr>
        <p:blipFill>
          <a:blip r:embed="rId1"/>
          <a:stretch>
            <a:fillRect/>
          </a:stretch>
        </p:blipFill>
        <p:spPr>
          <a:xfrm>
            <a:off x="548640" y="1742694"/>
            <a:ext cx="11064240" cy="4241292"/>
          </a:xfrm>
          <a:prstGeom prst="rect">
            <a:avLst/>
          </a:prstGeom>
        </p:spPr>
      </p:pic>
      <p:sp>
        <p:nvSpPr>
          <p:cNvPr id="5" name="Text 2"/>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Redrawn from: Electronics 9(11), 1785 (2020), Fig. 3. DOI: 10.3390/electronics9111785.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A2  Measured BER vs carrier-to-sideband ratio</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One experimental link: 10 km fiber + 3 m wireless. Best result near 25 dB.</a:t>
            </a:r>
            <a:endParaRPr lang="en-US" sz="1800" dirty="0"/>
          </a:p>
        </p:txBody>
      </p:sp>
      <p:pic>
        <p:nvPicPr>
          <p:cNvPr id="4" name="Image 0" descr="/tmp/claude-0/-home-user-AboOmar12/e9733a54-4f82-5489-a2a7-ad29d271dc42/scratchpad/figs/a_csr.png">    </p:cNvPr>
          <p:cNvPicPr>
            <a:picLocks noChangeAspect="1"/>
          </p:cNvPicPr>
          <p:nvPr/>
        </p:nvPicPr>
        <p:blipFill>
          <a:blip r:embed="rId1"/>
          <a:stretch>
            <a:fillRect/>
          </a:stretch>
        </p:blipFill>
        <p:spPr>
          <a:xfrm>
            <a:off x="548640" y="1742694"/>
            <a:ext cx="11064240" cy="4241292"/>
          </a:xfrm>
          <a:prstGeom prst="rect">
            <a:avLst/>
          </a:prstGeom>
        </p:spPr>
      </p:pic>
      <p:sp>
        <p:nvSpPr>
          <p:cNvPr id="5" name="Text 2"/>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Redrawn from: M. U. Hadi and G. Murtaza, Electronics 12(1), 64 (2023), Fig. 6. Values read from the published plot.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A3  Research demo: 5G + candidate 6G on one fiber</a:t>
            </a:r>
            <a:endParaRPr lang="en-US" sz="3000" dirty="0"/>
          </a:p>
        </p:txBody>
      </p:sp>
      <p:sp>
        <p:nvSpPr>
          <p:cNvPr id="3" name="Text 1"/>
          <p:cNvSpPr txBox="1"/>
          <p:nvPr/>
        </p:nvSpPr>
        <p:spPr>
          <a:xfrm>
            <a:off x="548640" y="1051560"/>
            <a:ext cx="11064240" cy="457200"/>
          </a:xfrm>
          <a:prstGeom prst="rect">
            <a:avLst/>
          </a:prstGeom>
          <a:noFill/>
          <a:ln/>
        </p:spPr>
        <p:txBody>
          <a:bodyPr wrap="square" lIns="0" tIns="0" rIns="0" bIns="0" rtlCol="0" anchor="t"/>
          <a:lstStyle/>
          <a:p>
            <a:pPr indent="0" marL="0">
              <a:buNone/>
            </a:pPr>
            <a:r>
              <a:rPr lang="en-US" sz="1800" dirty="0">
                <a:solidFill>
                  <a:srgbClr val="333333"/>
                </a:solidFill>
                <a:latin typeface="Arial" pitchFamily="34" charset="0"/>
                <a:ea typeface="Arial" pitchFamily="34" charset="-122"/>
                <a:cs typeface="Arial" pitchFamily="34" charset="-120"/>
              </a:rPr>
              <a:t>Laboratory demonstration, not a deployed system.</a:t>
            </a:r>
            <a:endParaRPr lang="en-US" sz="1800" dirty="0"/>
          </a:p>
        </p:txBody>
      </p:sp>
      <p:pic>
        <p:nvPicPr>
          <p:cNvPr id="4" name="Image 0" descr="/tmp/claude-0/-home-user-AboOmar12/e9733a54-4f82-5489-a2a7-ad29d271dc42/scratchpad/figs/a_demo.png">    </p:cNvPr>
          <p:cNvPicPr>
            <a:picLocks noChangeAspect="1"/>
          </p:cNvPicPr>
          <p:nvPr/>
        </p:nvPicPr>
        <p:blipFill>
          <a:blip r:embed="rId1"/>
          <a:stretch>
            <a:fillRect/>
          </a:stretch>
        </p:blipFill>
        <p:spPr>
          <a:xfrm>
            <a:off x="548640" y="1742694"/>
            <a:ext cx="11064240" cy="4241292"/>
          </a:xfrm>
          <a:prstGeom prst="rect">
            <a:avLst/>
          </a:prstGeom>
        </p:spPr>
      </p:pic>
      <p:sp>
        <p:nvSpPr>
          <p:cNvPr id="5" name="Text 2"/>
          <p:cNvSpPr txBox="1"/>
          <p:nvPr/>
        </p:nvSpPr>
        <p:spPr>
          <a:xfrm>
            <a:off x="548640" y="6172200"/>
            <a:ext cx="10424160" cy="365760"/>
          </a:xfrm>
          <a:prstGeom prst="rect">
            <a:avLst/>
          </a:prstGeom>
          <a:noFill/>
          <a:ln/>
        </p:spPr>
        <p:txBody>
          <a:bodyPr wrap="square" lIns="0" tIns="0" rIns="0" bIns="0" rtlCol="0" anchor="b"/>
          <a:lstStyle/>
          <a:p>
            <a:pPr indent="0" marL="0">
              <a:buNone/>
            </a:pPr>
            <a:r>
              <a:rPr lang="en-US" sz="1000" dirty="0">
                <a:solidFill>
                  <a:srgbClr val="707070"/>
                </a:solidFill>
                <a:latin typeface="Arial" pitchFamily="34" charset="0"/>
                <a:ea typeface="Arial" pitchFamily="34" charset="-122"/>
                <a:cs typeface="Arial" pitchFamily="34" charset="-120"/>
              </a:rPr>
              <a:t>Redrawn and simplified from: M. U. Hadi and G. Murtaza, Electronics 12(1), 64 (2023), Fig. 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000000"/>
                </a:solidFill>
                <a:latin typeface="Arial" pitchFamily="34" charset="0"/>
                <a:ea typeface="Arial" pitchFamily="34" charset="-122"/>
                <a:cs typeface="Arial" pitchFamily="34" charset="-120"/>
              </a:rPr>
              <a:t>A4  References</a:t>
            </a:r>
            <a:endParaRPr lang="en-US" sz="3000" dirty="0"/>
          </a:p>
        </p:txBody>
      </p:sp>
      <p:sp>
        <p:nvSpPr>
          <p:cNvPr id="3" name="Text 1"/>
          <p:cNvSpPr txBox="1"/>
          <p:nvPr/>
        </p:nvSpPr>
        <p:spPr>
          <a:xfrm>
            <a:off x="548640" y="1280160"/>
            <a:ext cx="11064240" cy="493776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C. H. Cox III, Analog Optical Links: Theory and Practice, Cambridge University Press, 2004.</a:t>
            </a:r>
            <a:endParaRPr lang="en-US" sz="1400" dirty="0"/>
          </a:p>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U. Gliese, S. Nørskov, T. N. Nielsen, Chromatic dispersion in fiber-optic microwave and millimeter-wave links, IEEE T-MTT 44(10), 1996.</a:t>
            </a:r>
            <a:endParaRPr lang="en-US" sz="1400" dirty="0"/>
          </a:p>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ITU-T G.9803 (2018), Radio over fibre systems, with Amendments 1 (2019) and 2 (2022).</a:t>
            </a:r>
            <a:endParaRPr lang="en-US" sz="1400" dirty="0"/>
          </a:p>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ITU-T G-series Supplement 55 (10/2025), Radio-over-fibre technologies and their applications.</a:t>
            </a:r>
            <a:endParaRPr lang="en-US" sz="1400" dirty="0"/>
          </a:p>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ITU-T G.652, single-mode optical fibre and cable; Prysmian G.652.D cable datasheet.</a:t>
            </a:r>
            <a:endParaRPr lang="en-US" sz="1400" dirty="0"/>
          </a:p>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CPRI Specification V7.0 (2015); eCPRI Specification V2.0 (2019).</a:t>
            </a:r>
            <a:endParaRPr lang="en-US" sz="1400" dirty="0"/>
          </a:p>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Y. Li, Q. Xie, M. El-Hajjar, L. Hanzo, Analogue Radio Over Fiber for Next-Generation RAN, arXiv:2111.13851, 2021.</a:t>
            </a:r>
            <a:endParaRPr lang="en-US" sz="1400" dirty="0"/>
          </a:p>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Radio over Fiber: An Alternative Broadband Network Technology for IoT, Electronics 9(11), 1785, 2020.</a:t>
            </a:r>
            <a:endParaRPr lang="en-US" sz="1400" dirty="0"/>
          </a:p>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M. U. Hadi, G. Murtaza, Fibre Wireless Distributed Antenna Systems for 5G and 6G Services, Electronics 12(1), 64, 2023.</a:t>
            </a:r>
            <a:endParaRPr lang="en-US" sz="1400" dirty="0"/>
          </a:p>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Times Microwave Systems, LMR-400 datasheet.</a:t>
            </a:r>
            <a:endParaRPr lang="en-US" sz="1400" dirty="0"/>
          </a:p>
          <a:p>
            <a:pPr marL="342900" indent="-342900">
              <a:spcAft>
                <a:spcPts val="4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Axell Wireless press release, June 2014; RFS press release, 10 June 2014.</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07070"/>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Radio over Fiber (RoF)</dc:title>
  <dc:subject>PptxGenJS Presentation</dc:subject>
  <dc:creator>PptxGenJS</dc:creator>
  <cp:lastModifiedBy>PptxGenJS</cp:lastModifiedBy>
  <cp:revision>1</cp:revision>
  <dcterms:created xsi:type="dcterms:W3CDTF">2026-10-28T21:57:17Z</dcterms:created>
  <dcterms:modified xsi:type="dcterms:W3CDTF">2026-10-28T21:57:17Z</dcterms:modified>
</cp:coreProperties>
</file>